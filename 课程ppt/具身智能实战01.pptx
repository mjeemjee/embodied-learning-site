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5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7" Type="http://schemas.openxmlformats.org/officeDocument/2006/relationships/tableStyles" Target="tableStyles.xml"/><Relationship Id="rId106" Type="http://schemas.openxmlformats.org/officeDocument/2006/relationships/viewProps" Target="viewProps.xml"/><Relationship Id="rId105" Type="http://schemas.openxmlformats.org/officeDocument/2006/relationships/presProps" Target="presProps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无人驾驶</a:t>
            </a:r>
            <a:r>
              <a:rPr lang="en-US" altLang="zh-CN"/>
              <a:t>2d--&gt;</a:t>
            </a:r>
            <a:r>
              <a:rPr lang="zh-CN" altLang="en-US"/>
              <a:t>机器人</a:t>
            </a:r>
            <a:r>
              <a:rPr lang="en-US" altLang="zh-CN"/>
              <a:t>3d</a:t>
            </a:r>
            <a:r>
              <a:rPr lang="zh-CN" altLang="en-US"/>
              <a:t>，</a:t>
            </a:r>
            <a:r>
              <a:rPr lang="en-US" altLang="zh-CN"/>
              <a:t> </a:t>
            </a:r>
            <a:r>
              <a:rPr lang="zh-CN" altLang="en-US"/>
              <a:t>数据收集，端到端的训练。</a:t>
            </a:r>
            <a:r>
              <a:rPr lang="en-US" altLang="zh-CN"/>
              <a:t> </a:t>
            </a:r>
            <a:r>
              <a:rPr lang="zh-CN" altLang="en-US"/>
              <a:t>第四题。大湾区人工智能竞赛。</a:t>
            </a:r>
            <a:r>
              <a:rPr lang="en-US" altLang="zh-CN"/>
              <a:t> robot_data.mp4  robot_learn.mp4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56000" y="2983230"/>
            <a:ext cx="5080000" cy="144526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200"/>
              </a:spcAft>
            </a:pPr>
            <a:r>
              <a:rPr lang="zh-CN" altLang="en-US" sz="2600" b="1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具身智能实战</a:t>
            </a:r>
            <a:endParaRPr lang="en-US" altLang="zh-CN" sz="2600" b="1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Aft>
                <a:spcPts val="1200"/>
              </a:spcAft>
            </a:pPr>
            <a:r>
              <a:rPr lang="en-US" altLang="zh-CN" sz="2600" b="1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AI</a:t>
            </a:r>
            <a:r>
              <a:rPr lang="zh-CN" altLang="en-US" sz="2600" b="1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机械臂：从零到一</a:t>
            </a:r>
            <a:endParaRPr lang="zh-CN" altLang="en-US" sz="2600" b="1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Aft>
                <a:spcPts val="180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一个从硬件到智能的完整学习之旅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190308"/>
            <a:ext cx="5080000" cy="44773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3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课程总览：五大阶段，一个目标</a:t>
            </a:r>
            <a:endParaRPr lang="zh-CN" altLang="en-US" sz="230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6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我们的目标：带领大家亲手打造一个 </a:t>
            </a:r>
            <a:r>
              <a:rPr lang="zh-CN" altLang="en-US" sz="1600" b="1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能看、会想、自主学习</a:t>
            </a:r>
            <a:r>
              <a:rPr lang="en-US" altLang="zh-CN" sz="16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 </a:t>
            </a:r>
            <a:r>
              <a:rPr lang="zh-CN" altLang="en-US" sz="16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的</a:t>
            </a:r>
            <a:r>
              <a:rPr lang="en-US" altLang="zh-CN" sz="16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AI</a:t>
            </a:r>
            <a:r>
              <a:rPr lang="zh-CN" altLang="en-US" sz="16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机械臂智能体。</a:t>
            </a:r>
            <a:endParaRPr lang="zh-CN" altLang="en-US" sz="160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24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阶段一：</a:t>
            </a:r>
            <a:r>
              <a:rPr lang="en-US" altLang="zh-CN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赋予它一个“身体”</a:t>
            </a:r>
            <a:endParaRPr lang="zh-CN" altLang="en-US" sz="170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24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阶段二：</a:t>
            </a:r>
            <a:r>
              <a:rPr lang="en-US" altLang="zh-CN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让它“动起来”</a:t>
            </a:r>
            <a:endParaRPr lang="zh-CN" altLang="en-US" sz="170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24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阶段三：</a:t>
            </a:r>
            <a:r>
              <a:rPr lang="en-US" altLang="zh-CN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给它一双“眼睛”</a:t>
            </a:r>
            <a:endParaRPr lang="zh-CN" altLang="en-US" sz="170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24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阶段四：</a:t>
            </a:r>
            <a:r>
              <a:rPr lang="en-US" altLang="zh-CN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为它植入“大脑”</a:t>
            </a:r>
            <a:endParaRPr lang="zh-CN" altLang="en-US" sz="170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ts val="24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阶段五：</a:t>
            </a:r>
            <a:r>
              <a:rPr lang="en-US" altLang="zh-CN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让他能自主</a:t>
            </a:r>
            <a:r>
              <a:rPr lang="zh-CN" altLang="en-US" sz="170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学习，“自己干活”</a:t>
            </a:r>
            <a:endParaRPr lang="zh-CN" altLang="en-US" sz="170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775142"/>
            <a:ext cx="5080000" cy="19221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000" b="1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阶段一：赋予它一个“身体”</a:t>
            </a:r>
            <a:endParaRPr lang="zh-CN" altLang="en-US" sz="2000" b="1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核心目标：从虚拟走向现实，构建机械实体。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硬件基础：学习电机选型、驱动原理与结构知识。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虚拟构建：掌握</a:t>
            </a:r>
            <a:r>
              <a:rPr lang="en-US" altLang="zh-CN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URDF</a:t>
            </a: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，在仿真中建立数字孪生。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动手实践：亲手组装机械臂，连接虚拟与现实。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658495" y="2327275"/>
            <a:ext cx="60960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/>
            <a:r>
              <a:rPr lang="zh-CN" altLang="en-US" sz="9000">
                <a:latin typeface="Segoe UI" panose="020B0502040204020203"/>
                <a:ea typeface="Segoe UI" panose="020B0502040204020203"/>
                <a:sym typeface="+mn-ea"/>
              </a:rPr>
              <a:t>🦾</a:t>
            </a:r>
            <a:endParaRPr lang="zh-CN" altLang="en-US" sz="9000">
              <a:latin typeface="Segoe UI" panose="020B0502040204020203"/>
              <a:ea typeface="Segoe UI" panose="020B0502040204020203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652270"/>
            <a:ext cx="5419725" cy="2114550"/>
          </a:xfrm>
          <a:prstGeom prst="rect">
            <a:avLst/>
          </a:prstGeom>
        </p:spPr>
        <p:txBody>
          <a:bodyPr wrap="square">
            <a:spAutoFit/>
          </a:bodyPr>
          <a:p>
            <a:pPr indent="0" algn="l">
              <a:spcAft>
                <a:spcPts val="1500"/>
              </a:spcAft>
              <a:buNone/>
            </a:pPr>
            <a:r>
              <a:rPr lang="en-US" altLang="zh-CN" sz="2000" b="1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                </a:t>
            </a:r>
            <a:r>
              <a:rPr lang="zh-CN" altLang="en-US" sz="2000" b="1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阶段二：让它“动起来”</a:t>
            </a:r>
            <a:br>
              <a:rPr lang="zh-CN" altLang="en-US" sz="2000" b="1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</a:br>
            <a:br>
              <a:rPr lang="zh-CN" altLang="en-US" sz="2000" b="1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</a:b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核心目标：实现精确、平稳的运动控制。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indent="0" algn="l">
              <a:spcAft>
                <a:spcPts val="900"/>
              </a:spcAft>
              <a:buNone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运动学核心：攻克正、逆解，实现“指哪打哪”。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indent="0" algn="l">
              <a:spcAft>
                <a:spcPts val="900"/>
              </a:spcAft>
              <a:buNone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闭环控制：精讲</a:t>
            </a:r>
            <a:r>
              <a:rPr lang="en-US" altLang="zh-CN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PID</a:t>
            </a: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算法，保证动作精准稳定。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indent="0" algn="l">
              <a:spcAft>
                <a:spcPts val="900"/>
              </a:spcAft>
              <a:buNone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遥操作实践：通过多种方式编写上位机，实时控制机械臂。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9350" y="2387600"/>
            <a:ext cx="22345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0">
                <a:latin typeface="Segoe UI" panose="020B0502040204020203"/>
                <a:ea typeface="Segoe UI" panose="020B0502040204020203"/>
                <a:sym typeface="+mn-ea"/>
              </a:rPr>
              <a:t>⚙</a:t>
            </a:r>
            <a:endParaRPr lang="zh-CN" altLang="en-US" sz="9000"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775142"/>
            <a:ext cx="5080000" cy="19221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000" b="1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阶段三：给它一双“眼睛”</a:t>
            </a:r>
            <a:endParaRPr lang="en-US" altLang="zh-CN" sz="90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核心目标：赋予环境感知与物体识别能力。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经典视觉：掌握</a:t>
            </a:r>
            <a:r>
              <a:rPr lang="en-US" altLang="zh-CN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OpenCV</a:t>
            </a: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，进行颜色与形状识别。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深度学习：应用</a:t>
            </a:r>
            <a:r>
              <a:rPr lang="en-US" altLang="zh-CN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YOLOv8</a:t>
            </a: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宋体" panose="02010600030101010101" pitchFamily="2" charset="-122"/>
              </a:rPr>
              <a:t>，</a:t>
            </a:r>
            <a:r>
              <a:rPr lang="en-US" altLang="zh-CN" sz="1600" b="0" i="0">
                <a:solidFill>
                  <a:schemeClr val="tx1"/>
                </a:solidFill>
                <a:latin typeface="Segoe UI" panose="020B0502040204020203"/>
                <a:ea typeface="宋体" panose="02010600030101010101" pitchFamily="2" charset="-122"/>
              </a:rPr>
              <a:t>v11</a:t>
            </a: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，实现高精度物体侦测。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AI</a:t>
            </a: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理论基础：学习神经网络、</a:t>
            </a:r>
            <a:r>
              <a:rPr lang="en-US" altLang="zh-CN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CNN</a:t>
            </a: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等核心模型原理。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55040" y="2428875"/>
            <a:ext cx="232918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9000">
                <a:solidFill>
                  <a:srgbClr val="1ABC9C"/>
                </a:solidFill>
                <a:latin typeface="Segoe UI" panose="020B0502040204020203"/>
                <a:ea typeface="Segoe UI" panose="020B0502040204020203"/>
                <a:sym typeface="+mn-ea"/>
              </a:rPr>
              <a:t>👁</a:t>
            </a:r>
            <a:endParaRPr lang="zh-CN" altLang="en-US" sz="9000">
              <a:solidFill>
                <a:srgbClr val="1ABC9C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652270"/>
            <a:ext cx="5080000" cy="216852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000" b="1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阶段四：为它植入“大脑”</a:t>
            </a:r>
            <a:endParaRPr lang="zh-CN" altLang="en-US" sz="2000" b="1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核心目标：接入大模型，实现理解与推理。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自然语言交互：集成语音识别与合成，实现对话控制。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大模型集成：接入</a:t>
            </a:r>
            <a:r>
              <a:rPr lang="en-US" altLang="zh-CN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LLM</a:t>
            </a: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，让机械臂具备规划复杂任务的能力。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多模态技术：学习</a:t>
            </a:r>
            <a:r>
              <a:rPr lang="en-US" altLang="zh-CN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CLIP</a:t>
            </a: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等模型，融合视觉与语言。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02080" y="2106295"/>
            <a:ext cx="18700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ctr"/>
            <a:r>
              <a:rPr lang="zh-CN" altLang="en-US" sz="9000">
                <a:solidFill>
                  <a:srgbClr val="1ABC9C"/>
                </a:solidFill>
                <a:latin typeface="Segoe UI" panose="020B0502040204020203"/>
                <a:ea typeface="Segoe UI" panose="020B0502040204020203"/>
                <a:sym typeface="+mn-ea"/>
              </a:rPr>
              <a:t>🧠</a:t>
            </a:r>
            <a:endParaRPr lang="zh-CN" altLang="en-US" sz="9000">
              <a:solidFill>
                <a:srgbClr val="1ABC9C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775142"/>
            <a:ext cx="5080000" cy="19221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ts val="1500"/>
              </a:spcAft>
            </a:pPr>
            <a:r>
              <a:rPr lang="zh-CN" altLang="en-US" sz="2000" b="1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阶段五：教它“自己干活”</a:t>
            </a:r>
            <a:endParaRPr lang="zh-CN" altLang="en-US" sz="2000" b="1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核心目标：通过学习，实现真正的自主智能。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前沿算法：掌握强化学习（</a:t>
            </a:r>
            <a:r>
              <a:rPr lang="en-US" altLang="zh-CN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RL</a:t>
            </a: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）与模仿学习（</a:t>
            </a:r>
            <a:r>
              <a:rPr lang="en-US" altLang="zh-CN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IL</a:t>
            </a: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）。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Sim-to-Real</a:t>
            </a: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：学习在仿真中</a:t>
            </a: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测试，在现实中部署。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终极任务：训练机械臂自主完成数据收集与抓取任务。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00150" y="2220595"/>
            <a:ext cx="21463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indent="0" algn="ctr"/>
            <a:r>
              <a:rPr lang="zh-CN" altLang="en-US" sz="9000">
                <a:solidFill>
                  <a:srgbClr val="1ABC9C"/>
                </a:solidFill>
                <a:latin typeface="Segoe UI" panose="020B0502040204020203"/>
                <a:ea typeface="Segoe UI" panose="020B0502040204020203"/>
                <a:sym typeface="+mn-ea"/>
              </a:rPr>
              <a:t>🤖</a:t>
            </a:r>
            <a:endParaRPr lang="zh-CN" altLang="en-US" sz="9000">
              <a:solidFill>
                <a:srgbClr val="1ABC9C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383030"/>
            <a:ext cx="5791200" cy="37769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ts val="1800"/>
              </a:spcAft>
            </a:pPr>
            <a:r>
              <a:rPr lang="zh-CN" altLang="en-US" sz="23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最终成果与职业价值</a:t>
            </a:r>
            <a:endParaRPr lang="zh-CN" altLang="en-US" sz="23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18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完成课程后，能独立完成智能机器人项目，</a:t>
            </a:r>
            <a:endParaRPr lang="zh-CN" altLang="en-US" sz="16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24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7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项目成果：自主完成一个智能抓取任务的</a:t>
            </a:r>
            <a:r>
              <a:rPr lang="en-US" altLang="zh-CN" sz="17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AI Agent</a:t>
            </a:r>
            <a:r>
              <a:rPr lang="zh-CN" altLang="en-US" sz="17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sz="17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24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7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职业认证：辅导并模拟考试 人工智能训练师</a:t>
            </a:r>
            <a:r>
              <a:rPr lang="en-US" altLang="zh-CN" sz="17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 </a:t>
            </a:r>
            <a:r>
              <a:rPr lang="zh-CN" altLang="en-US" sz="17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sz="17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24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7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附加价值：对接国家人社认证，享受政策补贴。</a:t>
            </a:r>
            <a:endParaRPr lang="zh-CN" altLang="en-US" sz="17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2400"/>
              </a:spcBef>
              <a:spcAft>
                <a:spcPts val="900"/>
              </a:spcAft>
              <a:buFont typeface="Arial" panose="020B0604020202020204"/>
              <a:buChar char="•"/>
            </a:pPr>
            <a:r>
              <a:rPr lang="zh-CN" altLang="en-US" sz="17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教学成果，科研申报，标准制定，心得</a:t>
            </a:r>
            <a:r>
              <a:rPr lang="zh-CN" altLang="en-US" sz="1700" b="0" i="0">
                <a:solidFill>
                  <a:schemeClr val="tx1"/>
                </a:solidFill>
                <a:latin typeface="Segoe UI" panose="020B0502040204020203"/>
                <a:ea typeface="Segoe UI" panose="020B0502040204020203"/>
              </a:rPr>
              <a:t>分享。</a:t>
            </a:r>
            <a:endParaRPr lang="zh-CN" altLang="en-US" sz="1700" b="0" i="0">
              <a:solidFill>
                <a:schemeClr val="tx1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3152" y="1608955"/>
            <a:ext cx="4750612" cy="315632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748" y="1807055"/>
            <a:ext cx="2287423" cy="274491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173152" y="1608955"/>
            <a:ext cx="4750612" cy="396472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>
              <a:lnSpc>
                <a:spcPts val="2355"/>
              </a:lnSpc>
            </a:pPr>
            <a:r>
              <a:rPr lang="zh-CN" altLang="en-US" sz="2135" b="1" kern="0" spc="-49" dirty="0">
                <a:solidFill>
                  <a:srgbClr val="333333"/>
                </a:solidFill>
                <a:latin typeface="HarmonyOS Sans SC" panose="00000500000000000000" pitchFamily="34" charset="-122"/>
                <a:ea typeface="HarmonyOS Sans SC" panose="00000500000000000000" pitchFamily="34" charset="-122"/>
                <a:cs typeface="HarmonyOS Sans SC" panose="00000500000000000000" pitchFamily="34" charset="-120"/>
              </a:rPr>
              <a:t>张泽华</a:t>
            </a:r>
            <a:endParaRPr lang="zh-CN" altLang="en-US" sz="2135" b="1" kern="0" spc="-49" dirty="0">
              <a:solidFill>
                <a:srgbClr val="333333"/>
              </a:solidFill>
              <a:latin typeface="HarmonyOS Sans SC" panose="00000500000000000000" pitchFamily="34" charset="-122"/>
              <a:ea typeface="HarmonyOS Sans SC" panose="00000500000000000000" pitchFamily="34" charset="-122"/>
              <a:cs typeface="HarmonyOS Sans SC" panose="00000500000000000000" pitchFamily="34" charset="-120"/>
            </a:endParaRPr>
          </a:p>
        </p:txBody>
      </p:sp>
      <p:sp>
        <p:nvSpPr>
          <p:cNvPr id="8" name="Text 3"/>
          <p:cNvSpPr/>
          <p:nvPr/>
        </p:nvSpPr>
        <p:spPr>
          <a:xfrm>
            <a:off x="5173152" y="2066472"/>
            <a:ext cx="4750612" cy="472724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>
              <a:lnSpc>
                <a:spcPts val="1995"/>
              </a:lnSpc>
            </a:pPr>
            <a:r>
              <a:rPr lang="en-US" sz="1600" b="0" kern="0" spc="-35" dirty="0">
                <a:solidFill>
                  <a:srgbClr val="888888"/>
                </a:solidFill>
                <a:latin typeface="HarmonyOS Sans SC" panose="00000500000000000000" pitchFamily="34" charset="-122"/>
                <a:ea typeface="HarmonyOS Sans SC" panose="00000500000000000000" pitchFamily="34" charset="-122"/>
                <a:cs typeface="HarmonyOS Sans SC" panose="00000500000000000000" pitchFamily="34" charset="-120"/>
              </a:rPr>
              <a:t>16年编程和软件开发经验</a:t>
            </a:r>
            <a:endParaRPr lang="en-US" sz="1575" dirty="0"/>
          </a:p>
        </p:txBody>
      </p:sp>
      <p:sp>
        <p:nvSpPr>
          <p:cNvPr id="9" name="Text 4"/>
          <p:cNvSpPr/>
          <p:nvPr/>
        </p:nvSpPr>
        <p:spPr>
          <a:xfrm>
            <a:off x="5173133" y="2782993"/>
            <a:ext cx="5008880" cy="1982047"/>
          </a:xfrm>
          <a:prstGeom prst="rect">
            <a:avLst/>
          </a:prstGeom>
          <a:noFill/>
        </p:spPr>
        <p:txBody>
          <a:bodyPr wrap="square" lIns="0" tIns="0" rIns="0" bIns="0" rtlCol="0" anchor="t"/>
          <a:p>
            <a:pPr>
              <a:lnSpc>
                <a:spcPts val="1630"/>
              </a:lnSpc>
              <a:spcAft>
                <a:spcPts val="400"/>
              </a:spcAft>
            </a:pPr>
            <a:r>
              <a:rPr lang="zh-CN" altLang="en-US" sz="1335" b="0" kern="0" spc="-30" dirty="0">
                <a:solidFill>
                  <a:srgbClr val="888888"/>
                </a:solidFill>
                <a:latin typeface="HarmonyOS Sans SC" panose="00000500000000000000" pitchFamily="34" charset="-122"/>
                <a:ea typeface="HarmonyOS Sans SC" panose="00000500000000000000" pitchFamily="34" charset="-122"/>
                <a:cs typeface="HarmonyOS Sans SC" panose="00000500000000000000" pitchFamily="34" charset="-120"/>
              </a:rPr>
              <a:t>系统</a:t>
            </a:r>
            <a:r>
              <a:rPr lang="zh-CN" altLang="en-US" sz="1335" b="0" kern="0" spc="-30" dirty="0">
                <a:solidFill>
                  <a:srgbClr val="888888"/>
                </a:solidFill>
                <a:latin typeface="HarmonyOS Sans SC" panose="00000500000000000000" pitchFamily="34" charset="-122"/>
                <a:ea typeface="HarmonyOS Sans SC" panose="00000500000000000000" pitchFamily="34" charset="-122"/>
                <a:cs typeface="HarmonyOS Sans SC" panose="00000500000000000000" pitchFamily="34" charset="-120"/>
              </a:rPr>
              <a:t>分析师</a:t>
            </a:r>
            <a:endParaRPr lang="zh-CN" altLang="en-US" sz="1335" b="0" kern="0" spc="-30" dirty="0">
              <a:solidFill>
                <a:srgbClr val="888888"/>
              </a:solidFill>
              <a:latin typeface="HarmonyOS Sans SC" panose="00000500000000000000" pitchFamily="34" charset="-122"/>
              <a:ea typeface="HarmonyOS Sans SC" panose="00000500000000000000" pitchFamily="34" charset="-122"/>
              <a:cs typeface="HarmonyOS Sans SC" panose="00000500000000000000" pitchFamily="34" charset="-120"/>
            </a:endParaRPr>
          </a:p>
          <a:p>
            <a:pPr>
              <a:lnSpc>
                <a:spcPts val="1630"/>
              </a:lnSpc>
              <a:spcAft>
                <a:spcPts val="400"/>
              </a:spcAft>
            </a:pPr>
            <a:r>
              <a:rPr lang="zh-CN" altLang="en-US" sz="1335" b="0" kern="0" spc="-30" dirty="0">
                <a:solidFill>
                  <a:srgbClr val="888888"/>
                </a:solidFill>
                <a:latin typeface="HarmonyOS Sans SC" panose="00000500000000000000" pitchFamily="34" charset="-122"/>
                <a:ea typeface="HarmonyOS Sans SC" panose="00000500000000000000" pitchFamily="34" charset="-122"/>
                <a:cs typeface="HarmonyOS Sans SC" panose="00000500000000000000" pitchFamily="34" charset="-120"/>
              </a:rPr>
              <a:t>大数据和人工智能专业博士在读</a:t>
            </a:r>
            <a:endParaRPr lang="en-US" sz="1335" b="0" kern="0" spc="-30" dirty="0">
              <a:solidFill>
                <a:srgbClr val="888888"/>
              </a:solidFill>
              <a:latin typeface="HarmonyOS Sans SC" panose="00000500000000000000" pitchFamily="34" charset="-122"/>
              <a:ea typeface="HarmonyOS Sans SC" panose="00000500000000000000" pitchFamily="34" charset="-122"/>
              <a:cs typeface="HarmonyOS Sans SC" panose="00000500000000000000" pitchFamily="34" charset="-120"/>
            </a:endParaRPr>
          </a:p>
          <a:p>
            <a:pPr>
              <a:lnSpc>
                <a:spcPts val="1630"/>
              </a:lnSpc>
              <a:spcAft>
                <a:spcPts val="400"/>
              </a:spcAft>
            </a:pPr>
            <a:r>
              <a:rPr lang="en-US" sz="1335" b="0" kern="0" spc="-30" dirty="0">
                <a:solidFill>
                  <a:srgbClr val="888888"/>
                </a:solidFill>
                <a:latin typeface="HarmonyOS Sans SC" panose="00000500000000000000" pitchFamily="34" charset="-122"/>
                <a:ea typeface="HarmonyOS Sans SC" panose="00000500000000000000" pitchFamily="34" charset="-122"/>
                <a:cs typeface="HarmonyOS Sans SC" panose="00000500000000000000" pitchFamily="34" charset="-120"/>
              </a:rPr>
              <a:t>中国CR机器人教育培训委员会委员</a:t>
            </a:r>
            <a:endParaRPr lang="en-US" sz="1335" b="0" kern="0" spc="-30" dirty="0">
              <a:solidFill>
                <a:srgbClr val="888888"/>
              </a:solidFill>
              <a:latin typeface="HarmonyOS Sans SC" panose="00000500000000000000" pitchFamily="34" charset="-122"/>
              <a:ea typeface="HarmonyOS Sans SC" panose="00000500000000000000" pitchFamily="34" charset="-122"/>
              <a:cs typeface="HarmonyOS Sans SC" panose="00000500000000000000" pitchFamily="34" charset="-120"/>
            </a:endParaRPr>
          </a:p>
          <a:p>
            <a:pPr>
              <a:lnSpc>
                <a:spcPts val="1630"/>
              </a:lnSpc>
              <a:spcAft>
                <a:spcPts val="400"/>
              </a:spcAft>
            </a:pPr>
            <a:r>
              <a:rPr lang="zh-CN" altLang="en-US" sz="1335" b="0" kern="0" spc="-30" dirty="0">
                <a:solidFill>
                  <a:srgbClr val="888888"/>
                </a:solidFill>
                <a:latin typeface="HarmonyOS Sans SC" panose="00000500000000000000" pitchFamily="34" charset="-122"/>
                <a:ea typeface="HarmonyOS Sans SC" panose="00000500000000000000" pitchFamily="34" charset="-122"/>
                <a:cs typeface="HarmonyOS Sans SC" panose="00000500000000000000" pitchFamily="34" charset="-120"/>
              </a:rPr>
              <a:t>深圳市人工智能产业协会标准化委员会委员</a:t>
            </a:r>
            <a:endParaRPr lang="zh-CN" altLang="en-US" sz="1335" b="0" kern="0" spc="-30" dirty="0">
              <a:solidFill>
                <a:srgbClr val="888888"/>
              </a:solidFill>
              <a:latin typeface="HarmonyOS Sans SC" panose="00000500000000000000" pitchFamily="34" charset="-122"/>
              <a:ea typeface="HarmonyOS Sans SC" panose="00000500000000000000" pitchFamily="34" charset="-122"/>
              <a:cs typeface="HarmonyOS Sans SC" panose="00000500000000000000" pitchFamily="34" charset="-120"/>
            </a:endParaRPr>
          </a:p>
          <a:p>
            <a:pPr>
              <a:lnSpc>
                <a:spcPts val="1630"/>
              </a:lnSpc>
              <a:spcAft>
                <a:spcPts val="400"/>
              </a:spcAft>
            </a:pPr>
            <a:r>
              <a:rPr lang="en-US" sz="1335" b="0" kern="0" spc="-30" dirty="0">
                <a:solidFill>
                  <a:srgbClr val="888888"/>
                </a:solidFill>
                <a:latin typeface="HarmonyOS Sans SC" panose="00000500000000000000" pitchFamily="34" charset="-122"/>
                <a:ea typeface="HarmonyOS Sans SC" panose="00000500000000000000" pitchFamily="34" charset="-122"/>
                <a:cs typeface="HarmonyOS Sans SC" panose="00000500000000000000" pitchFamily="34" charset="-120"/>
              </a:rPr>
              <a:t>广东省职业教育“双师型”名师工作室成员</a:t>
            </a:r>
            <a:endParaRPr lang="en-US" sz="1325" dirty="0"/>
          </a:p>
          <a:p>
            <a:pPr>
              <a:lnSpc>
                <a:spcPts val="1630"/>
              </a:lnSpc>
              <a:spcAft>
                <a:spcPts val="400"/>
              </a:spcAft>
            </a:pPr>
            <a:r>
              <a:rPr lang="en-US" sz="1335" b="0" kern="0" spc="-30" dirty="0">
                <a:solidFill>
                  <a:srgbClr val="888888"/>
                </a:solidFill>
                <a:latin typeface="HarmonyOS Sans SC" panose="00000500000000000000" pitchFamily="34" charset="-122"/>
                <a:ea typeface="HarmonyOS Sans SC" panose="00000500000000000000" pitchFamily="34" charset="-122"/>
                <a:cs typeface="HarmonyOS Sans SC" panose="00000500000000000000" pitchFamily="34" charset="-120"/>
              </a:rPr>
              <a:t>厦门大学大数据实验室百家讲坛特邀讲师</a:t>
            </a:r>
            <a:endParaRPr lang="en-US" sz="1325" dirty="0"/>
          </a:p>
          <a:p>
            <a:pPr>
              <a:lnSpc>
                <a:spcPts val="1630"/>
              </a:lnSpc>
              <a:spcAft>
                <a:spcPts val="400"/>
              </a:spcAft>
            </a:pPr>
            <a:r>
              <a:rPr lang="en-US" sz="1335" b="0" kern="0" spc="-30" dirty="0">
                <a:solidFill>
                  <a:srgbClr val="888888"/>
                </a:solidFill>
                <a:latin typeface="HarmonyOS Sans SC" panose="00000500000000000000" pitchFamily="34" charset="-122"/>
                <a:ea typeface="HarmonyOS Sans SC" panose="00000500000000000000" pitchFamily="34" charset="-122"/>
                <a:cs typeface="HarmonyOS Sans SC" panose="00000500000000000000" pitchFamily="34" charset="-120"/>
              </a:rPr>
              <a:t>广东省人社厅师资培训基地人工智能、区块链技术专家讲师</a:t>
            </a:r>
            <a:endParaRPr lang="en-US" sz="1325" dirty="0"/>
          </a:p>
          <a:p>
            <a:pPr>
              <a:lnSpc>
                <a:spcPts val="1630"/>
              </a:lnSpc>
            </a:pPr>
            <a:r>
              <a:rPr lang="en-US" sz="1335" b="0" kern="0" spc="-30" dirty="0">
                <a:solidFill>
                  <a:srgbClr val="888888"/>
                </a:solidFill>
                <a:latin typeface="HarmonyOS Sans SC" panose="00000500000000000000" pitchFamily="34" charset="-122"/>
                <a:ea typeface="HarmonyOS Sans SC" panose="00000500000000000000" pitchFamily="34" charset="-122"/>
                <a:cs typeface="HarmonyOS Sans SC" panose="00000500000000000000" pitchFamily="34" charset="-120"/>
              </a:rPr>
              <a:t>多本畅销软件开发教材的编写人和审稿人，国家十三五教材审稿人</a:t>
            </a:r>
            <a:endParaRPr lang="en-US" sz="13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911158"/>
            <a:ext cx="5080000" cy="10356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8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人工智能的下一站：具身智能</a:t>
            </a:r>
            <a:endParaRPr lang="zh-CN" altLang="en-US" sz="28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</a:pPr>
            <a:r>
              <a:rPr lang="zh-CN" altLang="en-US" sz="1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一场从计算智能到物理智能的范式转移</a:t>
            </a:r>
            <a:endParaRPr lang="zh-CN" altLang="en-US" sz="1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557655"/>
            <a:ext cx="5080000" cy="35579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我们见证了认知智能的革命</a:t>
            </a:r>
            <a:endParaRPr lang="zh-CN" altLang="en-US" sz="23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endParaRPr lang="zh-CN" altLang="en-US" sz="2600" b="0" i="0">
              <a:solidFill>
                <a:srgbClr val="444444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endParaRPr lang="zh-CN" altLang="en-US" sz="2600" b="0" i="0">
              <a:solidFill>
                <a:srgbClr val="444444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endParaRPr lang="zh-CN" altLang="en-US" sz="2600" b="0" i="0">
              <a:solidFill>
                <a:srgbClr val="444444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endParaRPr lang="zh-CN" altLang="en-US" sz="2600" b="0" i="0">
              <a:solidFill>
                <a:srgbClr val="444444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endParaRPr lang="zh-CN" altLang="en-US" sz="2600" b="0" i="0">
              <a:solidFill>
                <a:srgbClr val="444444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endParaRPr lang="zh-CN" altLang="en-US" sz="2600" b="0" i="0">
              <a:solidFill>
                <a:srgbClr val="444444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AI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能力已达“博士生水平”，模拟人类思维的能力日益强大。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4130" y="2647950"/>
            <a:ext cx="7063740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817813"/>
            <a:ext cx="5080000" cy="1222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一个核心问题随之而来</a:t>
            </a: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Aft>
                <a:spcPct val="60000"/>
              </a:spcAft>
            </a:pPr>
            <a:r>
              <a:rPr lang="zh-CN" altLang="en-US" sz="17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当机器“思维”超越人类，</a:t>
            </a:r>
            <a:endParaRPr lang="zh-CN" altLang="en-US" sz="17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Aft>
                <a:spcPct val="60000"/>
              </a:spcAft>
            </a:pPr>
            <a:r>
              <a:rPr lang="zh-CN" altLang="en-US" sz="17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下一步在哪里？</a:t>
            </a:r>
            <a:endParaRPr lang="zh-CN" altLang="en-US" sz="17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6000" y="2462848"/>
            <a:ext cx="5080000" cy="19323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学界与工业界的共识：</a:t>
            </a:r>
            <a:endParaRPr lang="zh-CN" altLang="en-US" sz="23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Aft>
                <a:spcPct val="60000"/>
              </a:spcAft>
            </a:pPr>
            <a:r>
              <a:rPr lang="zh-CN" altLang="en-US" sz="28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具身智能 </a:t>
            </a:r>
            <a:r>
              <a:rPr lang="en-US" altLang="zh-CN" sz="28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(Embodied AI)</a:t>
            </a:r>
            <a:endParaRPr lang="en-US" altLang="zh-CN" sz="28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让智能走出数字世界，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进入并改造物理世界。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742123"/>
            <a:ext cx="5080000" cy="99822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一场深刻的范式转移</a:t>
            </a:r>
            <a:endParaRPr lang="zh-CN" altLang="en-US" sz="16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1800"/>
              </a:spcBef>
              <a:spcAft>
                <a:spcPct val="60000"/>
              </a:spcAft>
            </a:pPr>
            <a:endParaRPr lang="zh-CN" altLang="en-US" b="0" i="0">
              <a:solidFill>
                <a:srgbClr val="444444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82535" y="2740660"/>
            <a:ext cx="3972560" cy="17862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spcBef>
                <a:spcPts val="1800"/>
              </a:spcBef>
              <a:spcAft>
                <a:spcPct val="60000"/>
              </a:spcAft>
            </a:pPr>
            <a:r>
              <a:rPr lang="zh-CN" altLang="en-US">
                <a:solidFill>
                  <a:srgbClr val="005A9C"/>
                </a:solidFill>
                <a:latin typeface="Segoe UI" panose="020B0502040204020203"/>
                <a:ea typeface="Segoe UI" panose="020B0502040204020203"/>
                <a:sym typeface="+mn-ea"/>
              </a:rPr>
              <a:t>物理智能</a:t>
            </a:r>
            <a:endParaRPr lang="zh-CN" altLang="en-US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>
                <a:solidFill>
                  <a:srgbClr val="555555"/>
                </a:solidFill>
                <a:latin typeface="Segoe UI" panose="020B0502040204020203"/>
                <a:ea typeface="Segoe UI" panose="020B0502040204020203"/>
                <a:sym typeface="+mn-ea"/>
              </a:rPr>
              <a:t>Physical Intelligence</a:t>
            </a:r>
            <a:endParaRPr lang="en-US" altLang="zh-CN">
              <a:solidFill>
                <a:srgbClr val="555555"/>
              </a:solidFill>
              <a:latin typeface="Segoe UI" panose="020B0502040204020203"/>
              <a:ea typeface="Segoe UI" panose="020B0502040204020203"/>
              <a:sym typeface="+mn-ea"/>
            </a:endParaRPr>
          </a:p>
          <a:p>
            <a:pPr marL="0" indent="0" algn="ctr">
              <a:spcBef>
                <a:spcPts val="1800"/>
              </a:spcBef>
              <a:spcAft>
                <a:spcPts val="1800"/>
              </a:spcAft>
            </a:pPr>
            <a:r>
              <a:rPr lang="zh-CN" altLang="en-US">
                <a:solidFill>
                  <a:srgbClr val="444444"/>
                </a:solidFill>
                <a:latin typeface="Segoe UI" panose="020B0502040204020203"/>
                <a:ea typeface="Segoe UI" panose="020B0502040204020203"/>
                <a:sym typeface="+mn-ea"/>
              </a:rPr>
              <a:t>能感知和主动改变物理世界</a:t>
            </a:r>
            <a:endParaRPr lang="zh-CN" altLang="en-US">
              <a:solidFill>
                <a:srgbClr val="444444"/>
              </a:solidFill>
              <a:latin typeface="Segoe UI" panose="020B0502040204020203"/>
              <a:ea typeface="Segoe UI" panose="020B0502040204020203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741805" y="2740660"/>
            <a:ext cx="4938395" cy="2525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>
              <a:spcBef>
                <a:spcPts val="1800"/>
              </a:spcBef>
              <a:spcAft>
                <a:spcPct val="60000"/>
              </a:spcAft>
            </a:pPr>
            <a:r>
              <a:rPr lang="zh-CN" altLang="en-US">
                <a:solidFill>
                  <a:srgbClr val="005A9C"/>
                </a:solidFill>
                <a:latin typeface="Segoe UI" panose="020B0502040204020203"/>
                <a:ea typeface="Segoe UI" panose="020B0502040204020203"/>
                <a:sym typeface="+mn-ea"/>
              </a:rPr>
              <a:t>计算智能</a:t>
            </a:r>
            <a:endParaRPr lang="zh-CN" altLang="en-US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1800"/>
              </a:spcBef>
              <a:spcAft>
                <a:spcPts val="1800"/>
              </a:spcAft>
            </a:pPr>
            <a:r>
              <a:rPr lang="en-US" altLang="zh-CN">
                <a:solidFill>
                  <a:srgbClr val="555555"/>
                </a:solidFill>
                <a:latin typeface="Segoe UI" panose="020B0502040204020203"/>
                <a:ea typeface="Segoe UI" panose="020B0502040204020203"/>
                <a:sym typeface="+mn-ea"/>
              </a:rPr>
              <a:t>Computational Intelligence</a:t>
            </a:r>
            <a:endParaRPr lang="en-US" altLang="zh-CN">
              <a:solidFill>
                <a:srgbClr val="555555"/>
              </a:solidFill>
              <a:latin typeface="Segoe UI" panose="020B0502040204020203"/>
              <a:ea typeface="Segoe UI" panose="020B0502040204020203"/>
              <a:sym typeface="+mn-ea"/>
            </a:endParaRPr>
          </a:p>
          <a:p>
            <a:pPr marL="0" indent="0" algn="ctr">
              <a:spcBef>
                <a:spcPts val="1800"/>
              </a:spcBef>
              <a:spcAft>
                <a:spcPts val="1800"/>
              </a:spcAft>
            </a:pPr>
            <a:r>
              <a:rPr lang="zh-CN" altLang="en-US">
                <a:solidFill>
                  <a:srgbClr val="444444"/>
                </a:solidFill>
                <a:latin typeface="Segoe UI" panose="020B0502040204020203"/>
                <a:ea typeface="Segoe UI" panose="020B0502040204020203"/>
                <a:sym typeface="+mn-ea"/>
              </a:rPr>
              <a:t>活在数据和虚拟环境中</a:t>
            </a:r>
            <a:endParaRPr lang="zh-CN" altLang="en-US" b="0" i="0">
              <a:solidFill>
                <a:srgbClr val="444444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1800"/>
              </a:spcBef>
              <a:spcAft>
                <a:spcPct val="60000"/>
              </a:spcAft>
            </a:pPr>
            <a:endParaRPr lang="zh-CN" altLang="en-US" b="0" i="0">
              <a:solidFill>
                <a:srgbClr val="444444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6318250" y="3465195"/>
            <a:ext cx="1444625" cy="21272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911158"/>
            <a:ext cx="5080000" cy="10356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8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什么是具身智能？</a:t>
            </a:r>
            <a:endParaRPr lang="zh-CN" altLang="en-US" sz="28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</a:pPr>
            <a:r>
              <a:rPr lang="zh-CN" altLang="en-US" sz="1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理解</a:t>
            </a:r>
            <a:r>
              <a:rPr lang="en-US" altLang="zh-CN" sz="1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AI</a:t>
            </a:r>
            <a:r>
              <a:rPr lang="zh-CN" altLang="en-US" sz="1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与物理世界的终极交互</a:t>
            </a:r>
            <a:endParaRPr lang="zh-CN" altLang="en-US" sz="1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63595" y="1184593"/>
            <a:ext cx="5080000" cy="460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4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首先，厘清两个相关概念</a:t>
            </a:r>
            <a:endParaRPr lang="zh-CN" altLang="en-US" sz="24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5295" y="3429000"/>
            <a:ext cx="5080000" cy="170180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200" b="0" i="0">
                <a:solidFill>
                  <a:srgbClr val="444444"/>
                </a:solidFill>
                <a:latin typeface="Segoe UI" panose="020B0502040204020203"/>
                <a:ea typeface="Segoe UI" panose="020B0502040204020203"/>
              </a:rPr>
              <a:t>传统机器人学</a:t>
            </a:r>
            <a:endParaRPr lang="zh-CN" altLang="en-US" sz="2200" b="0" i="0">
              <a:solidFill>
                <a:srgbClr val="444444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3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更侧重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精确控制、运动规划、动力学模型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 (Model-based)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3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目标是让机器在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已知环境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中，完成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精确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的、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可复现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的动作。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433820" y="3429000"/>
            <a:ext cx="5080000" cy="151511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200" b="0" i="0">
                <a:solidFill>
                  <a:srgbClr val="444444"/>
                </a:solidFill>
                <a:latin typeface="Segoe UI" panose="020B0502040204020203"/>
                <a:ea typeface="Segoe UI" panose="020B0502040204020203"/>
              </a:rPr>
              <a:t>传统人工智能 </a:t>
            </a:r>
            <a:r>
              <a:rPr lang="en-US" altLang="zh-CN" sz="2200" b="0" i="0">
                <a:solidFill>
                  <a:srgbClr val="444444"/>
                </a:solidFill>
                <a:latin typeface="Segoe UI" panose="020B0502040204020203"/>
                <a:ea typeface="Segoe UI" panose="020B0502040204020203"/>
              </a:rPr>
              <a:t>(AI/LLM)</a:t>
            </a:r>
            <a:endParaRPr lang="en-US" altLang="zh-CN" sz="2200" b="0" i="0">
              <a:solidFill>
                <a:srgbClr val="444444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3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侧重于数据中的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模式识别与生成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 (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语言、图像等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)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，本质上是“非物理”的。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3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它是活在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数字世界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里的“大脑”，与物理世界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解耦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03905" y="1370330"/>
            <a:ext cx="6089650" cy="521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8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具身智能 </a:t>
            </a:r>
            <a:r>
              <a:rPr lang="en-US" altLang="zh-CN" sz="28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= </a:t>
            </a:r>
            <a:r>
              <a:rPr lang="zh-CN" altLang="en-US" sz="28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机器人学身体 </a:t>
            </a:r>
            <a:r>
              <a:rPr lang="en-US" altLang="zh-CN" sz="28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+ AI</a:t>
            </a:r>
            <a:r>
              <a:rPr lang="zh-CN" altLang="en-US" sz="28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大脑</a:t>
            </a:r>
            <a:endParaRPr lang="zh-CN" altLang="en-US" sz="28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92500" y="3873183"/>
            <a:ext cx="5080000" cy="154940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机器人学</a:t>
            </a:r>
            <a:r>
              <a:rPr lang="en-US" altLang="zh-CN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  +  </a:t>
            </a: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人工智能</a:t>
            </a:r>
            <a:endParaRPr lang="zh-CN" altLang="en-US" sz="2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具身智能是二者的深度融合。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它强调智能体通过与物理环境的实时交互来学习和完成任务。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这是一种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en-US" altLang="zh-CN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Data-driven + Model-based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的混合新范式。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280410" y="549497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交互是智能涌现的关键 </a:t>
            </a:r>
            <a:r>
              <a:rPr lang="en-US" altLang="zh-CN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(Interaction is the key for intelligence emergence)</a:t>
            </a:r>
            <a:endParaRPr lang="en-US" altLang="zh-CN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90420" y="1781175"/>
            <a:ext cx="8542020" cy="31578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核心理念：交互循环</a:t>
            </a:r>
            <a:endParaRPr lang="zh-CN" altLang="en-US" sz="23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endParaRPr lang="zh-CN" altLang="en-US" sz="2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endParaRPr lang="zh-CN" altLang="en-US" sz="2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endParaRPr lang="zh-CN" altLang="en-US" sz="2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endParaRPr lang="zh-CN" altLang="en-US" sz="2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endParaRPr lang="zh-CN" altLang="en-US" sz="2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智能体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(Agent)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通过身体感知环境，大脑进行决策，再通过身体执行动作，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动作改变了环境，从而产生新的感知，形成循环。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62300" y="2807970"/>
            <a:ext cx="5867400" cy="124206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1471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最关键的区别：实时与闭环</a:t>
            </a:r>
            <a:endParaRPr lang="zh-CN" altLang="en-US" sz="16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504856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目前大模型训练还没有形成闭环，</a:t>
            </a: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这是具身智能需要攻克的核心难题。</a:t>
            </a: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6590" y="2554605"/>
            <a:ext cx="5080000" cy="151511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200" b="0" i="0">
                <a:solidFill>
                  <a:srgbClr val="444444"/>
                </a:solidFill>
                <a:latin typeface="Segoe UI" panose="020B0502040204020203"/>
                <a:ea typeface="Segoe UI" panose="020B0502040204020203"/>
              </a:rPr>
              <a:t>传统大模型训练：</a:t>
            </a:r>
            <a:r>
              <a:rPr lang="zh-CN" altLang="en-US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离线 </a:t>
            </a:r>
            <a:r>
              <a:rPr lang="en-US" altLang="zh-CN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&amp; </a:t>
            </a:r>
            <a:r>
              <a:rPr lang="zh-CN" altLang="en-US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开环</a:t>
            </a:r>
            <a:endParaRPr lang="zh-CN" altLang="en-US" sz="22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3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数据 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(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静态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) → 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训练 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→ 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模型 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→ 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输出 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(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一次性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)</a:t>
            </a:r>
            <a:endParaRPr lang="en-US" altLang="zh-CN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3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模型无法根据自己的输出结果，实时获得环境反馈来调整下一步行为。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46545" y="2554605"/>
            <a:ext cx="5080000" cy="151511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200" b="0" i="0">
                <a:solidFill>
                  <a:srgbClr val="444444"/>
                </a:solidFill>
                <a:latin typeface="Segoe UI" panose="020B0502040204020203"/>
                <a:ea typeface="Segoe UI" panose="020B0502040204020203"/>
              </a:rPr>
              <a:t>具身智能：</a:t>
            </a:r>
            <a:r>
              <a:rPr lang="zh-CN" altLang="en-US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实时 </a:t>
            </a:r>
            <a:r>
              <a:rPr lang="en-US" altLang="zh-CN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&amp; </a:t>
            </a:r>
            <a:r>
              <a:rPr lang="zh-CN" altLang="en-US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闭环</a:t>
            </a:r>
            <a:endParaRPr lang="zh-CN" altLang="en-US" sz="22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3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感知 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→ 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决策 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→ 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执行 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↻ 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反馈 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→ 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新感知 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...</a:t>
            </a:r>
            <a:endParaRPr lang="en-US" altLang="zh-CN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ts val="30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智能体在“行动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-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感知”的循环中持续学习和适应，这是产生真正物理智能的基础。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604135"/>
            <a:ext cx="5080000" cy="16497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总结：什么是具身智能？</a:t>
            </a:r>
            <a:endParaRPr lang="zh-CN" altLang="en-US" sz="23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它不是简单的“机器人</a:t>
            </a:r>
            <a:r>
              <a:rPr lang="en-US" altLang="zh-CN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+AI”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，而是一个全新的范式：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一个拥有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物理身体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的智能体，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在与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物理世界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的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实时、闭环交互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中，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通过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不断试错和学习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，最终涌现出解决复杂任务的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智能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911158"/>
            <a:ext cx="5080000" cy="10356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8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具身智能的技术版图</a:t>
            </a:r>
            <a:endParaRPr lang="zh-CN" altLang="en-US" sz="28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</a:pPr>
            <a:r>
              <a:rPr lang="zh-CN" altLang="en-US" sz="1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一次系统工程维度的解构</a:t>
            </a:r>
            <a:endParaRPr lang="zh-CN" altLang="en-US" sz="1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218883"/>
            <a:ext cx="5080000" cy="553275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技术堆栈：一个四层架构</a:t>
            </a:r>
            <a:endParaRPr lang="zh-CN" altLang="en-US" sz="23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Aft>
                <a:spcPct val="60000"/>
              </a:spcAft>
            </a:pPr>
            <a:endParaRPr lang="zh-CN" altLang="en-US" sz="23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硬件层</a:t>
            </a:r>
            <a:r>
              <a:rPr lang="en-US" altLang="zh-CN" sz="2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(The Body)</a:t>
            </a:r>
            <a:endParaRPr lang="en-US" altLang="zh-CN" sz="2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驱动、传感、计算平台</a:t>
            </a:r>
            <a:endParaRPr lang="zh-CN" altLang="en-US" sz="2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软件</a:t>
            </a:r>
            <a:r>
              <a:rPr lang="en-US" altLang="zh-CN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系统层</a:t>
            </a:r>
            <a:r>
              <a:rPr lang="en-US" altLang="zh-CN" sz="2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(The Nervous System)</a:t>
            </a:r>
            <a:endParaRPr lang="en-US" altLang="zh-CN" sz="2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操作系统、仿真、通信</a:t>
            </a:r>
            <a:endParaRPr lang="zh-CN" altLang="en-US" sz="2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算法</a:t>
            </a:r>
            <a:r>
              <a:rPr lang="en-US" altLang="zh-CN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认知层</a:t>
            </a:r>
            <a:r>
              <a:rPr lang="en-US" altLang="zh-CN" sz="2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(The Brain)</a:t>
            </a:r>
            <a:endParaRPr lang="en-US" altLang="zh-CN" sz="2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感知、决策、规划、控制</a:t>
            </a:r>
            <a:endParaRPr lang="zh-CN" altLang="en-US" sz="2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应用层</a:t>
            </a:r>
            <a:r>
              <a:rPr lang="en-US" altLang="zh-CN" sz="2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(The Purpose)</a:t>
            </a:r>
            <a:endParaRPr lang="en-US" altLang="zh-CN" sz="2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endParaRPr lang="en-US" altLang="zh-CN" sz="2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工业、家庭、特种作业、医疗</a:t>
            </a:r>
            <a:endParaRPr lang="zh-CN" altLang="en-US" sz="2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我们将从下至上，逐层解析这个复杂而精密的系统。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4" name="梯形 3"/>
          <p:cNvSpPr/>
          <p:nvPr/>
        </p:nvSpPr>
        <p:spPr>
          <a:xfrm>
            <a:off x="2267585" y="2525395"/>
            <a:ext cx="7656830" cy="2920365"/>
          </a:xfrm>
          <a:prstGeom prst="trapezoid">
            <a:avLst/>
          </a:prstGeom>
          <a:solidFill>
            <a:schemeClr val="accent1">
              <a:alpha val="42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556000" y="1005840"/>
            <a:ext cx="5080000" cy="964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第一层：硬件层 </a:t>
            </a:r>
            <a:r>
              <a:rPr lang="en-US" altLang="zh-CN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(The Body)</a:t>
            </a:r>
            <a:endParaRPr lang="en-US" altLang="zh-CN" sz="16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zh-CN" altLang="en-US" sz="28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硬件层</a:t>
            </a:r>
            <a:endParaRPr lang="zh-CN" altLang="en-US" sz="28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67535" y="2713990"/>
            <a:ext cx="2563495" cy="1430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驱动单元</a:t>
            </a:r>
            <a:endParaRPr lang="zh-CN" altLang="en-US" sz="16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电机</a:t>
            </a:r>
            <a:endParaRPr lang="zh-CN" altLang="en-US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减速器</a:t>
            </a:r>
            <a:endParaRPr lang="zh-CN" altLang="en-US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控制器</a:t>
            </a:r>
            <a:endParaRPr lang="zh-CN" altLang="en-US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702810" y="2713990"/>
            <a:ext cx="3317240" cy="1430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传感单元</a:t>
            </a:r>
            <a:endParaRPr lang="zh-CN" altLang="en-US" sz="16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摄像头 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(</a:t>
            </a: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视觉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)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编码器 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(</a:t>
            </a: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位置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)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力矩传感器 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(</a:t>
            </a: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力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)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91830" y="2713990"/>
            <a:ext cx="3593465" cy="1430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计算平台</a:t>
            </a:r>
            <a:endParaRPr lang="zh-CN" altLang="en-US" sz="16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MCU (</a:t>
            </a: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底层控制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)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边缘计算设备</a:t>
            </a:r>
            <a:endParaRPr lang="zh-CN" altLang="en-US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板载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GPU/NPU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21430" y="53736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1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这一层决定了智能体的物理能力上限。</a:t>
            </a:r>
            <a:endParaRPr lang="zh-CN" altLang="en-US" sz="1600" b="0" i="1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74135" y="10728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第二层：软件</a:t>
            </a:r>
            <a:r>
              <a:rPr lang="en-US" altLang="zh-CN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系统层</a:t>
            </a:r>
            <a:r>
              <a:rPr lang="en-US" altLang="zh-CN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 </a:t>
            </a:r>
            <a:endParaRPr lang="en-US" altLang="zh-CN" sz="16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704590" y="20393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软件</a:t>
            </a:r>
            <a:r>
              <a:rPr lang="en-US" altLang="zh-CN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系统层</a:t>
            </a: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04590" y="249586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硬件层</a:t>
            </a: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421130" y="3180080"/>
            <a:ext cx="3179445" cy="10915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操作系统</a:t>
            </a:r>
            <a:endParaRPr lang="zh-CN" altLang="en-US" sz="16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ROS / ROS2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实时操作系统 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(RTOS)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170170" y="2952750"/>
            <a:ext cx="3125470" cy="1430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仿真环境</a:t>
            </a:r>
            <a:endParaRPr lang="zh-CN" altLang="en-US" sz="16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NVIDIA Isaac Sim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MuJoCo 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three3D.js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184640" y="2833370"/>
            <a:ext cx="2319020" cy="1430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通信协议</a:t>
            </a:r>
            <a:endParaRPr lang="zh-CN" altLang="en-US" sz="16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DDS (ROS2</a:t>
            </a: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核心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)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WebSocket  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200">
                <a:solidFill>
                  <a:srgbClr val="555555"/>
                </a:solidFill>
                <a:latin typeface="Segoe UI" panose="020B0502040204020203"/>
                <a:ea typeface="Segoe UI" panose="020B0502040204020203"/>
                <a:sym typeface="+mn-ea"/>
              </a:rPr>
              <a:t>gRPC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704590" y="52143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1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这是连接硬件与算法的桥梁，负责信息的高效流转。</a:t>
            </a:r>
            <a:endParaRPr lang="zh-CN" altLang="en-US" sz="1600" b="0" i="1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0836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第三层：算法</a:t>
            </a:r>
            <a:r>
              <a:rPr lang="en-US" altLang="zh-CN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认知层</a:t>
            </a:r>
            <a:r>
              <a:rPr lang="en-US" altLang="zh-CN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 </a:t>
            </a:r>
            <a:endParaRPr lang="en-US" altLang="zh-CN" sz="16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39160" y="1856105"/>
            <a:ext cx="5080000" cy="66040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算法</a:t>
            </a:r>
            <a:r>
              <a:rPr lang="en-US" altLang="zh-CN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认知层</a:t>
            </a: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39160" y="22621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软件</a:t>
            </a:r>
            <a:r>
              <a:rPr lang="en-US" altLang="zh-CN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系统层</a:t>
            </a: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6000" y="259937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硬件层</a:t>
            </a: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65860" y="3234055"/>
            <a:ext cx="4516755" cy="1430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感知算法 </a:t>
            </a:r>
            <a:r>
              <a:rPr lang="en-US" altLang="zh-CN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(Perception)</a:t>
            </a:r>
            <a:endParaRPr lang="en-US" altLang="zh-CN" sz="16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经典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CV OpenCV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CNN/Transformer</a:t>
            </a: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目标检测 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(YOLO)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多模态融合 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(CLIP)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31485" y="3298190"/>
            <a:ext cx="3380740" cy="1430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决策与规划 </a:t>
            </a:r>
            <a:r>
              <a:rPr lang="en-US" altLang="zh-CN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(Decision)</a:t>
            </a:r>
            <a:endParaRPr lang="en-US" altLang="zh-CN" sz="16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LLM for Task Planning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强化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模仿学习 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(PPO, BC)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Diffusion Policy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87815" y="3234055"/>
            <a:ext cx="4039235" cy="1430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控制算法 </a:t>
            </a:r>
            <a:r>
              <a:rPr lang="en-US" altLang="zh-CN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(Control)</a:t>
            </a:r>
            <a:endParaRPr lang="en-US" altLang="zh-CN" sz="16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PID (</a:t>
            </a: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底层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)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运动学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动力学逆解</a:t>
            </a:r>
            <a:endParaRPr lang="zh-CN" altLang="en-US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模型</a:t>
            </a: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上下文 </a:t>
            </a:r>
            <a:r>
              <a:rPr lang="en-US" altLang="zh-CN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(MCP)</a:t>
            </a:r>
            <a:endParaRPr lang="en-US" altLang="zh-CN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747135" y="7966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第四层：应用层</a:t>
            </a:r>
            <a:endParaRPr lang="zh-CN" altLang="en-US" sz="16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15719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应用层</a:t>
            </a: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439160" y="1856105"/>
            <a:ext cx="5080000" cy="66040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算法</a:t>
            </a:r>
            <a:r>
              <a:rPr lang="en-US" altLang="zh-CN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认知层</a:t>
            </a: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39160" y="226218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软件</a:t>
            </a:r>
            <a:r>
              <a:rPr lang="en-US" altLang="zh-CN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系统层</a:t>
            </a: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56000" y="259937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硬件层</a:t>
            </a:r>
            <a:endParaRPr lang="zh-CN" altLang="en-US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技术最终服务于目标，驱动物理世界的变革。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9135" y="4719955"/>
            <a:ext cx="1798320" cy="753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工业自动化</a:t>
            </a:r>
            <a:endParaRPr lang="zh-CN" altLang="en-US" sz="16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分拣、装配</a:t>
            </a:r>
            <a:endParaRPr lang="zh-CN" altLang="en-US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897505" y="4719955"/>
            <a:ext cx="1798320" cy="753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家庭服务</a:t>
            </a:r>
            <a:endParaRPr lang="zh-CN" altLang="en-US" sz="16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清洁、烹饪</a:t>
            </a:r>
            <a:endParaRPr lang="zh-CN" altLang="en-US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095875" y="4719955"/>
            <a:ext cx="1979930" cy="753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特种作业</a:t>
            </a:r>
            <a:endParaRPr lang="zh-CN" altLang="en-US" sz="16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巡检、救援</a:t>
            </a:r>
            <a:endParaRPr lang="zh-CN" altLang="en-US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75855" y="4719955"/>
            <a:ext cx="2591435" cy="7531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医疗康复</a:t>
            </a:r>
            <a:endParaRPr lang="zh-CN" altLang="en-US" sz="16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外骨骼、护理</a:t>
            </a:r>
            <a:endParaRPr lang="zh-CN" altLang="en-US" sz="22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41090" y="8810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总结：一个高度协同的系统</a:t>
            </a:r>
            <a:endParaRPr lang="zh-CN" altLang="en-US" sz="16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6000" y="1772920"/>
            <a:ext cx="5080000" cy="273812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en-US" altLang="zh-CN" sz="23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 </a:t>
            </a: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硬件层</a:t>
            </a:r>
            <a:r>
              <a:rPr lang="en-US" altLang="zh-CN" sz="2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(The Body)</a:t>
            </a:r>
            <a:endParaRPr lang="en-US" altLang="zh-CN" sz="2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软件</a:t>
            </a:r>
            <a:r>
              <a:rPr lang="en-US" altLang="zh-CN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系统层</a:t>
            </a:r>
            <a:r>
              <a:rPr lang="en-US" altLang="zh-CN" sz="2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(The Nervous System)</a:t>
            </a:r>
            <a:endParaRPr lang="en-US" altLang="zh-CN" sz="2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算法</a:t>
            </a:r>
            <a:r>
              <a:rPr lang="en-US" altLang="zh-CN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/</a:t>
            </a: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认知层</a:t>
            </a:r>
            <a:r>
              <a:rPr lang="en-US" altLang="zh-CN" sz="2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(The Brain)</a:t>
            </a:r>
            <a:endParaRPr lang="en-US" altLang="zh-CN" sz="2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  <a:spcAft>
                <a:spcPts val="600"/>
              </a:spcAft>
            </a:pPr>
            <a:r>
              <a:rPr lang="zh-CN" altLang="en-US" sz="2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应用层</a:t>
            </a:r>
            <a:r>
              <a:rPr lang="en-US" altLang="zh-CN" sz="2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(The Purpose)</a:t>
            </a:r>
            <a:endParaRPr lang="en-US" altLang="zh-CN" sz="2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具身智能的实现，不仅是单点算法的突破，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更是硬件、软件、算法、应用四层深度耦合、协同进化的系统工程挑战。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911158"/>
            <a:ext cx="5080000" cy="10356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8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具身智能的核心挑战</a:t>
            </a:r>
            <a:endParaRPr lang="zh-CN" altLang="en-US" sz="28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spcBef>
                <a:spcPct val="0"/>
              </a:spcBef>
            </a:pPr>
            <a:r>
              <a:rPr lang="zh-CN" altLang="en-US" sz="1600" b="0" i="0">
                <a:solidFill>
                  <a:srgbClr val="666666"/>
                </a:solidFill>
                <a:latin typeface="Segoe UI" panose="020B0502040204020203"/>
                <a:ea typeface="Segoe UI" panose="020B0502040204020203"/>
              </a:rPr>
              <a:t>跨越从数字智能到物理智能的鸿沟</a:t>
            </a:r>
            <a:endParaRPr lang="zh-CN" altLang="en-US" sz="1600" b="0" i="0">
              <a:solidFill>
                <a:srgbClr val="666666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41090" y="107283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面临的四大科学与工程挑战</a:t>
            </a:r>
            <a:endParaRPr lang="zh-CN" altLang="en-US" sz="16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758633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en-US" altLang="zh-CN" sz="19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1. Sim-to-Real Gap</a:t>
            </a:r>
            <a:endParaRPr lang="en-US" altLang="zh-CN" sz="19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仿真与现实的差异，是当前研究的核心痛点。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45505" y="1662748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en-US" altLang="zh-CN" sz="19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2. </a:t>
            </a:r>
            <a:r>
              <a:rPr lang="zh-CN" altLang="en-US" sz="19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数据稀疏性</a:t>
            </a:r>
            <a:endParaRPr lang="zh-CN" altLang="en-US" sz="19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机器人试错成本高昂，难以获得海量高质量的交互数据。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46835" y="3664268"/>
            <a:ext cx="5080000" cy="95313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en-US" altLang="zh-CN" sz="19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3. </a:t>
            </a:r>
            <a:r>
              <a:rPr lang="zh-CN" altLang="en-US" sz="19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泛化性</a:t>
            </a:r>
            <a:endParaRPr lang="zh-CN" altLang="en-US" sz="19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如何让智能体将在特定场景学到的技能，泛化到新环境、新任务中。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20840" y="3910648"/>
            <a:ext cx="5080000" cy="70675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600"/>
              </a:spcAft>
            </a:pPr>
            <a:r>
              <a:rPr lang="en-US" altLang="zh-CN" sz="19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4. </a:t>
            </a:r>
            <a:r>
              <a:rPr lang="zh-CN" altLang="en-US" sz="19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安全性与可解释性</a:t>
            </a:r>
            <a:endParaRPr lang="zh-CN" altLang="en-US" sz="19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</a:pP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如何确保智能体在物理世界的行为安全、可控、可信赖。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97758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挑战一：</a:t>
            </a:r>
            <a:r>
              <a:rPr lang="en-US" altLang="zh-CN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Sim-to-Real Gap</a:t>
            </a:r>
            <a:endParaRPr lang="en-US" altLang="zh-CN" sz="16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19200" y="2380932"/>
            <a:ext cx="5080000" cy="188404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1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痛点：理想 </a:t>
            </a:r>
            <a:r>
              <a:rPr lang="en-US" altLang="zh-CN" sz="1600" b="1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vs. </a:t>
            </a:r>
            <a:r>
              <a:rPr lang="zh-CN" altLang="en-US" sz="1600" b="1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现实</a:t>
            </a:r>
            <a:endParaRPr lang="zh-CN" altLang="en-US" sz="1600" b="1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仿真无法完美复刻现实世界的物理细节，如摩擦、光照、材质、延迟等。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在仿真中表现优异的策略，直接迁移到现实中往往会失效。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58635" y="2148523"/>
            <a:ext cx="5080000" cy="256095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1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解决思路：弥合鸿沟</a:t>
            </a:r>
            <a:endParaRPr lang="zh-CN" altLang="en-US" sz="1600" b="1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领域随机化 </a:t>
            </a:r>
            <a:r>
              <a:rPr lang="en-US" altLang="zh-CN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(Domain Randomization):</a:t>
            </a:r>
            <a:r>
              <a:rPr lang="en-US" altLang="zh-CN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在仿真中引入大量变化（如颜色、光照、物理参数），让模型对不确定性更鲁棒。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系统辨识 </a:t>
            </a:r>
            <a:r>
              <a:rPr lang="en-US" altLang="zh-CN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(System Identification):</a:t>
            </a:r>
            <a:r>
              <a:rPr lang="en-US" altLang="zh-CN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精准测量和建模真实机器人与环境的参数，使仿真更逼真。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843020" y="700087"/>
            <a:ext cx="5080000" cy="78549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60000"/>
              </a:spcAft>
            </a:pPr>
            <a:r>
              <a:rPr lang="zh-CN" altLang="en-US" sz="1600" b="0">
                <a:solidFill>
                  <a:srgbClr val="222222"/>
                </a:solidFill>
              </a:rPr>
              <a:t>挑战二：数据稀疏性</a:t>
            </a:r>
            <a:endParaRPr lang="zh-CN" altLang="en-US" sz="1600" b="0">
              <a:solidFill>
                <a:srgbClr val="222222"/>
              </a:solidFill>
            </a:endParaRPr>
          </a:p>
          <a:p>
            <a:pPr>
              <a:spcAft>
                <a:spcPct val="60000"/>
              </a:spcAft>
            </a:pPr>
            <a:endParaRPr lang="zh-CN" altLang="en-US" sz="1600" b="0">
              <a:solidFill>
                <a:srgbClr val="222222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1860" y="2486977"/>
            <a:ext cx="5080000" cy="188404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1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痛点：昂贵的交互</a:t>
            </a:r>
            <a:endParaRPr lang="zh-CN" altLang="en-US" sz="1600" b="1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物理世界试错成本高（时间、金钱、设备损耗）。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机器人交互效率低，难以像互联网应用一样轻松获得海量数据。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91275" y="2110105"/>
            <a:ext cx="5080000" cy="263779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1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解决思路：提升数据效率</a:t>
            </a:r>
            <a:endParaRPr lang="zh-CN" altLang="en-US" sz="1600" b="1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模仿学习 </a:t>
            </a:r>
            <a:r>
              <a:rPr lang="en-US" altLang="zh-CN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(Imitation Learning):</a:t>
            </a:r>
            <a:r>
              <a:rPr lang="en-US" altLang="zh-CN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从专家演示中学习，减少盲目探索。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离线强化学习 </a:t>
            </a:r>
            <a:r>
              <a:rPr lang="en-US" altLang="zh-CN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(Offline RL):</a:t>
            </a:r>
            <a:r>
              <a:rPr lang="en-US" altLang="zh-CN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最大化利用已有的、有限的数据集进行策略学习。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数据增强 </a:t>
            </a:r>
            <a:r>
              <a:rPr lang="en-US" altLang="zh-CN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(Data Augmentation):</a:t>
            </a:r>
            <a:r>
              <a:rPr lang="en-US" altLang="zh-CN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通过技术手段扩充现有数据。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0194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挑战三：泛化性</a:t>
            </a:r>
            <a:endParaRPr lang="zh-CN" altLang="en-US" sz="16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34110" y="2233295"/>
            <a:ext cx="5080000" cy="222250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1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痛点：从“专才”到“通才”</a:t>
            </a:r>
            <a:endParaRPr lang="zh-CN" altLang="en-US" sz="1600" b="1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模型在训练环境中表现良好，但在未见过的新环境、新物体或新任务中，性能急剧下降。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为每个任务单独训练模型，成本高、效率低。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39865" y="2233295"/>
            <a:ext cx="5080000" cy="222250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1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解决思路：学习通用技能</a:t>
            </a:r>
            <a:endParaRPr lang="zh-CN" altLang="en-US" sz="1600" b="1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机器人基础模型 </a:t>
            </a:r>
            <a:r>
              <a:rPr lang="en-US" altLang="zh-CN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(Foundation Models):</a:t>
            </a:r>
            <a:r>
              <a:rPr lang="en-US" altLang="zh-CN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用海量、多样的机器人数据预训练一个通用大模型，再针对具体任务进行微调。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元学习 </a:t>
            </a:r>
            <a:r>
              <a:rPr lang="en-US" altLang="zh-CN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(Meta-learning):</a:t>
            </a:r>
            <a:r>
              <a:rPr lang="en-US" altLang="zh-CN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"</a:t>
            </a: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学会如何学习</a:t>
            </a:r>
            <a:r>
              <a:rPr lang="en-US" altLang="zh-CN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"</a:t>
            </a: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，让模型具备快速适应新任务的能力。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51885" y="80676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挑战四：安全性与可解释性</a:t>
            </a:r>
            <a:endParaRPr lang="zh-CN" altLang="en-US" sz="16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95425" y="2503488"/>
            <a:ext cx="5080000" cy="146875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ts val="900"/>
              </a:spcAft>
            </a:pPr>
            <a:r>
              <a:rPr lang="zh-CN" altLang="en-US" sz="1600" b="1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核心关切：信任的基石</a:t>
            </a:r>
            <a:endParaRPr lang="zh-CN" altLang="en-US" sz="1600" b="1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>
              <a:spcBef>
                <a:spcPct val="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安全性 </a:t>
            </a:r>
            <a:r>
              <a:rPr lang="en-US" altLang="zh-CN" sz="22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(Safety):</a:t>
            </a:r>
            <a:r>
              <a:rPr lang="en-US" altLang="zh-CN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22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如何确保与人交互、在复杂环境中运行的机器人，不会造成伤害或破坏？如何设定行为边界？</a:t>
            </a:r>
            <a:endParaRPr lang="zh-CN" altLang="en-US" sz="22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63385" y="269525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可解释性 </a:t>
            </a:r>
            <a:r>
              <a:rPr lang="en-US" altLang="zh-CN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(Interpretability):</a:t>
            </a:r>
            <a:endParaRPr lang="en-US" altLang="zh-CN" sz="1600" b="0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l"/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我们能理解机器人为何做出某个决策吗？当出现问题时，我们能回溯和诊断原因吗？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6000" y="522954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这是具身智能从实验室走向大规模应用，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必须跨越的门槛</a:t>
            </a:r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99853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Segoe UI" panose="020B0502040204020203"/>
                <a:ea typeface="Segoe UI" panose="020B0502040204020203"/>
              </a:rPr>
              <a:t>总结：四大挑战，一座高峰</a:t>
            </a:r>
            <a:endParaRPr lang="zh-CN" altLang="en-US" sz="1600" b="0" i="0">
              <a:solidFill>
                <a:srgbClr val="222222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2398395"/>
            <a:ext cx="5080000" cy="2061210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具身智能的发展，就是要不断攀登由这四大挑战构成的技术高峰：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弥合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en-US" altLang="zh-CN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Sim-to-Real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的鸿沟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克服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数据稀疏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的瓶颈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buFont typeface="Arial" panose="020B0604020202020204"/>
              <a:buChar char="•"/>
            </a:pP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 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实现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通用泛化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的能力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>
              <a:buFont typeface="Arial" panose="020B0604020202020204"/>
              <a:buChar char="•"/>
            </a:pP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建立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安全可信</a:t>
            </a:r>
            <a:r>
              <a:rPr lang="en-US" altLang="zh-CN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的体系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555555"/>
                </a:solidFill>
                <a:latin typeface="Segoe UI" panose="020B0502040204020203"/>
                <a:ea typeface="Segoe UI" panose="020B0502040204020203"/>
              </a:rPr>
              <a:t>每一项挑战的突破，都将推动我们离真正的物理智能更近一步。</a:t>
            </a:r>
            <a:endParaRPr lang="zh-CN" altLang="en-US" sz="1600" b="0" i="0">
              <a:solidFill>
                <a:srgbClr val="555555"/>
              </a:solidFill>
              <a:latin typeface="Segoe UI" panose="020B0502040204020203"/>
              <a:ea typeface="Segoe UI" panose="020B0502040204020203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911158"/>
            <a:ext cx="5080000" cy="10356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800" b="1" i="0">
                <a:solidFill>
                  <a:srgbClr val="005A9C"/>
                </a:solidFill>
                <a:latin typeface="Segoe UI" panose="020B0502040204020203"/>
                <a:ea typeface="Segoe UI" panose="020B0502040204020203"/>
              </a:rPr>
              <a:t>具身智能课程</a:t>
            </a:r>
            <a:endParaRPr lang="zh-CN" altLang="en-US" sz="2800" b="1" i="0">
              <a:solidFill>
                <a:srgbClr val="005A9C"/>
              </a:solidFill>
              <a:latin typeface="Segoe UI" panose="020B0502040204020203"/>
              <a:ea typeface="Segoe UI" panose="020B0502040204020203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Segoe UI" panose="020B0502040204020203"/>
                <a:ea typeface="Segoe UI" panose="020B0502040204020203"/>
              </a:rPr>
              <a:t>我们的教学理念与方法</a:t>
            </a:r>
            <a:endParaRPr lang="zh-CN" altLang="en-US" sz="1600" b="0" i="0">
              <a:solidFill>
                <a:srgbClr val="333333"/>
              </a:solidFill>
              <a:latin typeface="Segoe UI" panose="020B0502040204020203"/>
              <a:ea typeface="Segoe UI" panose="020B0502040204020203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92500" y="448024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具身智能的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构建逻辑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：从物理实体 </a:t>
            </a:r>
            <a:r>
              <a:rPr lang="en-US" altLang="zh-CN" sz="1600" b="0" i="1">
                <a:solidFill>
                  <a:srgbClr val="333333"/>
                </a:solidFill>
                <a:latin typeface="PingFang SC"/>
                <a:ea typeface="PingFang SC"/>
              </a:rPr>
              <a:t>→ 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运动控制 </a:t>
            </a:r>
            <a:r>
              <a:rPr lang="en-US" altLang="zh-CN" sz="1600" b="0" i="1">
                <a:solidFill>
                  <a:srgbClr val="333333"/>
                </a:solidFill>
                <a:latin typeface="PingFang SC"/>
                <a:ea typeface="PingFang SC"/>
              </a:rPr>
              <a:t>→ 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环境感知 </a:t>
            </a:r>
            <a:r>
              <a:rPr lang="en-US" altLang="zh-CN" sz="1600" b="0" i="1">
                <a:solidFill>
                  <a:srgbClr val="333333"/>
                </a:solidFill>
                <a:latin typeface="PingFang SC"/>
                <a:ea typeface="PingFang SC"/>
              </a:rPr>
              <a:t>→ 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认知决策 </a:t>
            </a:r>
            <a:r>
              <a:rPr lang="en-US" altLang="zh-CN" sz="1600" b="0" i="1">
                <a:solidFill>
                  <a:srgbClr val="333333"/>
                </a:solidFill>
                <a:latin typeface="PingFang SC"/>
                <a:ea typeface="PingFang SC"/>
              </a:rPr>
              <a:t>→ 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自主学习。这不仅是一个技术学习路径，更是带大家亲历一个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完整的系统构建过程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721802"/>
            <a:ext cx="5080000" cy="341439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五阶段学习金字塔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ts val="200"/>
              </a:spcBef>
              <a:spcAft>
                <a:spcPts val="200"/>
              </a:spcAft>
            </a:pP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第五阶段：自主学习</a:t>
            </a:r>
            <a:endParaRPr lang="zh-CN" altLang="en-US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ts val="200"/>
              </a:spcBef>
              <a:spcAft>
                <a:spcPts val="200"/>
              </a:spcAft>
            </a:pPr>
            <a:r>
              <a:rPr lang="zh-CN" altLang="en-US" sz="2600" b="0" i="0">
                <a:solidFill>
                  <a:schemeClr val="tx1"/>
                </a:solidFill>
                <a:latin typeface="PingFang SC"/>
                <a:ea typeface="PingFang SC"/>
              </a:rPr>
              <a:t>第四阶段：认知决策</a:t>
            </a:r>
            <a:endParaRPr lang="zh-CN" altLang="en-US" sz="2600" b="0" i="0">
              <a:solidFill>
                <a:schemeClr val="tx1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ts val="200"/>
              </a:spcBef>
              <a:spcAft>
                <a:spcPts val="200"/>
              </a:spcAft>
            </a:pPr>
            <a:r>
              <a:rPr lang="zh-CN" altLang="en-US" sz="2600" b="0" i="0">
                <a:solidFill>
                  <a:schemeClr val="tx1"/>
                </a:solidFill>
                <a:latin typeface="PingFang SC"/>
                <a:ea typeface="PingFang SC"/>
              </a:rPr>
              <a:t>第三阶段：环境感知</a:t>
            </a:r>
            <a:endParaRPr lang="zh-CN" altLang="en-US" sz="2600" b="0" i="0">
              <a:solidFill>
                <a:schemeClr val="tx1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ts val="200"/>
              </a:spcBef>
              <a:spcAft>
                <a:spcPts val="200"/>
              </a:spcAft>
            </a:pPr>
            <a:r>
              <a:rPr lang="zh-CN" altLang="en-US" sz="2600" b="0" i="0">
                <a:solidFill>
                  <a:schemeClr val="tx1"/>
                </a:solidFill>
                <a:latin typeface="PingFang SC"/>
                <a:ea typeface="PingFang SC"/>
              </a:rPr>
              <a:t>第二阶段：运动控制</a:t>
            </a:r>
            <a:endParaRPr lang="zh-CN" altLang="en-US" sz="2600" b="0" i="0">
              <a:solidFill>
                <a:schemeClr val="tx1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ts val="200"/>
              </a:spcBef>
              <a:spcAft>
                <a:spcPts val="200"/>
              </a:spcAft>
            </a:pPr>
            <a:r>
              <a:rPr lang="zh-CN" altLang="en-US" sz="2600" b="0" i="0">
                <a:solidFill>
                  <a:schemeClr val="tx1"/>
                </a:solidFill>
                <a:latin typeface="PingFang SC"/>
                <a:ea typeface="PingFang SC"/>
              </a:rPr>
              <a:t>第一阶段：物理实体</a:t>
            </a:r>
            <a:endParaRPr lang="zh-CN" altLang="en-US" sz="2600" b="0" i="0">
              <a:solidFill>
                <a:schemeClr val="tx1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我们遵循从下至上的原则，层层递进，构建完整的知识体系。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60750" y="549593"/>
            <a:ext cx="5080000" cy="14039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教学逻辑与技术堆栈的映射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每个学习阶段都精准对应具身智能技术堆栈中的核心模块，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确保了课程结构的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系统性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和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完整性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65605" y="2811780"/>
            <a:ext cx="2690495" cy="18713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学习金字塔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第五阶段：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自主学习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第四阶段：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认知决策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第三阶段：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环境感知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第二阶段：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运动控制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第一阶段：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物理实体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964680" y="3058160"/>
            <a:ext cx="4624070" cy="162496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技术堆栈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应用层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算法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/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认知层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(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强化学习、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LLM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规划、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CV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、控制论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软件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/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系统层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(ROS,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仿真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硬件层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(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传感器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,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驱动器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4013835" y="4039235"/>
            <a:ext cx="2665730" cy="22288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1579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PingFang SC"/>
                <a:ea typeface="PingFang SC"/>
              </a:rPr>
              <a:t>从“推导公式”到“指哪打哪”</a:t>
            </a:r>
            <a:endParaRPr lang="zh-CN" altLang="en-US" sz="1600" b="0" i="0">
              <a:solidFill>
                <a:srgbClr val="222222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63675" y="2371725"/>
            <a:ext cx="4826000" cy="18713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传统教学：侧重理论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运动学逆解 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(IK):</a:t>
            </a:r>
            <a:endParaRPr lang="en-US" altLang="zh-CN" sz="1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推导雅可比矩阵、牛顿迭代等复杂数学公式。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目标检测 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(YOLO):</a:t>
            </a:r>
            <a:endParaRPr lang="en-US" altLang="zh-CN" sz="1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分析网络结构、损失函数以及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Anchor Box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设计原理。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37680" y="2292032"/>
            <a:ext cx="5080000" cy="187134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我们方法：案例驱动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项目一：“指哪打哪”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用鼠标点击屏幕，机械臂立刻精准指向该位置。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项目二：“看到并指向”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让机器人通过摄像头识别桌上的苹果，并控制机械臂指向它。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3260408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拒绝枯燥的理论灌输，通过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案例驱动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的教学法，从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0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到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1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完整构建一个具身智能系统。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62045" y="93440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PingFang SC"/>
                <a:ea typeface="PingFang SC"/>
              </a:rPr>
              <a:t>不同学科的融合建议</a:t>
            </a:r>
            <a:endParaRPr lang="zh-CN" altLang="en-US" sz="1600" b="0" i="0">
              <a:solidFill>
                <a:srgbClr val="222222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17015" y="2100580"/>
            <a:ext cx="5080000" cy="278384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PingFang SC"/>
                <a:ea typeface="PingFang SC"/>
              </a:rPr>
              <a:t>计算机学院的老师</a:t>
            </a:r>
            <a:endParaRPr lang="zh-CN" altLang="en-US" sz="16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开设新课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如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《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人工智能实践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》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、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《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机器人操作系统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(ROS)》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，系统性地介绍具身智能。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融入现有课程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endParaRPr lang="en-US" altLang="zh-CN" sz="19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lvl="1" indent="0" algn="l"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◦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将</a:t>
            </a: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视觉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部分作为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《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计算机视觉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》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的前沿案例。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lvl="1" indent="0" algn="l"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◦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将</a:t>
            </a: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大模型规划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部分作为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《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自然语言处理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》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的应用实例。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91020" y="2239963"/>
            <a:ext cx="5080000" cy="237807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PingFang SC"/>
                <a:ea typeface="PingFang SC"/>
              </a:rPr>
              <a:t>自动化</a:t>
            </a:r>
            <a:r>
              <a:rPr lang="en-US" altLang="zh-CN" sz="1600" b="1" i="0">
                <a:solidFill>
                  <a:srgbClr val="005A9C"/>
                </a:solidFill>
                <a:latin typeface="PingFang SC"/>
                <a:ea typeface="PingFang SC"/>
              </a:rPr>
              <a:t>/</a:t>
            </a:r>
            <a:r>
              <a:rPr lang="zh-CN" altLang="en-US" sz="1600" b="1" i="0">
                <a:solidFill>
                  <a:srgbClr val="005A9C"/>
                </a:solidFill>
                <a:latin typeface="PingFang SC"/>
                <a:ea typeface="PingFang SC"/>
              </a:rPr>
              <a:t>机械学院的老师</a:t>
            </a:r>
            <a:endParaRPr lang="zh-CN" altLang="en-US" sz="16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结合核心课程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endParaRPr lang="en-US" altLang="zh-CN" sz="19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lvl="1" indent="0" algn="l"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◦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将</a:t>
            </a: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硬件搭建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、</a:t>
            </a: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运动学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、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PID</a:t>
            </a: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控制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部分与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《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机器人学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》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、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《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自动控制原理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》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结合。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引入前沿方法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将</a:t>
            </a: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强化学习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(RL)</a:t>
            </a: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和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AI</a:t>
            </a: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算法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作为智能控制的新方法，拓展学生视野。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811530"/>
            <a:ext cx="5366385" cy="9112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科研方向的启发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本次课程涉及的每个环节，本身就是当前的热门研究方向。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39010" y="1989455"/>
            <a:ext cx="8690610" cy="3792220"/>
          </a:xfrm>
          <a:prstGeom prst="rect">
            <a:avLst/>
          </a:prstGeom>
        </p:spPr>
        <p:txBody>
          <a:bodyPr>
            <a:no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2600" b="1" i="0">
                <a:solidFill>
                  <a:srgbClr val="005A9C"/>
                </a:solidFill>
                <a:latin typeface="PingFang SC"/>
                <a:ea typeface="PingFang SC"/>
              </a:rPr>
              <a:t>可探索的研究课题包括：</a:t>
            </a:r>
            <a:endParaRPr lang="zh-CN" altLang="en-US" sz="26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zh-CN" sz="2600" b="0" i="0">
                <a:solidFill>
                  <a:srgbClr val="005A9C"/>
                </a:solidFill>
                <a:latin typeface="PingFang SC"/>
                <a:ea typeface="PingFang SC"/>
              </a:rPr>
              <a:t>Sim-to-Real Gap: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如何让仿真模型更逼近现实？</a:t>
            </a:r>
            <a:endParaRPr lang="zh-CN" altLang="en-US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多模态数据融合</a:t>
            </a:r>
            <a:r>
              <a:rPr lang="en-US" altLang="zh-CN" sz="26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如何有效结合视觉、力、语言等多种信息？</a:t>
            </a:r>
            <a:endParaRPr lang="zh-CN" altLang="en-US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en-US" altLang="zh-CN" sz="2600" b="0" i="0">
                <a:solidFill>
                  <a:srgbClr val="005A9C"/>
                </a:solidFill>
                <a:latin typeface="PingFang SC"/>
                <a:ea typeface="PingFang SC"/>
              </a:rPr>
              <a:t>LLM</a:t>
            </a: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驱动的任务规划</a:t>
            </a:r>
            <a:r>
              <a:rPr lang="en-US" altLang="zh-CN" sz="26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如何让大语言模型理解并规划复杂的物理任务？</a:t>
            </a:r>
            <a:endParaRPr lang="zh-CN" altLang="en-US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600"/>
              </a:spcAft>
              <a:buFont typeface="Arial" panose="020B0604020202020204"/>
              <a:buChar char="•"/>
            </a:pP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高效数据采集与利用</a:t>
            </a:r>
            <a:r>
              <a:rPr lang="en-US" altLang="zh-CN" sz="26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如何解决机器人学习中的数据稀疏性问题？</a:t>
            </a:r>
            <a:endParaRPr lang="zh-CN" altLang="en-US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传智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教育可以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协助各位老师启动相关科研项目的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初步验证平台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66135" y="1362710"/>
            <a:ext cx="4662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智元机器人，采访，数据收集</a:t>
            </a:r>
            <a:r>
              <a:rPr lang="zh-CN" altLang="en-US"/>
              <a:t>视频。</a:t>
            </a:r>
            <a:endParaRPr lang="zh-CN" alt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357755"/>
            <a:ext cx="5080000" cy="214249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理论前沿：当动作成为一种语言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具身智能的一个前沿思想是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"Tokenization of Everything"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(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万物皆可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Token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化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)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它将机器人的连续动作（如关节转动）也视为一种“语言”，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通过类似大语言模型的方式，来预测下一个最合理的“动作词汇”。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16000" y="2955290"/>
            <a:ext cx="5080000" cy="118999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语言模型 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(LLM)</a:t>
            </a:r>
            <a:endParaRPr lang="en-US" altLang="zh-CN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输入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: "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今天天气很好，我们去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..."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预测下一个词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: "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散步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"</a:t>
            </a:r>
            <a:endParaRPr lang="en-US" altLang="zh-CN" sz="1600" b="0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353810" y="2955290"/>
            <a:ext cx="5080000" cy="118999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具身智能模型 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(RT-2)</a:t>
            </a:r>
            <a:endParaRPr lang="en-US" altLang="zh-CN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输入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: [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图像：桌上有个苹果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] +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指令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: "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拿起苹果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"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预测下一个动作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: "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机械臂向下移动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10cm"</a:t>
            </a:r>
            <a:endParaRPr lang="en-US" altLang="zh-CN" sz="1600" b="0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63265" y="486441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这为实现通用机器人智能，提供了一个全新的、数据驱动的强大范式。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480345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让我们一起，从第一性原理出发，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构建属于我们自己的智能体。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35555" y="1406208"/>
            <a:ext cx="5080000" cy="113728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✓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具身智能的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学术定义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✓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完整的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技术全貌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(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技术堆栈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✓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核心的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科学与工程挑战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44750" y="299561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“其核心是从传统的分离式、基于模型的开发，转向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端到端的、数据驱动的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智能体构建。”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726883"/>
            <a:ext cx="5080000" cy="340423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智能的闭环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上一节课，我们明确了具身智能的本质，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即智能体与环境之间的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“感知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-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决策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-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行动”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闭环。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感知 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(Perception)</a:t>
            </a:r>
            <a:endParaRPr lang="en-US" altLang="zh-CN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→</a:t>
            </a:r>
            <a:endParaRPr lang="en-US" altLang="zh-CN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决策 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(Decision)</a:t>
            </a:r>
            <a:endParaRPr lang="en-US" altLang="zh-CN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→</a:t>
            </a:r>
            <a:endParaRPr lang="en-US" altLang="zh-CN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行动 </a:t>
            </a:r>
            <a:r>
              <a:rPr lang="en-US" altLang="zh-CN" sz="2600" b="0" i="0">
                <a:solidFill>
                  <a:srgbClr val="005A9C"/>
                </a:solidFill>
                <a:latin typeface="PingFang SC"/>
                <a:ea typeface="PingFang SC"/>
              </a:rPr>
              <a:t>(Action)</a:t>
            </a:r>
            <a:endParaRPr lang="en-US" altLang="zh-CN" sz="2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今天，我们聚焦于这个闭环的最后一环：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行动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480945"/>
            <a:ext cx="5080000" cy="189611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一个核心问题：如何行动？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“我们上一节课谈到了智能体需要‘行动</a:t>
            </a:r>
            <a:r>
              <a:rPr lang="en-US" altLang="zh-CN" sz="1600" b="0" i="1">
                <a:solidFill>
                  <a:srgbClr val="333333"/>
                </a:solidFill>
                <a:latin typeface="PingFang SC"/>
                <a:ea typeface="PingFang SC"/>
              </a:rPr>
              <a:t>(Action)’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。在数字世界里，一个‘行动’可能只是一行代码；但在物理世界，从一个数字指令（比如，旋转</a:t>
            </a:r>
            <a:r>
              <a:rPr lang="en-US" altLang="zh-CN" sz="1600" b="0" i="1">
                <a:solidFill>
                  <a:srgbClr val="333333"/>
                </a:solidFill>
                <a:latin typeface="PingFang SC"/>
                <a:ea typeface="PingFang SC"/>
              </a:rPr>
              <a:t>30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度）到一个精确的物理动作，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中间隔着巨大的技术鸿沟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。”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今天，我们就来填补这第一道鸿沟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——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驱动技术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428433"/>
            <a:ext cx="5080000" cy="91122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三大核心电机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我们将从四个维度，系统性地对比三种主流的电机。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0280" y="2962910"/>
            <a:ext cx="3515360" cy="21247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PingFang SC"/>
                <a:ea typeface="PingFang SC"/>
              </a:rPr>
              <a:t>舵机 </a:t>
            </a:r>
            <a:r>
              <a:rPr lang="en-US" altLang="zh-CN" sz="1600" b="1" i="0">
                <a:solidFill>
                  <a:srgbClr val="005A9C"/>
                </a:solidFill>
                <a:latin typeface="PingFang SC"/>
                <a:ea typeface="PingFang SC"/>
              </a:rPr>
              <a:t>(Servo Motor)</a:t>
            </a:r>
            <a:endParaRPr lang="en-US" altLang="zh-CN" sz="16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工作原理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控制方式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性能特性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应用场景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85640" y="3033395"/>
            <a:ext cx="3312795" cy="21247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PingFang SC"/>
                <a:ea typeface="PingFang SC"/>
              </a:rPr>
              <a:t>步进电机 </a:t>
            </a:r>
            <a:r>
              <a:rPr lang="en-US" altLang="zh-CN" sz="1600" b="1" i="0">
                <a:solidFill>
                  <a:srgbClr val="005A9C"/>
                </a:solidFill>
                <a:latin typeface="PingFang SC"/>
                <a:ea typeface="PingFang SC"/>
              </a:rPr>
              <a:t>(Stepper Motor)</a:t>
            </a:r>
            <a:endParaRPr lang="en-US" altLang="zh-CN" sz="16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工作原理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控制方式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性能特性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应用场景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19720" y="3033395"/>
            <a:ext cx="3655695" cy="212471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PingFang SC"/>
                <a:ea typeface="PingFang SC"/>
              </a:rPr>
              <a:t>直流无刷电机 </a:t>
            </a:r>
            <a:r>
              <a:rPr lang="en-US" altLang="zh-CN" sz="1600" b="1" i="0">
                <a:solidFill>
                  <a:srgbClr val="005A9C"/>
                </a:solidFill>
                <a:latin typeface="PingFang SC"/>
                <a:ea typeface="PingFang SC"/>
              </a:rPr>
              <a:t>(BLDC)</a:t>
            </a:r>
            <a:endParaRPr lang="en-US" altLang="zh-CN" sz="16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工作原理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控制方式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性能特性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应用场景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850198"/>
            <a:ext cx="5080000" cy="11576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带着问题去学习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“请各位老师在听讲时，思考一个问题：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为什么我们这个课程的机械臂，选择的是舵机？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6000" y="2943225"/>
            <a:ext cx="5080000" cy="97155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en-US" altLang="zh-CN" sz="2300" b="0" i="0">
                <a:solidFill>
                  <a:srgbClr val="222222"/>
                </a:solidFill>
                <a:latin typeface="PingFang SC"/>
                <a:ea typeface="PingFang SC"/>
              </a:rPr>
              <a:t> </a:t>
            </a: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定义与构成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“舵机不是一种电机类型，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而是一个系统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。”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33750" y="951548"/>
            <a:ext cx="5080000" cy="11576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舵机的四大组成部分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一个舵机 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=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电机 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+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传动 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+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传感 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+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控制 的高度集成模块。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94460" y="2904490"/>
            <a:ext cx="3089910" cy="8864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直流电机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提供原始的旋转动力。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84370" y="2904490"/>
            <a:ext cx="3474085" cy="8864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减速齿轮组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降低转速，同时放大扭矩。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72145" y="2781935"/>
            <a:ext cx="2606675" cy="11322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位置传感器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通常是电位器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)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实时测量输出轴的当前角度。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16325" y="4748848"/>
            <a:ext cx="5080000" cy="11322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控制电路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微型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PID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控制器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)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接收指令，并根据传感器反馈进行闭环控制。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74720" y="1234123"/>
            <a:ext cx="5080000" cy="11576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天生的闭环系统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与需要外部搭建反馈回路的普通电机不同，舵机内部已经完成了“控制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-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执行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-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反馈”的闭环。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82040" y="3282315"/>
            <a:ext cx="9542780" cy="15379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舵机内部：</a:t>
            </a:r>
            <a:endParaRPr lang="zh-CN" altLang="en-US" sz="2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[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目标角度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] → [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控制电路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] → [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电机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] → [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齿轮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] → [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输出轴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]</a:t>
            </a:r>
            <a:endParaRPr lang="en-US" altLang="zh-CN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↑________________________ [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传感器反馈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] </a:t>
            </a:r>
            <a:endParaRPr lang="en-US" altLang="zh-CN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这正是它易于使用的关键所在。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678180"/>
            <a:ext cx="5080000" cy="17640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工作原理与控制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>
              <a:spcAft>
                <a:spcPct val="60000"/>
              </a:spcAft>
            </a:pPr>
            <a:r>
              <a:rPr lang="zh-CN" altLang="en-US" sz="2200" b="1" i="0">
                <a:solidFill>
                  <a:srgbClr val="333333"/>
                </a:solidFill>
                <a:latin typeface="PingFang SC"/>
                <a:ea typeface="PingFang SC"/>
              </a:rPr>
              <a:t>控制信号</a:t>
            </a:r>
            <a:r>
              <a:rPr lang="en-US" altLang="zh-CN" sz="2200" b="1" i="0">
                <a:solidFill>
                  <a:srgbClr val="333333"/>
                </a:solidFill>
                <a:latin typeface="PingFang SC"/>
                <a:ea typeface="PingFang SC"/>
              </a:rPr>
              <a:t>: PWM (</a:t>
            </a:r>
            <a:r>
              <a:rPr lang="zh-CN" altLang="en-US" sz="2200" b="1" i="0">
                <a:solidFill>
                  <a:srgbClr val="333333"/>
                </a:solidFill>
                <a:latin typeface="PingFang SC"/>
                <a:ea typeface="PingFang SC"/>
              </a:rPr>
              <a:t>脉冲宽度调制</a:t>
            </a:r>
            <a:r>
              <a:rPr lang="en-US" altLang="zh-CN" sz="2200" b="1" i="0">
                <a:solidFill>
                  <a:srgbClr val="333333"/>
                </a:solidFill>
                <a:latin typeface="PingFang SC"/>
                <a:ea typeface="PingFang SC"/>
              </a:rPr>
              <a:t>)</a:t>
            </a:r>
            <a:endParaRPr lang="en-US" altLang="zh-CN" sz="2200" b="1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我们通过改变一个周期性方波中，高电平脉冲的持续时间（即脉冲宽度）来向舵机下达指令。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07180" y="2155825"/>
            <a:ext cx="3977640" cy="418338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85515" y="489268"/>
            <a:ext cx="5080000" cy="91122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内部闭环逻辑：它如何消除误差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舵机内部时刻在执行一个简单的、自动化的任务：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182403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1.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控制电路接收外部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PWM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信号，解析出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目标角度 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(Target)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268255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2.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位置传感器（电位器）实时测量齿轮组的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当前角度 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(Current)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66160" y="342931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3.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控制电路比较两者差异，计算出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误差 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(Error = Target - Current)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56000" y="41754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4.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内置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PID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算法根据误差，驱动直流电机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正转或反转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66160" y="495712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循环此过程，直到误差 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≈ 0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415733"/>
            <a:ext cx="5080000" cy="11576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为何舵机如此方便？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“给一个目标，它自己过去”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这种特性，极大地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简化了上层控制的复杂性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3238818"/>
            <a:ext cx="5080000" cy="187515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PingFang SC"/>
                <a:ea typeface="PingFang SC"/>
              </a:rPr>
              <a:t>普通直流电机控制</a:t>
            </a:r>
            <a:endParaRPr lang="zh-CN" altLang="en-US" sz="16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你需要自己编写复杂的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PID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代码，外接编码器，搭建驱动电路，持续监控和调整。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PingFang SC"/>
                <a:ea typeface="PingFang SC"/>
              </a:rPr>
              <a:t>舵机控制</a:t>
            </a:r>
            <a:endParaRPr lang="zh-CN" altLang="en-US" sz="16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你只需要发送一个简单的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PWM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信号，舵机自己完成所有闭环控制的“脏活累活”。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1795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PingFang SC"/>
                <a:ea typeface="PingFang SC"/>
              </a:rPr>
              <a:t>普通舵机性能特性：优缺点分析</a:t>
            </a:r>
            <a:endParaRPr lang="zh-CN" altLang="en-US" sz="1600" b="0" i="0">
              <a:solidFill>
                <a:srgbClr val="222222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20115" y="2470150"/>
            <a:ext cx="5080000" cy="241681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28A745"/>
                </a:solidFill>
                <a:latin typeface="PingFang SC"/>
                <a:ea typeface="PingFang SC"/>
              </a:rPr>
              <a:t>优点 </a:t>
            </a:r>
            <a:r>
              <a:rPr lang="en-US" altLang="zh-CN" sz="1600" b="1" i="0">
                <a:solidFill>
                  <a:srgbClr val="28A745"/>
                </a:solidFill>
                <a:latin typeface="PingFang SC"/>
                <a:ea typeface="PingFang SC"/>
              </a:rPr>
              <a:t>(Pros)</a:t>
            </a:r>
            <a:endParaRPr lang="en-US" altLang="zh-CN" sz="1600" b="1" i="0">
              <a:solidFill>
                <a:srgbClr val="28A745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使用简单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直接输入角度指令，无需关心底层。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位置闭环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自带反馈，能抵抗一定外扰。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高性价比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集成度高，相对成本低。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高扭矩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内置减速器，小体积大力矩。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27825" y="2381885"/>
            <a:ext cx="5080000" cy="259397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DC3545"/>
                </a:solidFill>
                <a:latin typeface="PingFang SC"/>
                <a:ea typeface="PingFang SC"/>
              </a:rPr>
              <a:t>缺点 </a:t>
            </a:r>
            <a:r>
              <a:rPr lang="en-US" altLang="zh-CN" sz="1600" b="1" i="0">
                <a:solidFill>
                  <a:srgbClr val="DC3545"/>
                </a:solidFill>
                <a:latin typeface="PingFang SC"/>
                <a:ea typeface="PingFang SC"/>
              </a:rPr>
              <a:t>(Cons)</a:t>
            </a:r>
            <a:endParaRPr lang="en-US" altLang="zh-CN" sz="1600" b="1" i="0">
              <a:solidFill>
                <a:srgbClr val="DC3545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精度有限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有死区和回差，不适用高精度场景。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响应不可控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内部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PID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固化，无法精细调整加减速，一个舵机要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3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根线控制，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6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个舵机就要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18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跟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线。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噪音与寿命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齿轮（尤其塑料齿轮）会磨损。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838325" y="1332865"/>
            <a:ext cx="5949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黑马总线舵机，解决了上述的部分</a:t>
            </a:r>
            <a:r>
              <a:rPr lang="zh-CN" altLang="en-US"/>
              <a:t>缺点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8575" y="2308225"/>
            <a:ext cx="6530340" cy="2476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438275"/>
            <a:ext cx="5080000" cy="398145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舵机的适用场景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基于其“简单、高扭矩、低成本、精度一般”的特性，舵机非常适用于：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 √</a:t>
            </a: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机器人关节 </a:t>
            </a:r>
            <a:r>
              <a:rPr lang="en-US" altLang="zh-CN" sz="2600" b="0" i="0">
                <a:solidFill>
                  <a:srgbClr val="005A9C"/>
                </a:solidFill>
                <a:latin typeface="PingFang SC"/>
                <a:ea typeface="PingFang SC"/>
              </a:rPr>
              <a:t>(</a:t>
            </a: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尤其是教学、原型验证</a:t>
            </a:r>
            <a:r>
              <a:rPr lang="en-US" altLang="zh-CN" sz="2600" b="0" i="0">
                <a:solidFill>
                  <a:srgbClr val="005A9C"/>
                </a:solidFill>
                <a:latin typeface="PingFang SC"/>
                <a:ea typeface="PingFang SC"/>
              </a:rPr>
              <a:t>)</a:t>
            </a:r>
            <a:endParaRPr lang="en-US" altLang="zh-CN" sz="2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en-US" altLang="zh-CN" sz="2600">
                <a:solidFill>
                  <a:srgbClr val="333333"/>
                </a:solidFill>
                <a:latin typeface="PingFang SC"/>
                <a:ea typeface="PingFang SC"/>
                <a:sym typeface="+mn-ea"/>
              </a:rPr>
              <a:t>√</a:t>
            </a: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航模</a:t>
            </a:r>
            <a:r>
              <a:rPr lang="en-US" altLang="zh-CN" sz="2600" b="0" i="0">
                <a:solidFill>
                  <a:srgbClr val="005A9C"/>
                </a:solidFill>
                <a:latin typeface="PingFang SC"/>
                <a:ea typeface="PingFang SC"/>
              </a:rPr>
              <a:t>/</a:t>
            </a: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车模的云台和转向系统</a:t>
            </a:r>
            <a:endParaRPr lang="zh-CN" altLang="en-US" sz="2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en-US" altLang="zh-CN" sz="2600">
                <a:solidFill>
                  <a:srgbClr val="333333"/>
                </a:solidFill>
                <a:latin typeface="PingFang SC"/>
                <a:ea typeface="PingFang SC"/>
                <a:sym typeface="+mn-ea"/>
              </a:rPr>
              <a:t>√</a:t>
            </a: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开关、阀门等简易执行机构</a:t>
            </a:r>
            <a:endParaRPr lang="zh-CN" altLang="en-US" sz="2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❌ 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不适用于需要高精度、高动态响应的工业应用</a:t>
            </a:r>
            <a:endParaRPr lang="zh-CN" altLang="en-US" sz="2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604135"/>
            <a:ext cx="5080000" cy="16497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回答开篇问题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“为什么我们的教学机械臂用舵机？”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因为它极大地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降低了硬件和控制的入门门槛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，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让我们可以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专注于上层的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AI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算法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舵机为我们搭建了一座从算法到物理世界最便捷的桥梁。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874327"/>
            <a:ext cx="5080000" cy="11093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800" b="1" i="0">
                <a:solidFill>
                  <a:srgbClr val="005A9C"/>
                </a:solidFill>
                <a:latin typeface="PingFang SC"/>
                <a:ea typeface="PingFang SC"/>
              </a:rPr>
              <a:t>步进电机 </a:t>
            </a:r>
            <a:r>
              <a:rPr lang="en-US" altLang="zh-CN" sz="2800" b="1" i="0">
                <a:solidFill>
                  <a:srgbClr val="005A9C"/>
                </a:solidFill>
                <a:latin typeface="PingFang SC"/>
                <a:ea typeface="PingFang SC"/>
              </a:rPr>
              <a:t>(Stepper Motor)</a:t>
            </a:r>
            <a:endParaRPr lang="en-US" altLang="zh-CN" sz="28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666666"/>
                </a:solidFill>
                <a:latin typeface="PingFang SC"/>
                <a:ea typeface="PingFang SC"/>
              </a:rPr>
              <a:t>数字世界的物理执行者</a:t>
            </a:r>
            <a:endParaRPr lang="zh-CN" altLang="en-US" sz="1600" b="0" i="0">
              <a:solidFill>
                <a:srgbClr val="666666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850198"/>
            <a:ext cx="5080000" cy="162814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3200" b="0" i="0">
                <a:solidFill>
                  <a:srgbClr val="222222"/>
                </a:solidFill>
                <a:latin typeface="PingFang SC"/>
                <a:ea typeface="PingFang SC"/>
              </a:rPr>
              <a:t>物理原理</a:t>
            </a:r>
            <a:endParaRPr lang="zh-CN" altLang="en-US" sz="32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2400" b="0" i="1">
                <a:solidFill>
                  <a:srgbClr val="333333"/>
                </a:solidFill>
                <a:latin typeface="PingFang SC"/>
                <a:ea typeface="PingFang SC"/>
              </a:rPr>
              <a:t>它的运动是</a:t>
            </a:r>
            <a:r>
              <a:rPr lang="zh-CN" altLang="en-US" sz="2400" b="0" i="1">
                <a:solidFill>
                  <a:srgbClr val="005A9C"/>
                </a:solidFill>
                <a:latin typeface="PingFang SC"/>
                <a:ea typeface="PingFang SC"/>
              </a:rPr>
              <a:t>离散的、数字化的</a:t>
            </a:r>
            <a:r>
              <a:rPr lang="zh-CN" altLang="en-US" sz="2400" b="0" i="1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2400" b="0" i="1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2400" b="0" i="0">
                <a:solidFill>
                  <a:srgbClr val="333333"/>
                </a:solidFill>
                <a:latin typeface="PingFang SC"/>
                <a:ea typeface="PingFang SC"/>
              </a:rPr>
              <a:t>转过的角度 </a:t>
            </a:r>
            <a:r>
              <a:rPr lang="en-US" altLang="zh-CN" sz="2400" b="0" i="0">
                <a:solidFill>
                  <a:srgbClr val="333333"/>
                </a:solidFill>
                <a:latin typeface="PingFang SC"/>
                <a:ea typeface="PingFang SC"/>
              </a:rPr>
              <a:t>= </a:t>
            </a:r>
            <a:r>
              <a:rPr lang="zh-CN" altLang="en-US" sz="2400" b="0" i="0">
                <a:solidFill>
                  <a:srgbClr val="333333"/>
                </a:solidFill>
                <a:latin typeface="PingFang SC"/>
                <a:ea typeface="PingFang SC"/>
              </a:rPr>
              <a:t>步数 </a:t>
            </a:r>
            <a:r>
              <a:rPr lang="en-US" altLang="zh-CN" sz="2400" b="0" i="0">
                <a:solidFill>
                  <a:srgbClr val="333333"/>
                </a:solidFill>
                <a:latin typeface="PingFang SC"/>
                <a:ea typeface="PingFang SC"/>
              </a:rPr>
              <a:t>× </a:t>
            </a:r>
            <a:r>
              <a:rPr lang="zh-CN" altLang="en-US" sz="2400" b="0" i="0">
                <a:solidFill>
                  <a:srgbClr val="333333"/>
                </a:solidFill>
                <a:latin typeface="PingFang SC"/>
                <a:ea typeface="PingFang SC"/>
              </a:rPr>
              <a:t>步距角</a:t>
            </a:r>
            <a:endParaRPr lang="zh-CN" altLang="en-US" sz="24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55035" y="809625"/>
            <a:ext cx="5080000" cy="12179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“步进”原理：磁场牵引下的精确舞蹈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通过依次给不同相的线圈通电，产生变化的电磁场，像磁铁一样“吸引”带齿的转子精确地旋转一小步。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46805" y="24755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1. 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A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相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线圈通电，产生磁场，转子被吸引对齐。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313721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2. 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B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相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线圈通电，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A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相断电，磁场改变，转子被吸引旋转一小步，对齐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B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相。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46805" y="394684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3. 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C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相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线圈通电，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B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相断电，转子再次旋转一小步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...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394075" y="482949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这个过程不断循环，电机就一步步地转动起来。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282508"/>
            <a:ext cx="5080000" cy="14039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控制方式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步进电机的灵魂：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开环控制 </a:t>
            </a:r>
            <a:r>
              <a:rPr lang="en-US" altLang="zh-CN" sz="1600" b="0" i="1">
                <a:solidFill>
                  <a:srgbClr val="005A9C"/>
                </a:solidFill>
                <a:latin typeface="PingFang SC"/>
                <a:ea typeface="PingFang SC"/>
              </a:rPr>
              <a:t>(Open-loop)</a:t>
            </a:r>
            <a:endParaRPr lang="en-US" altLang="zh-CN" sz="1600" b="0" i="1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它只管执行命令，不关心结果。控制器“想当然”地认为电机已经走到了指定位置。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195705"/>
            <a:ext cx="5080000" cy="97155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控制系统：控制器 </a:t>
            </a:r>
            <a:r>
              <a:rPr lang="en-US" altLang="zh-CN" sz="2300" b="0" i="0">
                <a:solidFill>
                  <a:srgbClr val="222222"/>
                </a:solidFill>
                <a:latin typeface="PingFang SC"/>
                <a:ea typeface="PingFang SC"/>
              </a:rPr>
              <a:t>+ </a:t>
            </a: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驱动器 </a:t>
            </a:r>
            <a:r>
              <a:rPr lang="en-US" altLang="zh-CN" sz="2300" b="0" i="0">
                <a:solidFill>
                  <a:srgbClr val="222222"/>
                </a:solidFill>
                <a:latin typeface="PingFang SC"/>
                <a:ea typeface="PingFang SC"/>
              </a:rPr>
              <a:t>+ </a:t>
            </a: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电机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控制器（如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MCU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）向专用驱动器发送两种核心信号：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" y="3167380"/>
            <a:ext cx="5080000" cy="118999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脉冲信号 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(PUL/STEP)</a:t>
            </a:r>
            <a:endParaRPr lang="en-US" altLang="zh-CN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一个脉冲，走一步。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脉冲的频率决定了电机的转速。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48350" y="3413442"/>
            <a:ext cx="5080000" cy="9442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方向信号 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(DIR)</a:t>
            </a:r>
            <a:endParaRPr lang="en-US" altLang="zh-CN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高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/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低电平，决定了电机的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正转或反转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792798"/>
            <a:ext cx="5080000" cy="18180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锦上添花：微步技术 </a:t>
            </a:r>
            <a:r>
              <a:rPr lang="en-US" altLang="zh-CN" sz="2300" b="0" i="0">
                <a:solidFill>
                  <a:srgbClr val="222222"/>
                </a:solidFill>
                <a:latin typeface="PingFang SC"/>
                <a:ea typeface="PingFang SC"/>
              </a:rPr>
              <a:t>(Microstepping)</a:t>
            </a:r>
            <a:endParaRPr lang="en-US" altLang="zh-CN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标准步进是“一开一关”，而微步技术通过精确控制不同相线圈的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电流比例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，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将一个物理步距角细分成更多更小的“微步”。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" y="3428683"/>
            <a:ext cx="5080000" cy="11322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优点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运动更平滑、定位更精细、有效降低低速时的振动和噪音。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25260" y="3551555"/>
            <a:ext cx="5080000" cy="88646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代价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力矩会略有下降。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43910" y="1209992"/>
            <a:ext cx="5080000" cy="7613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700" b="0" i="0">
                <a:solidFill>
                  <a:srgbClr val="222222"/>
                </a:solidFill>
                <a:latin typeface="PingFang SC"/>
                <a:ea typeface="PingFang SC"/>
              </a:rPr>
              <a:t>性能特性与总结</a:t>
            </a:r>
            <a:endParaRPr lang="zh-CN" altLang="en-US" sz="17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PingFang SC"/>
                <a:ea typeface="PingFang SC"/>
              </a:rPr>
              <a:t>优缺点分析</a:t>
            </a:r>
            <a:endParaRPr lang="zh-CN" altLang="en-US" sz="1600" b="1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72845" y="2833053"/>
            <a:ext cx="5080000" cy="171640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28A745"/>
                </a:solidFill>
                <a:latin typeface="PingFang SC"/>
                <a:ea typeface="PingFang SC"/>
              </a:rPr>
              <a:t>优点 </a:t>
            </a:r>
            <a:r>
              <a:rPr lang="en-US" altLang="zh-CN" sz="1600" b="1" i="0">
                <a:solidFill>
                  <a:srgbClr val="28A745"/>
                </a:solidFill>
                <a:latin typeface="PingFang SC"/>
                <a:ea typeface="PingFang SC"/>
              </a:rPr>
              <a:t>(Pros)</a:t>
            </a:r>
            <a:endParaRPr lang="en-US" altLang="zh-CN" sz="1600" b="1" i="0">
              <a:solidFill>
                <a:srgbClr val="28A745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精确的位置控制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不失步时，精度极高。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结构简单，可靠性高。</a:t>
            </a:r>
            <a:endParaRPr lang="zh-CN" altLang="en-US" sz="19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静止时有保持力矩。</a:t>
            </a:r>
            <a:endParaRPr lang="zh-CN" altLang="en-US" sz="1900" b="0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52845" y="2553335"/>
            <a:ext cx="5080000" cy="241681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DC3545"/>
                </a:solidFill>
                <a:latin typeface="PingFang SC"/>
                <a:ea typeface="PingFang SC"/>
              </a:rPr>
              <a:t>缺点 </a:t>
            </a:r>
            <a:r>
              <a:rPr lang="en-US" altLang="zh-CN" sz="1600" b="1" i="0">
                <a:solidFill>
                  <a:srgbClr val="DC3545"/>
                </a:solidFill>
                <a:latin typeface="PingFang SC"/>
                <a:ea typeface="PingFang SC"/>
              </a:rPr>
              <a:t>(Cons)</a:t>
            </a:r>
            <a:endParaRPr lang="en-US" altLang="zh-CN" sz="1600" b="1" i="0">
              <a:solidFill>
                <a:srgbClr val="DC3545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开环控制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负载过大或速度过快会</a:t>
            </a: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失步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，且系统无法知晓。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效率低，发热大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线圈常态通电。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高速性能差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速度越高，力矩下降越快。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振动与噪音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低速时有明显步进感。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772920"/>
            <a:ext cx="5080000" cy="291211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步进电机的适用场景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它非常适合对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位置精度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要求高、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负载变化不大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的场合。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2600" b="0" i="0">
                <a:solidFill>
                  <a:srgbClr val="005A9C"/>
                </a:solidFill>
                <a:latin typeface="PingFang SC"/>
                <a:ea typeface="PingFang SC"/>
              </a:rPr>
              <a:t>3D</a:t>
            </a: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打印机、激光切割机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的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X/Y/Z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轴</a:t>
            </a:r>
            <a:endParaRPr lang="zh-CN" altLang="en-US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en-US" altLang="zh-CN" sz="2600" b="0" i="0">
                <a:solidFill>
                  <a:srgbClr val="005A9C"/>
                </a:solidFill>
                <a:latin typeface="PingFang SC"/>
                <a:ea typeface="PingFang SC"/>
              </a:rPr>
              <a:t>CNC</a:t>
            </a: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数控机床</a:t>
            </a:r>
            <a:endParaRPr lang="zh-CN" altLang="en-US" sz="2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工业自动化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中的精确定位平台</a:t>
            </a:r>
            <a:endParaRPr lang="zh-CN" altLang="en-US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医疗设备、分析仪器</a:t>
            </a:r>
            <a:endParaRPr lang="zh-CN" altLang="en-US" sz="2600" b="0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85515" y="13109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PingFang SC"/>
                <a:ea typeface="PingFang SC"/>
              </a:rPr>
              <a:t>总结：步进电机 </a:t>
            </a:r>
            <a:r>
              <a:rPr lang="en-US" altLang="zh-CN" sz="1600" b="0" i="0">
                <a:solidFill>
                  <a:srgbClr val="222222"/>
                </a:solidFill>
                <a:latin typeface="PingFang SC"/>
                <a:ea typeface="PingFang SC"/>
              </a:rPr>
              <a:t>vs. </a:t>
            </a:r>
            <a:r>
              <a:rPr lang="zh-CN" altLang="en-US" sz="1600" b="0" i="0">
                <a:solidFill>
                  <a:srgbClr val="222222"/>
                </a:solidFill>
                <a:latin typeface="PingFang SC"/>
                <a:ea typeface="PingFang SC"/>
              </a:rPr>
              <a:t>舵机</a:t>
            </a:r>
            <a:endParaRPr lang="zh-CN" altLang="en-US" sz="1600" b="0" i="0">
              <a:solidFill>
                <a:srgbClr val="222222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03655" y="2162810"/>
            <a:ext cx="5080000" cy="253238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PingFang SC"/>
                <a:ea typeface="PingFang SC"/>
              </a:rPr>
              <a:t>舵机 </a:t>
            </a:r>
            <a:r>
              <a:rPr lang="en-US" altLang="zh-CN" sz="1600" b="1" i="0">
                <a:solidFill>
                  <a:srgbClr val="005A9C"/>
                </a:solidFill>
                <a:latin typeface="PingFang SC"/>
                <a:ea typeface="PingFang SC"/>
              </a:rPr>
              <a:t>(Servo)</a:t>
            </a:r>
            <a:endParaRPr lang="en-US" altLang="zh-CN" sz="16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闭环控制</a:t>
            </a:r>
            <a:endParaRPr lang="zh-CN" altLang="en-US" sz="19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输入是</a:t>
            </a: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目标角度</a:t>
            </a:r>
            <a:endParaRPr lang="zh-CN" altLang="en-US" sz="19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关心“</a:t>
            </a: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去到哪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”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优点：使用简单，抗扰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缺点：精度有限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04940" y="2162810"/>
            <a:ext cx="5080000" cy="253238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PingFang SC"/>
                <a:ea typeface="PingFang SC"/>
              </a:rPr>
              <a:t>步进电机 </a:t>
            </a:r>
            <a:r>
              <a:rPr lang="en-US" altLang="zh-CN" sz="1600" b="1" i="0">
                <a:solidFill>
                  <a:srgbClr val="005A9C"/>
                </a:solidFill>
                <a:latin typeface="PingFang SC"/>
                <a:ea typeface="PingFang SC"/>
              </a:rPr>
              <a:t>(Stepper)</a:t>
            </a:r>
            <a:endParaRPr lang="en-US" altLang="zh-CN" sz="16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开环控制</a:t>
            </a:r>
            <a:endParaRPr lang="zh-CN" altLang="en-US" sz="19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输入是</a:t>
            </a: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步数和方向</a:t>
            </a:r>
            <a:endParaRPr lang="zh-CN" altLang="en-US" sz="19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关心“</a:t>
            </a: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走几步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”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优点：精度高，结构简单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缺点：会失步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874327"/>
            <a:ext cx="5080000" cy="11093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800" b="1" i="0">
                <a:solidFill>
                  <a:srgbClr val="005A9C"/>
                </a:solidFill>
                <a:latin typeface="PingFang SC"/>
                <a:ea typeface="PingFang SC"/>
              </a:rPr>
              <a:t>直流无刷电机 </a:t>
            </a:r>
            <a:r>
              <a:rPr lang="en-US" altLang="zh-CN" sz="2800" b="1" i="0">
                <a:solidFill>
                  <a:srgbClr val="005A9C"/>
                </a:solidFill>
                <a:latin typeface="PingFang SC"/>
                <a:ea typeface="PingFang SC"/>
              </a:rPr>
              <a:t>(BLDC)</a:t>
            </a:r>
            <a:endParaRPr lang="en-US" altLang="zh-CN" sz="28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666666"/>
                </a:solidFill>
                <a:latin typeface="PingFang SC"/>
                <a:ea typeface="PingFang SC"/>
              </a:rPr>
              <a:t>高性能驱动技术的核心</a:t>
            </a:r>
            <a:endParaRPr lang="zh-CN" altLang="en-US" sz="1600" b="0" i="0">
              <a:solidFill>
                <a:srgbClr val="666666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387793"/>
            <a:ext cx="5080000" cy="91122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工作原理：电子换向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BLDC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与有刷电机的根本区别在于换向方式：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42365" y="3096895"/>
            <a:ext cx="5080000" cy="88646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有刷电机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通过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物理电刷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和换向器，机械地改变电流方向。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504940" y="2945130"/>
            <a:ext cx="5080000" cy="118999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无刷电机 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(BLDC)</a:t>
            </a:r>
            <a:endParaRPr lang="en-US" altLang="zh-CN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通过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外部控制器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(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电调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ESC)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，以电子方式按序给线圈通电，形成旋转磁场，“拉着”永磁体转子转动。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95040" y="4781232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没有了电刷的磨损，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BLDC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拥有更高的效率、转速和寿命。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434715" y="1001713"/>
            <a:ext cx="5080000" cy="11576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控制前提：如何获知转子位置？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控制器必须知道转子的当前位置，才能决定何时给哪个线圈通电。主要有两种方式：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9795" y="2972118"/>
            <a:ext cx="5080000" cy="13785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有感控制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通过安装在电机内部的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霍尔传感器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(Hall Sensor)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，直接测量转子磁极的位置。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优点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启动平稳，低速性能好。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52845" y="3163888"/>
            <a:ext cx="5080000" cy="13785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无感控制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通过检测未通电线圈的反电动势，用算法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如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FOC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)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来估算转子位置。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优点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系统简单，成本低。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05180" y="1949767"/>
            <a:ext cx="5080000" cy="30670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ts val="168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 b="0" i="0">
                <a:solidFill>
                  <a:srgbClr val="000000"/>
                </a:solidFill>
                <a:latin typeface="Google Sans"/>
                <a:ea typeface="Google Sans"/>
              </a:rPr>
              <a:t>步进电机和无刷电机特性对比总结表</a:t>
            </a:r>
            <a:endParaRPr lang="zh-CN" altLang="en-US" sz="2000" b="0" i="0">
              <a:solidFill>
                <a:srgbClr val="000000"/>
              </a:solidFill>
              <a:latin typeface="Google Sans"/>
              <a:ea typeface="Google Sans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805180" y="2256472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1">
                          <a:latin typeface="Google Sans Text"/>
                          <a:ea typeface="Google Sans Text"/>
                        </a:rPr>
                        <a:t>特性 </a:t>
                      </a:r>
                      <a:r>
                        <a:rPr lang="en-US" altLang="zh-CN" sz="1400" b="1">
                          <a:latin typeface="Google Sans Text"/>
                          <a:ea typeface="Google Sans Text"/>
                        </a:rPr>
                        <a:t>(Feature)</a:t>
                      </a:r>
                      <a:endParaRPr lang="en-US" altLang="zh-CN" sz="1400" b="1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1">
                          <a:latin typeface="Google Sans Text"/>
                          <a:ea typeface="Google Sans Text"/>
                        </a:rPr>
                        <a:t>步进电机 </a:t>
                      </a:r>
                      <a:r>
                        <a:rPr lang="en-US" altLang="zh-CN" sz="1400" b="1">
                          <a:latin typeface="Google Sans Text"/>
                          <a:ea typeface="Google Sans Text"/>
                        </a:rPr>
                        <a:t>(Stepper Motor)</a:t>
                      </a:r>
                      <a:endParaRPr lang="en-US" altLang="zh-CN" sz="1400" b="1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1">
                          <a:latin typeface="Google Sans Text"/>
                          <a:ea typeface="Google Sans Text"/>
                        </a:rPr>
                        <a:t>无刷电机 </a:t>
                      </a:r>
                      <a:r>
                        <a:rPr lang="en-US" altLang="zh-CN" sz="1400" b="1">
                          <a:latin typeface="Google Sans Text"/>
                          <a:ea typeface="Google Sans Text"/>
                        </a:rPr>
                        <a:t>(BLDC Motor)</a:t>
                      </a:r>
                      <a:endParaRPr lang="en-US" altLang="zh-CN" sz="1400" b="1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控制方式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开环 </a:t>
                      </a:r>
                      <a:r>
                        <a:rPr lang="en-US" altLang="zh-CN" sz="1400" b="0">
                          <a:latin typeface="Google Sans Text"/>
                          <a:ea typeface="Google Sans Text"/>
                        </a:rPr>
                        <a:t>(Open-Loop) - </a:t>
                      </a: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只管发命令，不看结果。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闭环 </a:t>
                      </a:r>
                      <a:r>
                        <a:rPr lang="en-US" altLang="zh-CN" sz="1400" b="0">
                          <a:latin typeface="Google Sans Text"/>
                          <a:ea typeface="Google Sans Text"/>
                        </a:rPr>
                        <a:t>(Closed-Loop) - </a:t>
                      </a: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根据反馈（位置）来发命令。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位置反馈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通常没有。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有</a:t>
                      </a:r>
                      <a:r>
                        <a:rPr lang="en-US" altLang="zh-CN" sz="1400" b="0">
                          <a:latin typeface="Google Sans Text"/>
                          <a:ea typeface="Google Sans Text"/>
                        </a:rPr>
                        <a:t> (</a:t>
                      </a: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霍尔传感器</a:t>
                      </a:r>
                      <a:r>
                        <a:rPr lang="en-US" altLang="zh-CN" sz="1400" b="0">
                          <a:latin typeface="Google Sans Text"/>
                          <a:ea typeface="Google Sans Text"/>
                        </a:rPr>
                        <a:t>, </a:t>
                      </a: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编码器等</a:t>
                      </a:r>
                      <a:r>
                        <a:rPr lang="en-US" altLang="zh-CN" sz="1400" b="0">
                          <a:latin typeface="Google Sans Text"/>
                          <a:ea typeface="Google Sans Text"/>
                        </a:rPr>
                        <a:t>)</a:t>
                      </a: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运动方式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离散的、一步一步的运动，像时钟秒针。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连续、平滑的旋转。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转速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适合低速、精确定位的场合。高速时扭矩下降快。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适合高速、持续运转的场合。效率高。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效率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较低。为了保持位置（保持扭矩），线圈可能需要一直通电，会发热。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很高。按需通电，能量利用率高。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可靠性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可能会“失步”（在负载过大或速度过快时）。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非常可靠，因为控制器始终知道转子位置。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复杂度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驱动器相对简单。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控制器（</a:t>
                      </a:r>
                      <a:r>
                        <a:rPr lang="en-US" altLang="zh-CN" sz="1400" b="0">
                          <a:latin typeface="Google Sans Text"/>
                          <a:ea typeface="Google Sans Text"/>
                        </a:rPr>
                        <a:t>ESC</a:t>
                      </a: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）相对复杂，需要处理传感器信号。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应用场景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需要精确“走到哪”</a:t>
                      </a:r>
                      <a:r>
                        <a:rPr lang="en-US" altLang="zh-CN" sz="1400" b="0">
                          <a:latin typeface="Google Sans Text"/>
                          <a:ea typeface="Google Sans Text"/>
                        </a:rPr>
                        <a:t>: 3D</a:t>
                      </a: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打印机、</a:t>
                      </a:r>
                      <a:r>
                        <a:rPr lang="en-US" altLang="zh-CN" sz="1400" b="0">
                          <a:latin typeface="Google Sans Text"/>
                          <a:ea typeface="Google Sans Text"/>
                        </a:rPr>
                        <a:t>CNC</a:t>
                      </a: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机床、打印机纸张输送。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ts val="1200"/>
                        </a:lnSpc>
                      </a:pP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需要高效“转起来”</a:t>
                      </a:r>
                      <a:r>
                        <a:rPr lang="en-US" altLang="zh-CN" sz="1400" b="0">
                          <a:latin typeface="Google Sans Text"/>
                          <a:ea typeface="Google Sans Text"/>
                        </a:rPr>
                        <a:t>: </a:t>
                      </a:r>
                      <a:r>
                        <a:rPr lang="zh-CN" altLang="en-US" sz="1400" b="0">
                          <a:latin typeface="Google Sans Text"/>
                          <a:ea typeface="Google Sans Text"/>
                        </a:rPr>
                        <a:t>无人机、电动车、电脑风扇、硬盘。</a:t>
                      </a:r>
                      <a:endParaRPr lang="zh-CN" altLang="en-US" sz="1400" b="0">
                        <a:latin typeface="Google Sans Text"/>
                        <a:ea typeface="Google Sans Text"/>
                      </a:endParaRPr>
                    </a:p>
                  </a:txBody>
                  <a:tcPr marL="91757" marR="91757" marT="46037" marB="46037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931228"/>
            <a:ext cx="5080000" cy="11576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控制方式：从速度到位置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BLDC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本身擅长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速度控制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或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力矩控制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。要实现高精度位置控制，需要升级为伺服系统：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950" y="2548890"/>
            <a:ext cx="9182100" cy="17602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93110" y="517937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这就是工业机器人关节的核心构成。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0182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PingFang SC"/>
                <a:ea typeface="PingFang SC"/>
              </a:rPr>
              <a:t>性能与应用</a:t>
            </a:r>
            <a:endParaRPr lang="zh-CN" altLang="en-US" sz="1600" b="0" i="0">
              <a:solidFill>
                <a:srgbClr val="222222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66875" y="2346325"/>
            <a:ext cx="2524760" cy="16598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PingFang SC"/>
                <a:ea typeface="PingFang SC"/>
              </a:rPr>
              <a:t>核心性能</a:t>
            </a:r>
            <a:endParaRPr lang="zh-CN" altLang="en-US" sz="16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高效率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高转速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长寿命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高功率密度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22490" y="2346325"/>
            <a:ext cx="2949575" cy="16598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005A9C"/>
                </a:solidFill>
                <a:latin typeface="PingFang SC"/>
                <a:ea typeface="PingFang SC"/>
              </a:rPr>
              <a:t>典型应用</a:t>
            </a:r>
            <a:endParaRPr lang="zh-CN" altLang="en-US" sz="16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无人机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电动车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工业机器人高端关节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高性能风扇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49256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PingFang SC"/>
                <a:ea typeface="PingFang SC"/>
              </a:rPr>
              <a:t>三者横向对比总结</a:t>
            </a:r>
            <a:endParaRPr lang="zh-CN" altLang="en-US" sz="1600" b="0" i="0">
              <a:solidFill>
                <a:srgbClr val="222222"/>
              </a:solidFill>
              <a:latin typeface="PingFang SC"/>
              <a:ea typeface="PingFang SC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853440" y="2468880"/>
          <a:ext cx="10485120" cy="0"/>
        </p:xfrm>
        <a:graphic>
          <a:graphicData uri="http://schemas.openxmlformats.org/drawingml/2006/table">
            <a:tbl>
              <a:tblPr/>
              <a:tblGrid>
                <a:gridCol w="2621280"/>
                <a:gridCol w="2621280"/>
                <a:gridCol w="2621280"/>
                <a:gridCol w="2621280"/>
              </a:tblGrid>
              <a:tr h="0">
                <a:tc>
                  <a:txBody>
                    <a:bodyPr/>
                    <a:p>
                      <a:pPr algn="ctr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特性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舵机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(Servo)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步进电机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(Stepper)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直流无刷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(BLDC) - 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伺服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控制方式</a:t>
                      </a:r>
                      <a:endParaRPr lang="zh-CN" altLang="en-US" sz="1100" b="0" i="0">
                        <a:solidFill>
                          <a:srgbClr val="005A9C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位置闭环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(PWM)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位置开环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(Pulse/Dir)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速度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/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力矩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/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位置全闭环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核心优势</a:t>
                      </a:r>
                      <a:endParaRPr lang="zh-CN" altLang="en-US" sz="1100" b="0" i="0">
                        <a:solidFill>
                          <a:srgbClr val="005A9C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集成度高，使用简单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精确位置控制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(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不失步时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高性能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(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高速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/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高效率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/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高响应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核心劣势</a:t>
                      </a:r>
                      <a:endParaRPr lang="zh-CN" altLang="en-US" sz="1100" b="0" i="0">
                        <a:solidFill>
                          <a:srgbClr val="005A9C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精度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/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响应有限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会失步，无反馈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系统复杂，成本高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需要外设</a:t>
                      </a:r>
                      <a:endParaRPr lang="zh-CN" altLang="en-US" sz="1100" b="0" i="0">
                        <a:solidFill>
                          <a:srgbClr val="005A9C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基本不需要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需要驱动器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需要驱动器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+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编码器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(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构成伺服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典型应用</a:t>
                      </a:r>
                      <a:endParaRPr lang="zh-CN" altLang="en-US" sz="1100" b="0" i="0">
                        <a:solidFill>
                          <a:srgbClr val="005A9C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教学机器人关节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3D</a:t>
                      </a:r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打印机，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CNC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工业机器人，无人机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38207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PingFang SC"/>
                <a:ea typeface="PingFang SC"/>
              </a:rPr>
              <a:t>最终的洞察：权衡的艺术</a:t>
            </a:r>
            <a:endParaRPr lang="zh-CN" altLang="en-US" sz="1600" b="0" i="0">
              <a:solidFill>
                <a:srgbClr val="222222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2767965"/>
            <a:ext cx="5080000" cy="13220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“回顾这张表，我们可以看到，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没有最好的电机，只有最合适的电机。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一个具身智能系统的设计，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本质上就是在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成本、性能、控制复杂度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之间做权衡 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(Trade-off)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911158"/>
            <a:ext cx="5080000" cy="10356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800" b="1" i="0">
                <a:solidFill>
                  <a:srgbClr val="005A9C"/>
                </a:solidFill>
                <a:latin typeface="PingFang SC"/>
                <a:ea typeface="PingFang SC"/>
              </a:rPr>
              <a:t>机械传动：四两拨千斤的智慧</a:t>
            </a:r>
            <a:endParaRPr lang="zh-CN" altLang="en-US" sz="28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666666"/>
                </a:solidFill>
                <a:latin typeface="PingFang SC"/>
                <a:ea typeface="PingFang SC"/>
              </a:rPr>
              <a:t>从齿轮比到阻尼齿轮</a:t>
            </a:r>
            <a:endParaRPr lang="zh-CN" altLang="en-US" sz="1600" b="0" i="0">
              <a:solidFill>
                <a:srgbClr val="666666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357755"/>
            <a:ext cx="5080000" cy="214249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从电机到传动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上一节课我们了解了电机，它们通常具有‘高转速、低扭矩’的特性。比如一个小型直流电机可以轻易达到每分钟上万转，但你用手就能轻松捏住它的轴。而我们的机器人手臂需要的是‘低转速、高扭矩’，才能举起重物。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如何实现这种“四两拨千斤”的转换？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500948"/>
            <a:ext cx="5080000" cy="18561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齿轮减速比的物理本质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从第一性原理出发：功率 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(P) = </a:t>
            </a: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扭矩 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(τ) × </a:t>
            </a: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角速度 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(ω)</a:t>
            </a:r>
            <a:endParaRPr lang="en-US" altLang="zh-CN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这是我们分析一切传动系统的基石。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527175"/>
            <a:ext cx="5674360" cy="380428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理想模型：能量守恒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在一个理想的、无摩擦的齿轮系统中，能量是守恒的，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因此输入的功率约等于输出的功率。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P_in ≈ P_out</a:t>
            </a:r>
            <a:endParaRPr lang="en-US" altLang="zh-CN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τ_in × ω_in ≈ τ_out × ω_out</a:t>
            </a:r>
            <a:endParaRPr lang="en-US" altLang="zh-CN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endParaRPr lang="en-US" altLang="zh-CN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2600" b="0" i="0">
                <a:solidFill>
                  <a:srgbClr val="555555"/>
                </a:solidFill>
                <a:latin typeface="PingFang SC"/>
                <a:ea typeface="PingFang SC"/>
              </a:rPr>
              <a:t>↓</a:t>
            </a:r>
            <a:endParaRPr lang="en-US" altLang="zh-CN" sz="2600" b="0" i="0">
              <a:solidFill>
                <a:srgbClr val="555555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2600" b="0" i="0">
                <a:solidFill>
                  <a:srgbClr val="005A9C"/>
                </a:solidFill>
                <a:latin typeface="PingFang SC"/>
                <a:ea typeface="PingFang SC"/>
              </a:rPr>
              <a:t>τ_out / τ_in ≈ ω_in / ω_out</a:t>
            </a:r>
            <a:endParaRPr lang="en-US" altLang="zh-CN" sz="2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endParaRPr lang="en-US" altLang="zh-CN" sz="2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这个公式告诉我们：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扭矩比与角速度比成反比。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480945"/>
            <a:ext cx="5080000" cy="189611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核心公式：牺牲速度，换取力量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我们定义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减速比 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(i) = ω_in / ω_out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(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输入速度 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/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输出速度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1600" b="0" i="1">
                <a:solidFill>
                  <a:srgbClr val="333333"/>
                </a:solidFill>
                <a:latin typeface="PingFang SC"/>
                <a:ea typeface="PingFang SC"/>
              </a:rPr>
              <a:t>τ_out ≈ τ_in × i</a:t>
            </a:r>
            <a:endParaRPr lang="en-US" altLang="zh-CN" sz="1600" b="0" i="1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即：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输出扭矩约等于输入扭矩乘以减速比。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减速比越大，输出的力气就越大，但速度越慢。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215708"/>
            <a:ext cx="5080000" cy="91122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汽车的变速箱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这和汽车换挡的原理完全一样。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" y="2922905"/>
            <a:ext cx="4293870" cy="143637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减速 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(</a:t>
            </a: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一档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)</a:t>
            </a:r>
            <a:endParaRPr lang="en-US" altLang="zh-CN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小齿轮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发动机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) -&gt;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大齿轮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车轮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减速比 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&gt; 1</a:t>
            </a:r>
            <a:endParaRPr lang="en-US" altLang="zh-CN" sz="1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效果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速度慢，但力气大，适合爬坡。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57340" y="2922905"/>
            <a:ext cx="5080000" cy="14363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增速 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(</a:t>
            </a: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五档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)</a:t>
            </a:r>
            <a:endParaRPr lang="en-US" altLang="zh-CN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大齿轮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发动机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) -&gt;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小齿轮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(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车轮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)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减速比 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&lt; 1</a:t>
            </a:r>
            <a:endParaRPr lang="en-US" altLang="zh-CN" sz="1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效果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速度快，但力气小，适合高速巡航。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697163"/>
            <a:ext cx="5080000" cy="14636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工程挑战：齿隙 </a:t>
            </a:r>
            <a:r>
              <a:rPr lang="en-US" altLang="zh-CN" sz="2300" b="0" i="0">
                <a:solidFill>
                  <a:srgbClr val="222222"/>
                </a:solidFill>
                <a:latin typeface="PingFang SC"/>
                <a:ea typeface="PingFang SC"/>
              </a:rPr>
              <a:t>(Backlash)</a:t>
            </a:r>
            <a:endParaRPr lang="en-US" altLang="zh-CN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“标准的齿轮传动会存在齿隙，导致机器人在启动、停止或改变方向时产生微小的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抖动和噪音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，影响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定位精度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和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运动平顺性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。如何解决这个问题？”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178878"/>
            <a:ext cx="5080000" cy="91122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解决方案：阻尼齿轮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它通过一个巧妙的内部结构来消除齿隙。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78585" y="3198495"/>
            <a:ext cx="3646805" cy="8864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结构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由两片薄齿轮和中间的弹簧构成。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91275" y="3101023"/>
            <a:ext cx="5080000" cy="13785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原理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弹簧使两片齿轮错开一个微小角度，形成预紧力，从而始终与对方齿轮的两个侧面都保持紧密接触，有效消除了间隙。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373313"/>
            <a:ext cx="5080000" cy="21113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阻尼齿轮的工程价值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在需要精细操作的场合，它能带来显著的性能提升：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提升定位精度</a:t>
            </a:r>
            <a:endParaRPr lang="zh-CN" altLang="en-US" sz="2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提升运动平顺性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 (</a:t>
            </a:r>
            <a:r>
              <a:rPr lang="zh-CN" altLang="en-US" sz="2600" b="0" i="0">
                <a:solidFill>
                  <a:srgbClr val="333333"/>
                </a:solidFill>
                <a:latin typeface="PingFang SC"/>
                <a:ea typeface="PingFang SC"/>
              </a:rPr>
              <a:t>减少抖动</a:t>
            </a:r>
            <a:r>
              <a:rPr lang="en-US" altLang="zh-CN" sz="2600" b="0" i="0">
                <a:solidFill>
                  <a:srgbClr val="333333"/>
                </a:solidFill>
                <a:latin typeface="PingFang SC"/>
                <a:ea typeface="PingFang SC"/>
              </a:rPr>
              <a:t>)</a:t>
            </a:r>
            <a:endParaRPr lang="en-US" altLang="zh-CN" sz="2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buFont typeface="Arial" panose="020B0604020202020204"/>
              <a:buChar char="•"/>
            </a:pPr>
            <a:r>
              <a:rPr lang="zh-CN" altLang="en-US" sz="2600" b="0" i="0">
                <a:solidFill>
                  <a:srgbClr val="005A9C"/>
                </a:solidFill>
                <a:latin typeface="PingFang SC"/>
                <a:ea typeface="PingFang SC"/>
              </a:rPr>
              <a:t>降低传动噪音</a:t>
            </a:r>
            <a:endParaRPr lang="zh-CN" altLang="en-US" sz="2600" b="0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874327"/>
            <a:ext cx="5080000" cy="11093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800" b="1" i="0">
                <a:solidFill>
                  <a:srgbClr val="005A9C"/>
                </a:solidFill>
                <a:latin typeface="PingFang SC"/>
                <a:ea typeface="PingFang SC"/>
              </a:rPr>
              <a:t>位置反馈：机器人的“本体感觉”</a:t>
            </a:r>
            <a:endParaRPr lang="zh-CN" altLang="en-US" sz="28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666666"/>
                </a:solidFill>
                <a:latin typeface="PingFang SC"/>
                <a:ea typeface="PingFang SC"/>
              </a:rPr>
              <a:t>方案一：电位器 </a:t>
            </a:r>
            <a:r>
              <a:rPr lang="en-US" altLang="zh-CN" sz="1600" b="0" i="0">
                <a:solidFill>
                  <a:srgbClr val="666666"/>
                </a:solidFill>
                <a:latin typeface="PingFang SC"/>
                <a:ea typeface="PingFang SC"/>
              </a:rPr>
              <a:t>(Potentiometer)</a:t>
            </a:r>
            <a:endParaRPr lang="en-US" altLang="zh-CN" sz="1600" b="0" i="0">
              <a:solidFill>
                <a:srgbClr val="666666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604135"/>
            <a:ext cx="5080000" cy="164973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闭环控制的基石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“我们有了力量，但如何知道力量用得对不对？机器人如何知道自己的关节转到了什么角度？这就是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位置反馈（</a:t>
            </a:r>
            <a:r>
              <a:rPr lang="en-US" altLang="zh-CN" sz="1600" b="0" i="1">
                <a:solidFill>
                  <a:srgbClr val="005A9C"/>
                </a:solidFill>
                <a:latin typeface="PingFang SC"/>
                <a:ea typeface="PingFang SC"/>
              </a:rPr>
              <a:t>Proprioception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）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要解决的问题。它是实现一切闭环控制（如</a:t>
            </a:r>
            <a:r>
              <a:rPr lang="en-US" altLang="zh-CN" sz="1600" b="0" i="1">
                <a:solidFill>
                  <a:srgbClr val="333333"/>
                </a:solidFill>
                <a:latin typeface="PingFang SC"/>
                <a:ea typeface="PingFang SC"/>
              </a:rPr>
              <a:t>PID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）的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基石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。”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575877"/>
            <a:ext cx="5080000" cy="17062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电位器：模拟世界的信使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物理原理：一个可变电阻器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通过滑动触点在电阻材料上的移动，来改变其接入电路的电阻值。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30295" y="4564697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[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输入端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] --- [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电阻材料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] --- [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输出端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]</a:t>
            </a:r>
            <a:endParaRPr lang="en-US" altLang="zh-CN" sz="1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↑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[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滑动触点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]</a:t>
            </a:r>
            <a:endParaRPr lang="en-US" altLang="zh-CN" sz="1600" b="0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6000" y="1331278"/>
            <a:ext cx="5080000" cy="11576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工作电路：经典分压电路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当电位器接入分压电路时，其输出电压 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V_out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会随着旋转角度线性变化。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V_out = V_in × (R_part / R_total)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556000" y="4231322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因为转动角度与 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R_part 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成正比，所以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角度也与 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V_out 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成正比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386455" y="6372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PingFang SC"/>
                <a:ea typeface="PingFang SC"/>
              </a:rPr>
              <a:t>信息转换流程：从机械到数字</a:t>
            </a:r>
            <a:endParaRPr lang="zh-CN" altLang="en-US" sz="1600" b="0" i="0">
              <a:solidFill>
                <a:srgbClr val="222222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128492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机械角度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672840" y="185896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电阻值变化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36340" y="243363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模拟电压信号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(e.g., 0-5V)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672840" y="325405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控制器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ADC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模块 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(Analog-to-Digital Converter)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736340" y="407447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数字值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(e.g., 0-1023)</a:t>
            </a:r>
            <a:endParaRPr lang="en-US" altLang="zh-CN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800475" y="523525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上层软件通过读取这个数字值，就能反推出关节的当前角度。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72840" y="7648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PingFang SC"/>
                <a:ea typeface="PingFang SC"/>
              </a:rPr>
              <a:t>工程分析：优缺点</a:t>
            </a:r>
            <a:endParaRPr lang="zh-CN" altLang="en-US" sz="1600" b="0" i="0">
              <a:solidFill>
                <a:srgbClr val="222222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27810" y="2337118"/>
            <a:ext cx="5080000" cy="1716405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28A745"/>
                </a:solidFill>
                <a:latin typeface="PingFang SC"/>
                <a:ea typeface="PingFang SC"/>
              </a:rPr>
              <a:t>优点 </a:t>
            </a:r>
            <a:r>
              <a:rPr lang="en-US" altLang="zh-CN" sz="1600" b="1" i="0">
                <a:solidFill>
                  <a:srgbClr val="28A745"/>
                </a:solidFill>
                <a:latin typeface="PingFang SC"/>
                <a:ea typeface="PingFang SC"/>
              </a:rPr>
              <a:t>(Pros)</a:t>
            </a:r>
            <a:endParaRPr lang="en-US" altLang="zh-CN" sz="1600" b="1" i="0">
              <a:solidFill>
                <a:srgbClr val="28A745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成本极低</a:t>
            </a:r>
            <a:endParaRPr lang="zh-CN" altLang="en-US" sz="1900" b="0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电路简单，易于实现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技术非常成熟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720840" y="2133600"/>
            <a:ext cx="5080000" cy="212471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DC3545"/>
                </a:solidFill>
                <a:latin typeface="PingFang SC"/>
                <a:ea typeface="PingFang SC"/>
              </a:rPr>
              <a:t>缺点 </a:t>
            </a:r>
            <a:r>
              <a:rPr lang="en-US" altLang="zh-CN" sz="1600" b="1" i="0">
                <a:solidFill>
                  <a:srgbClr val="DC3545"/>
                </a:solidFill>
                <a:latin typeface="PingFang SC"/>
                <a:ea typeface="PingFang SC"/>
              </a:rPr>
              <a:t>(Cons)</a:t>
            </a:r>
            <a:endParaRPr lang="en-US" altLang="zh-CN" sz="1600" b="1" i="0">
              <a:solidFill>
                <a:srgbClr val="DC3545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模拟信号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，易受电源、电磁干扰。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物理接触式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，存在摩擦和磨损，寿命有限。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线性度问题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，廉价品电阻分布不均。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分辨率有限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，受限于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ADC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位数。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450783"/>
            <a:ext cx="5080000" cy="195643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实例关联：舵机里的“它”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“我们拆开一个普通的</a:t>
            </a:r>
            <a:r>
              <a:rPr lang="en-US" altLang="zh-CN" sz="1600" b="0" i="1">
                <a:solidFill>
                  <a:srgbClr val="005A9C"/>
                </a:solidFill>
                <a:latin typeface="PingFang SC"/>
                <a:ea typeface="PingFang SC"/>
              </a:rPr>
              <a:t>SG90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舵机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，里面看到的就是这样一个电位器。它的存在，解释了为什么这类舵机的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精度和寿命都有限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。”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电位器的成本和物理特性，直接决定了低成本舵机的性能上限。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75660" y="4810125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666666"/>
                </a:solidFill>
                <a:latin typeface="PingFang SC"/>
                <a:ea typeface="PingFang SC"/>
              </a:rPr>
              <a:t>我们理解了这种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简单、低成本</a:t>
            </a:r>
            <a:r>
              <a:rPr lang="zh-CN" altLang="en-US" sz="1600" b="0" i="0">
                <a:solidFill>
                  <a:srgbClr val="666666"/>
                </a:solidFill>
                <a:latin typeface="PingFang SC"/>
                <a:ea typeface="PingFang SC"/>
              </a:rPr>
              <a:t>但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有其局限性</a:t>
            </a:r>
            <a:r>
              <a:rPr lang="zh-CN" altLang="en-US" sz="1600" b="0" i="0">
                <a:solidFill>
                  <a:srgbClr val="666666"/>
                </a:solidFill>
                <a:latin typeface="PingFang SC"/>
                <a:ea typeface="PingFang SC"/>
              </a:rPr>
              <a:t>的模拟传感方案。</a:t>
            </a:r>
            <a:endParaRPr lang="zh-CN" altLang="en-US" sz="1600" b="0" i="0">
              <a:solidFill>
                <a:srgbClr val="666666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666666"/>
                </a:solidFill>
                <a:latin typeface="PingFang SC"/>
                <a:ea typeface="PingFang SC"/>
              </a:rPr>
              <a:t>下一节，我们将探讨更精确的数字方案</a:t>
            </a:r>
            <a:r>
              <a:rPr lang="en-US" altLang="zh-CN" sz="1600" b="0" i="0">
                <a:solidFill>
                  <a:srgbClr val="666666"/>
                </a:solidFill>
                <a:latin typeface="PingFang SC"/>
                <a:ea typeface="PingFang SC"/>
              </a:rPr>
              <a:t>——</a:t>
            </a:r>
            <a:r>
              <a:rPr lang="zh-CN" altLang="en-US" sz="1600" b="0" i="0">
                <a:solidFill>
                  <a:srgbClr val="666666"/>
                </a:solidFill>
                <a:latin typeface="PingFang SC"/>
                <a:ea typeface="PingFang SC"/>
              </a:rPr>
              <a:t>磁编码器。</a:t>
            </a:r>
            <a:endParaRPr lang="zh-CN" altLang="en-US" sz="1600" b="0" i="0">
              <a:solidFill>
                <a:srgbClr val="666666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556000" y="2658745"/>
            <a:ext cx="5080000" cy="154051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800" b="1" i="0">
                <a:solidFill>
                  <a:srgbClr val="005A9C"/>
                </a:solidFill>
                <a:latin typeface="PingFang SC"/>
                <a:ea typeface="PingFang SC"/>
              </a:rPr>
              <a:t>磁编码器 </a:t>
            </a:r>
            <a:r>
              <a:rPr lang="en-US" altLang="zh-CN" sz="2800" b="1" i="0">
                <a:solidFill>
                  <a:srgbClr val="005A9C"/>
                </a:solidFill>
                <a:latin typeface="PingFang SC"/>
                <a:ea typeface="PingFang SC"/>
              </a:rPr>
              <a:t>(Magnetic Encoder)</a:t>
            </a:r>
            <a:endParaRPr lang="en-US" altLang="zh-CN" sz="28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666666"/>
                </a:solidFill>
                <a:latin typeface="PingFang SC"/>
                <a:ea typeface="PingFang SC"/>
              </a:rPr>
              <a:t>数字世界的精准信使</a:t>
            </a:r>
            <a:endParaRPr lang="zh-CN" altLang="en-US" sz="1600" b="0" i="0">
              <a:solidFill>
                <a:srgbClr val="666666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727008"/>
            <a:ext cx="5080000" cy="14039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从模拟到数字的跨越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“为了克服电位器的种种弊端（干扰、磨损、精度低），现代高性能机器人普遍采用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非接触式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的编码器技术。其中，磁编码器因其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高性价比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而备受青睐。”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51250" y="988695"/>
            <a:ext cx="5080000" cy="97155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核心组件：磁铁 </a:t>
            </a:r>
            <a:r>
              <a:rPr lang="en-US" altLang="zh-CN" sz="2300" b="0" i="0">
                <a:solidFill>
                  <a:srgbClr val="222222"/>
                </a:solidFill>
                <a:latin typeface="PingFang SC"/>
                <a:ea typeface="PingFang SC"/>
              </a:rPr>
              <a:t>+ </a:t>
            </a: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传感器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一个磁编码器系统，主要由两个核心部分构成：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61745" y="3326130"/>
            <a:ext cx="5080000" cy="88646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径向充磁磁铁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固定在电机轴的末端，随传动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轴一同旋转。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25845" y="3202623"/>
            <a:ext cx="5080000" cy="11322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传感器芯片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固定在电路板上，位于磁铁正下方，利用霍尔效应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/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磁阻效应来检测磁场变化。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097598"/>
            <a:ext cx="5080000" cy="11576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工作原理：感知旋转的磁场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当磁铁随电机轴旋转时，下方的传感器芯片能实时检测到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磁场方向（角度）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的精确变化。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556000" y="2710815"/>
            <a:ext cx="5080000" cy="14363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霍尔效应 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(</a:t>
            </a: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简要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)</a:t>
            </a:r>
            <a:endParaRPr lang="en-US" altLang="zh-CN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带电粒子在磁场中运动会受到洛伦兹力而发生偏转，从而在导体两侧产生一个微小的电压差。芯片通过精密测量这个电压差，就能感知磁场的方向和强度。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00" y="518699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芯片内部集成了复杂的信号处理电路，直接将检测到的磁场角度，转换为标准的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数字信号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输出。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861695"/>
            <a:ext cx="5080000" cy="97155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输出信号类型：绝对式 </a:t>
            </a:r>
            <a:r>
              <a:rPr lang="en-US" altLang="zh-CN" sz="2300" b="0" i="0">
                <a:solidFill>
                  <a:srgbClr val="222222"/>
                </a:solidFill>
                <a:latin typeface="PingFang SC"/>
                <a:ea typeface="PingFang SC"/>
              </a:rPr>
              <a:t>vs. </a:t>
            </a: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增量式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磁编码器主要提供两种类型的数字信号输出：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" y="2901950"/>
            <a:ext cx="5080000" cy="143637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绝对式 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(Absolute)</a:t>
            </a:r>
            <a:endParaRPr lang="en-US" altLang="zh-CN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通过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SPI, I²C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等总线，直接告诉控制器“当前角度是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135.7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度”。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优点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开机即知位置，无需回零。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47840" y="2655570"/>
            <a:ext cx="5080000" cy="168275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增量式 </a:t>
            </a:r>
            <a:r>
              <a:rPr lang="en-US" altLang="zh-CN" sz="2200" b="1" i="0">
                <a:solidFill>
                  <a:srgbClr val="005A9C"/>
                </a:solidFill>
                <a:latin typeface="PingFang SC"/>
                <a:ea typeface="PingFang SC"/>
              </a:rPr>
              <a:t>(Incremental)</a:t>
            </a:r>
            <a:endParaRPr lang="en-US" altLang="zh-CN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输出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A/B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相正交脉冲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。控制器通过计数脉冲来计算转角，通过相位差判断方向。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优点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电路简单，速度快。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缺点</a:t>
            </a:r>
            <a:r>
              <a:rPr lang="en-US" altLang="zh-CN" sz="16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6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掉电丢失位置，需回零。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641090" y="862330"/>
            <a:ext cx="5080000" cy="736600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PingFang SC"/>
                <a:ea typeface="PingFang SC"/>
              </a:rPr>
              <a:t>工程分析：优缺点</a:t>
            </a:r>
            <a:endParaRPr lang="zh-CN" altLang="en-US" sz="16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>
              <a:spcAft>
                <a:spcPct val="60000"/>
              </a:spcAft>
            </a:pPr>
            <a:endParaRPr lang="zh-CN" altLang="en-US" sz="1600" b="0" i="0">
              <a:solidFill>
                <a:srgbClr val="222222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15085" y="2473325"/>
            <a:ext cx="5080000" cy="212471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28A745"/>
                </a:solidFill>
                <a:latin typeface="PingFang SC"/>
                <a:ea typeface="PingFang SC"/>
              </a:rPr>
              <a:t>优点 </a:t>
            </a:r>
            <a:r>
              <a:rPr lang="en-US" altLang="zh-CN" sz="1600" b="1" i="0">
                <a:solidFill>
                  <a:srgbClr val="28A745"/>
                </a:solidFill>
                <a:latin typeface="PingFang SC"/>
                <a:ea typeface="PingFang SC"/>
              </a:rPr>
              <a:t>(Pros)</a:t>
            </a:r>
            <a:endParaRPr lang="en-US" altLang="zh-CN" sz="1600" b="1" i="0">
              <a:solidFill>
                <a:srgbClr val="28A745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非接触式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无磨损，长寿命，高可靠性。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数字信号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抗干扰能力强。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高分辨率和高精度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远超电位器。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005A9C"/>
                </a:solidFill>
                <a:latin typeface="PingFang SC"/>
                <a:ea typeface="PingFang SC"/>
              </a:rPr>
              <a:t>高速度</a:t>
            </a:r>
            <a:r>
              <a:rPr lang="en-US" altLang="zh-CN" sz="1900" b="0" i="0">
                <a:solidFill>
                  <a:srgbClr val="005A9C"/>
                </a:solidFill>
                <a:latin typeface="PingFang SC"/>
                <a:ea typeface="PingFang SC"/>
              </a:rPr>
              <a:t>:</a:t>
            </a:r>
            <a:r>
              <a:rPr lang="en-US" altLang="zh-CN" sz="1900" b="0" i="0">
                <a:solidFill>
                  <a:srgbClr val="333333"/>
                </a:solidFill>
                <a:latin typeface="PingFang SC"/>
                <a:ea typeface="PingFang SC"/>
              </a:rPr>
              <a:t> </a:t>
            </a: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能适应高速电机。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67500" y="2734945"/>
            <a:ext cx="5080000" cy="1601470"/>
          </a:xfrm>
          <a:prstGeom prst="rect">
            <a:avLst/>
          </a:prstGeom>
        </p:spPr>
        <p:txBody>
          <a:bodyPr>
            <a:spAutoFit/>
          </a:bodyPr>
          <a:p>
            <a:pPr marL="0" indent="0" algn="l">
              <a:spcBef>
                <a:spcPct val="0"/>
              </a:spcBef>
              <a:spcAft>
                <a:spcPct val="60000"/>
              </a:spcAft>
            </a:pPr>
            <a:r>
              <a:rPr lang="zh-CN" altLang="en-US" sz="1600" b="1" i="0">
                <a:solidFill>
                  <a:srgbClr val="DC3545"/>
                </a:solidFill>
                <a:latin typeface="PingFang SC"/>
                <a:ea typeface="PingFang SC"/>
              </a:rPr>
              <a:t>缺点 </a:t>
            </a:r>
            <a:r>
              <a:rPr lang="en-US" altLang="zh-CN" sz="1600" b="1" i="0">
                <a:solidFill>
                  <a:srgbClr val="DC3545"/>
                </a:solidFill>
                <a:latin typeface="PingFang SC"/>
                <a:ea typeface="PingFang SC"/>
              </a:rPr>
              <a:t>(Cons)</a:t>
            </a:r>
            <a:endParaRPr lang="en-US" altLang="zh-CN" sz="1600" b="1" i="0">
              <a:solidFill>
                <a:srgbClr val="DC3545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成本高于电位器。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l">
              <a:spcBef>
                <a:spcPts val="600"/>
              </a:spcBef>
              <a:spcAft>
                <a:spcPts val="300"/>
              </a:spcAft>
              <a:buFont typeface="Arial" panose="020B0604020202020204"/>
              <a:buChar char="•"/>
            </a:pPr>
            <a:r>
              <a:rPr lang="zh-CN" altLang="en-US" sz="1900" b="0" i="0">
                <a:solidFill>
                  <a:srgbClr val="333333"/>
                </a:solidFill>
                <a:latin typeface="PingFang SC"/>
                <a:ea typeface="PingFang SC"/>
              </a:rPr>
              <a:t>对磁铁的安装精度有一定要求（如对中、间距）。</a:t>
            </a:r>
            <a:endParaRPr lang="zh-CN" altLang="en-US" sz="19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2177098"/>
            <a:ext cx="5080000" cy="146367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高性能</a:t>
            </a: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高端机器人的“标配”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l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“在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高端舵机、工业机器人关节、无人机云台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中，我们看到的就是磁编码器。它的使用，是机器人实现</a:t>
            </a:r>
            <a:r>
              <a:rPr lang="zh-CN" altLang="en-US" sz="1600" b="0" i="1">
                <a:solidFill>
                  <a:srgbClr val="005A9C"/>
                </a:solidFill>
                <a:latin typeface="PingFang SC"/>
                <a:ea typeface="PingFang SC"/>
              </a:rPr>
              <a:t>高精度、高动态响应控制</a:t>
            </a:r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的前提。”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17887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1600" b="0" i="0">
                <a:solidFill>
                  <a:srgbClr val="222222"/>
                </a:solidFill>
                <a:latin typeface="PingFang SC"/>
                <a:ea typeface="PingFang SC"/>
              </a:rPr>
              <a:t>技术选型总结</a:t>
            </a:r>
            <a:endParaRPr lang="zh-CN" altLang="en-US" sz="1600" b="0" i="0">
              <a:solidFill>
                <a:srgbClr val="222222"/>
              </a:solidFill>
              <a:latin typeface="PingFang SC"/>
              <a:ea typeface="PingFang SC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853440" y="2628900"/>
          <a:ext cx="10485120" cy="0"/>
        </p:xfrm>
        <a:graphic>
          <a:graphicData uri="http://schemas.openxmlformats.org/drawingml/2006/table">
            <a:tbl>
              <a:tblPr/>
              <a:tblGrid>
                <a:gridCol w="3495040"/>
                <a:gridCol w="3495040"/>
                <a:gridCol w="3495040"/>
              </a:tblGrid>
              <a:tr h="0">
                <a:tc>
                  <a:txBody>
                    <a:bodyPr/>
                    <a:p>
                      <a:pPr algn="ctr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特性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电位器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(Potentiometer)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磁编码器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(Magnetic Encoder)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信号类型</a:t>
                      </a:r>
                      <a:endParaRPr lang="zh-CN" altLang="en-US" sz="1100" b="0" i="0">
                        <a:solidFill>
                          <a:srgbClr val="005A9C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模拟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(Analog)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数字 </a:t>
                      </a:r>
                      <a:r>
                        <a:rPr lang="en-US" altLang="zh-CN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(Digital)</a:t>
                      </a:r>
                      <a:endParaRPr lang="en-US" altLang="zh-CN" sz="1100" b="0" i="0">
                        <a:solidFill>
                          <a:srgbClr val="005A9C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工作方式</a:t>
                      </a:r>
                      <a:endParaRPr lang="zh-CN" altLang="en-US" sz="1100" b="0" i="0">
                        <a:solidFill>
                          <a:srgbClr val="005A9C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接触式 </a:t>
                      </a:r>
                      <a:r>
                        <a:rPr lang="en-US" altLang="zh-CN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(Contact)</a:t>
                      </a:r>
                      <a:endParaRPr lang="en-US" altLang="zh-CN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非接触式 </a:t>
                      </a:r>
                      <a:r>
                        <a:rPr lang="en-US" altLang="zh-CN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(Non-contact)</a:t>
                      </a:r>
                      <a:endParaRPr lang="en-US" altLang="zh-CN" sz="1100" b="0" i="0">
                        <a:solidFill>
                          <a:srgbClr val="005A9C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核心优势</a:t>
                      </a:r>
                      <a:endParaRPr lang="zh-CN" altLang="en-US" sz="1100" b="0" i="0">
                        <a:solidFill>
                          <a:srgbClr val="005A9C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成本极低，电路简单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高精度，长寿命，抗干扰</a:t>
                      </a:r>
                      <a:endParaRPr lang="zh-CN" altLang="en-US" sz="1100" b="0" i="0">
                        <a:solidFill>
                          <a:srgbClr val="005A9C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核心劣势</a:t>
                      </a:r>
                      <a:endParaRPr lang="zh-CN" altLang="en-US" sz="1100" b="0" i="0">
                        <a:solidFill>
                          <a:srgbClr val="005A9C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333333"/>
                          </a:solidFill>
                          <a:latin typeface="PingFang SC"/>
                          <a:ea typeface="PingFang SC"/>
                        </a:rPr>
                        <a:t>易磨损，易受扰，精度低</a:t>
                      </a:r>
                      <a:endParaRPr lang="zh-CN" altLang="en-US" sz="1100" b="0" i="0">
                        <a:solidFill>
                          <a:srgbClr val="333333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/>
                      <a:r>
                        <a:rPr lang="zh-CN" altLang="en-US" sz="1100" b="0" i="0">
                          <a:solidFill>
                            <a:srgbClr val="005A9C"/>
                          </a:solidFill>
                          <a:latin typeface="PingFang SC"/>
                          <a:ea typeface="PingFang SC"/>
                        </a:rPr>
                        <a:t>成本较高，安装有要求</a:t>
                      </a:r>
                      <a:endParaRPr lang="zh-CN" altLang="en-US" sz="1100" b="0" i="0">
                        <a:solidFill>
                          <a:srgbClr val="005A9C"/>
                        </a:solidFill>
                        <a:latin typeface="PingFang SC"/>
                        <a:ea typeface="PingFang SC"/>
                      </a:endParaRPr>
                    </a:p>
                  </a:txBody>
                  <a:tcPr marL="76517" marR="76517" marT="76517" marB="76517" anchor="ctr" anchorCtr="0">
                    <a:lnL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L>
                    <a:lnR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T>
                    <a:lnB w="7620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00" y="1348423"/>
            <a:ext cx="5080000" cy="91122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Aft>
                <a:spcPct val="60000"/>
              </a:spcAft>
            </a:pPr>
            <a:r>
              <a:rPr lang="zh-CN" altLang="en-US" sz="2300" b="0" i="0">
                <a:solidFill>
                  <a:srgbClr val="222222"/>
                </a:solidFill>
                <a:latin typeface="PingFang SC"/>
                <a:ea typeface="PingFang SC"/>
              </a:rPr>
              <a:t>最后的思考：工程的权衡艺术</a:t>
            </a:r>
            <a:endParaRPr lang="zh-CN" altLang="en-US" sz="2300" b="0" i="0">
              <a:solidFill>
                <a:srgbClr val="222222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1">
                <a:solidFill>
                  <a:srgbClr val="333333"/>
                </a:solidFill>
                <a:latin typeface="PingFang SC"/>
                <a:ea typeface="PingFang SC"/>
              </a:rPr>
              <a:t>“技术选型再次体现了工程的权衡艺术。”</a:t>
            </a:r>
            <a:endParaRPr lang="zh-CN" altLang="en-US" sz="1600" b="0" i="1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16000" y="3606483"/>
            <a:ext cx="5080000" cy="1132205"/>
          </a:xfrm>
          <a:prstGeom prst="rect">
            <a:avLst/>
          </a:prstGeom>
        </p:spPr>
        <p:txBody>
          <a:bodyPr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教学与原型验证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追求快速实现、成本可控，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电位器方案（如普通舵机）</a:t>
            </a:r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。</a:t>
            </a:r>
            <a:endParaRPr lang="zh-CN" altLang="en-US" sz="1600" b="0" i="0">
              <a:solidFill>
                <a:srgbClr val="333333"/>
              </a:solidFill>
              <a:latin typeface="PingFang SC"/>
              <a:ea typeface="PingFang SC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08520" y="3606800"/>
            <a:ext cx="3286125" cy="113220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60000"/>
              </a:spcAft>
            </a:pPr>
            <a:r>
              <a:rPr lang="zh-CN" altLang="en-US" sz="2200" b="1" i="0">
                <a:solidFill>
                  <a:srgbClr val="005A9C"/>
                </a:solidFill>
                <a:latin typeface="PingFang SC"/>
                <a:ea typeface="PingFang SC"/>
              </a:rPr>
              <a:t>产品级应用</a:t>
            </a:r>
            <a:endParaRPr lang="zh-CN" altLang="en-US" sz="2200" b="1" i="0">
              <a:solidFill>
                <a:srgbClr val="005A9C"/>
              </a:solidFill>
              <a:latin typeface="PingFang SC"/>
              <a:ea typeface="PingFang SC"/>
            </a:endParaRPr>
          </a:p>
          <a:p>
            <a:pPr marL="0" indent="0" algn="ctr"/>
            <a:r>
              <a:rPr lang="zh-CN" altLang="en-US" sz="1600" b="0" i="0">
                <a:solidFill>
                  <a:srgbClr val="333333"/>
                </a:solidFill>
                <a:latin typeface="PingFang SC"/>
                <a:ea typeface="PingFang SC"/>
              </a:rPr>
              <a:t>追求高性能、高可靠性，</a:t>
            </a:r>
            <a:r>
              <a:rPr lang="zh-CN" altLang="en-US" sz="1600" b="0" i="0">
                <a:solidFill>
                  <a:srgbClr val="005A9C"/>
                </a:solidFill>
                <a:latin typeface="PingFang SC"/>
                <a:ea typeface="PingFang SC"/>
              </a:rPr>
              <a:t>编码器是必然选择。</a:t>
            </a:r>
            <a:endParaRPr lang="zh-CN" altLang="en-US" sz="1600" b="0" i="0">
              <a:solidFill>
                <a:srgbClr val="005A9C"/>
              </a:solidFill>
              <a:latin typeface="PingFang SC"/>
              <a:ea typeface="PingFang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11241</Words>
  <Application>WPS 演示</Application>
  <PresentationFormat>宽屏</PresentationFormat>
  <Paragraphs>996</Paragraphs>
  <Slides>101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101</vt:i4>
      </vt:variant>
    </vt:vector>
  </HeadingPairs>
  <TitlesOfParts>
    <vt:vector size="116" baseType="lpstr">
      <vt:lpstr>Arial</vt:lpstr>
      <vt:lpstr>宋体</vt:lpstr>
      <vt:lpstr>Wingdings</vt:lpstr>
      <vt:lpstr>Segoe UI</vt:lpstr>
      <vt:lpstr>Arial</vt:lpstr>
      <vt:lpstr>HarmonyOS Sans SC</vt:lpstr>
      <vt:lpstr>HarmonyOS Sans SC</vt:lpstr>
      <vt:lpstr>微软雅黑</vt:lpstr>
      <vt:lpstr>Arial Unicode MS</vt:lpstr>
      <vt:lpstr>Calibri</vt:lpstr>
      <vt:lpstr>PingFang SC</vt:lpstr>
      <vt:lpstr>JetBrains Mono</vt:lpstr>
      <vt:lpstr>Google Sans</vt:lpstr>
      <vt:lpstr>Google Sans Text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 z</dc:creator>
  <cp:lastModifiedBy>欢乐马</cp:lastModifiedBy>
  <cp:revision>147</cp:revision>
  <dcterms:created xsi:type="dcterms:W3CDTF">2023-08-09T12:44:00Z</dcterms:created>
  <dcterms:modified xsi:type="dcterms:W3CDTF">2025-08-31T06:17:38Z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905EC3F4A0124047878E07E8D6233963_12</vt:lpwstr>
  </property>
</Properties>
</file>