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ocs.conda.io/en/latest/miniconda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nodejs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184910"/>
            <a:ext cx="7711440" cy="4488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8410" y="6035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en-US" altLang="zh-CN" sz="1600" b="1" i="0">
                <a:solidFill>
                  <a:srgbClr val="0078D4"/>
                </a:solidFill>
                <a:latin typeface="-apple-system"/>
                <a:ea typeface="-apple-system"/>
              </a:rPr>
              <a:t>Git </a:t>
            </a:r>
            <a:r>
              <a:rPr lang="zh-CN" altLang="en-US" sz="1600" b="1" i="0">
                <a:solidFill>
                  <a:srgbClr val="0078D4"/>
                </a:solidFill>
                <a:latin typeface="-apple-system"/>
                <a:ea typeface="-apple-system"/>
              </a:rPr>
              <a:t>核心</a:t>
            </a:r>
            <a:r>
              <a:rPr lang="zh-CN" altLang="en-US" sz="1600" b="1" i="0">
                <a:solidFill>
                  <a:srgbClr val="0078D4"/>
                </a:solidFill>
                <a:latin typeface="-apple-system"/>
                <a:ea typeface="-apple-system"/>
              </a:rPr>
              <a:t>操作图解</a:t>
            </a:r>
            <a:endParaRPr lang="zh-CN" altLang="en-US" sz="1600" b="1" i="0">
              <a:solidFill>
                <a:srgbClr val="0078D4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422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zh-CN" altLang="en-US" sz="1600" b="1" i="0">
                <a:solidFill>
                  <a:srgbClr val="0078D4"/>
                </a:solidFill>
                <a:latin typeface="-apple-system"/>
                <a:ea typeface="-apple-system"/>
              </a:rPr>
              <a:t>什么是“依赖地狱”</a:t>
            </a:r>
            <a:r>
              <a:rPr lang="en-US" altLang="zh-CN" sz="1600" b="1" i="0">
                <a:solidFill>
                  <a:srgbClr val="0078D4"/>
                </a:solidFill>
                <a:latin typeface="-apple-system"/>
                <a:ea typeface="-apple-system"/>
              </a:rPr>
              <a:t> </a:t>
            </a:r>
            <a:endParaRPr lang="en-US" altLang="zh-CN" sz="1600" b="1" i="0">
              <a:solidFill>
                <a:srgbClr val="0078D4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65195" y="9655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当不同项目对同一个软件包的不同版本有冲突性需求时，就会发生问题。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2205" y="2093278"/>
            <a:ext cx="5080000" cy="12579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项目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A (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数据分析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需要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pandas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版本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1.5</a:t>
            </a:r>
            <a:endParaRPr lang="en-US" altLang="zh-CN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需要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numpy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版本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1.21</a:t>
            </a:r>
            <a:endParaRPr lang="en-US" altLang="zh-CN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97675" y="2093278"/>
            <a:ext cx="5080000" cy="12579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项目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B (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机器学习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需要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pandas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版本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2.1</a:t>
            </a:r>
            <a:endParaRPr lang="en-US" altLang="zh-CN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需要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numpy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版本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1.24</a:t>
            </a:r>
            <a:endParaRPr lang="en-US" altLang="zh-CN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00" y="48460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如果全局只安装一套库，项目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A</a:t>
            </a: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和项目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B</a:t>
            </a: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无法同时工作！</a:t>
            </a:r>
            <a:endParaRPr lang="zh-CN" altLang="en-US" sz="1600" b="0" i="0">
              <a:solidFill>
                <a:srgbClr val="D83B0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21205" y="1120775"/>
            <a:ext cx="7715250" cy="33381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en-US" altLang="zh-CN" sz="3200" b="1" i="0">
                <a:solidFill>
                  <a:srgbClr val="0078D4"/>
                </a:solidFill>
                <a:latin typeface="-apple-system"/>
                <a:ea typeface="-apple-system"/>
              </a:rPr>
              <a:t>Conda </a:t>
            </a:r>
            <a:r>
              <a:rPr lang="zh-CN" altLang="en-US" sz="3200" b="1" i="0">
                <a:solidFill>
                  <a:srgbClr val="0078D4"/>
                </a:solidFill>
                <a:latin typeface="-apple-system"/>
                <a:ea typeface="-apple-system"/>
              </a:rPr>
              <a:t>如何解决问题？</a:t>
            </a:r>
            <a:endParaRPr lang="zh-CN" altLang="en-US" sz="3200" b="1" i="0">
              <a:solidFill>
                <a:srgbClr val="0078D4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Conda </a:t>
            </a: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是一个开源的包管理系统和环境管理系统。</a:t>
            </a:r>
            <a:endParaRPr lang="zh-CN" altLang="en-US" sz="1600" b="0" i="0">
              <a:solidFill>
                <a:srgbClr val="D83B01"/>
              </a:solidFill>
              <a:latin typeface="-apple-system"/>
              <a:ea typeface="-apple-system"/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-apple-system"/>
                <a:ea typeface="-apple-system"/>
              </a:rPr>
              <a:t>核心思想：隔离 </a:t>
            </a:r>
            <a:r>
              <a:rPr lang="en-US" altLang="zh-CN" sz="2000" b="1" i="0">
                <a:solidFill>
                  <a:srgbClr val="333333"/>
                </a:solidFill>
                <a:latin typeface="-apple-system"/>
                <a:ea typeface="-apple-system"/>
              </a:rPr>
              <a:t>(Isolation)</a:t>
            </a:r>
            <a:endParaRPr lang="en-US" altLang="zh-CN" sz="20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Conda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为每个项目创建一个独立的、干净的“盒子”（环境），每个盒子有：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独立的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版本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项目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A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 3.8,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项目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 3.10)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独立的包和版本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A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环境中安装的包，对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环境完全无影响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跨语言支持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不仅能管理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，还能管理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R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C++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等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1900" b="0" i="0">
                <a:solidFill>
                  <a:srgbClr val="D83B01"/>
                </a:solidFill>
                <a:latin typeface="-apple-system"/>
                <a:ea typeface="-apple-system"/>
              </a:rPr>
              <a:t>从此，你的电脑可以同时拥有无数个互不干扰的开发环境。</a:t>
            </a:r>
            <a:endParaRPr lang="zh-CN" altLang="en-US" sz="1900" b="0" i="0">
              <a:solidFill>
                <a:srgbClr val="D83B0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01725" y="802005"/>
            <a:ext cx="9472930" cy="41763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en-US" altLang="zh-CN" sz="3200" b="1" i="0">
                <a:solidFill>
                  <a:srgbClr val="0078D4"/>
                </a:solidFill>
                <a:latin typeface="-apple-system"/>
                <a:ea typeface="-apple-system"/>
              </a:rPr>
              <a:t>Conda </a:t>
            </a:r>
            <a:r>
              <a:rPr lang="zh-CN" altLang="en-US" sz="3200" b="1" i="0">
                <a:solidFill>
                  <a:srgbClr val="0078D4"/>
                </a:solidFill>
                <a:latin typeface="-apple-system"/>
                <a:ea typeface="-apple-system"/>
              </a:rPr>
              <a:t>环境安装 </a:t>
            </a:r>
            <a:r>
              <a:rPr lang="en-US" altLang="zh-CN" sz="3200" b="1" i="0">
                <a:solidFill>
                  <a:srgbClr val="0078D4"/>
                </a:solidFill>
                <a:latin typeface="-apple-system"/>
                <a:ea typeface="-apple-system"/>
              </a:rPr>
              <a:t>(</a:t>
            </a:r>
            <a:r>
              <a:rPr lang="zh-CN" altLang="en-US" sz="3200" b="1" i="0">
                <a:solidFill>
                  <a:srgbClr val="0078D4"/>
                </a:solidFill>
                <a:latin typeface="-apple-system"/>
                <a:ea typeface="-apple-system"/>
              </a:rPr>
              <a:t>推荐 </a:t>
            </a:r>
            <a:r>
              <a:rPr lang="en-US" altLang="zh-CN" sz="3200" b="1" i="0">
                <a:solidFill>
                  <a:srgbClr val="0078D4"/>
                </a:solidFill>
                <a:latin typeface="-apple-system"/>
                <a:ea typeface="-apple-system"/>
              </a:rPr>
              <a:t>Miniconda)</a:t>
            </a:r>
            <a:endParaRPr lang="en-US" altLang="zh-CN" sz="3200" b="1" i="0">
              <a:solidFill>
                <a:srgbClr val="0078D4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Miniconda vs. Anaconda: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Miniconda (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约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100MB)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只包含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Conda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Python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，轻量、干净，</a:t>
            </a: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我们推荐使用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下载</a:t>
            </a:r>
            <a:endParaRPr lang="zh-CN" altLang="en-US" sz="1600" b="0" i="0">
              <a:solidFill>
                <a:srgbClr val="D83B01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访问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Miniconda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官方文档页面：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0078D4"/>
                </a:solidFill>
                <a:latin typeface="-apple-system"/>
                <a:ea typeface="-apple-system"/>
                <a:hlinkClick r:id="rId1"/>
              </a:rPr>
              <a:t>docs.conda.io/en/latest/miniconda.html</a:t>
            </a:r>
            <a:endParaRPr lang="en-US" altLang="zh-CN" sz="1600" b="0" i="0">
              <a:solidFill>
                <a:srgbClr val="0078D4"/>
              </a:solidFill>
              <a:latin typeface="-apple-system"/>
              <a:ea typeface="-apple-system"/>
              <a:hlinkClick r:id="rId1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安装</a:t>
            </a:r>
            <a:endParaRPr lang="zh-CN" altLang="en-US" sz="1600" b="0" i="0">
              <a:solidFill>
                <a:srgbClr val="D83B01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双击安装包，使用默认设置。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(Windows)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建议勾选 “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Add Anaconda to my PATH...”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，对初学者更方便。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验证</a:t>
            </a:r>
            <a:endParaRPr lang="zh-CN" altLang="en-US" sz="1600" b="0" i="0">
              <a:solidFill>
                <a:srgbClr val="D83B01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打开新终端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(Windows: Anaconda Prompt)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，输入：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6510" y="4610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conda --version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876425"/>
            <a:ext cx="5080000" cy="310515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en-US" altLang="zh-CN" sz="3200" b="1" i="0">
                <a:solidFill>
                  <a:srgbClr val="0078D4"/>
                </a:solidFill>
                <a:latin typeface="-apple-system"/>
                <a:ea typeface="-apple-system"/>
              </a:rPr>
              <a:t>Conda </a:t>
            </a:r>
            <a:r>
              <a:rPr lang="zh-CN" altLang="en-US" sz="3200" b="1" i="0">
                <a:solidFill>
                  <a:srgbClr val="0078D4"/>
                </a:solidFill>
                <a:latin typeface="-apple-system"/>
                <a:ea typeface="-apple-system"/>
              </a:rPr>
              <a:t>核心工作流</a:t>
            </a:r>
            <a:endParaRPr lang="zh-CN" altLang="en-US" sz="3200" b="1" i="0">
              <a:solidFill>
                <a:srgbClr val="0078D4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一个项目的标准生命周期：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创建环境 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(Create)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为新项目创建专属环境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激活环境 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(Activate)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— “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进入”这个环境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安装依赖 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(Install)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在当前环境中安装项目所需的包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开始工作 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(Work)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运行代码、进行开发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AutoNum type="arabicPeriod"/>
            </a:pPr>
            <a:r>
              <a:rPr lang="zh-CN" altLang="en-US" sz="1600" b="0" i="0">
                <a:solidFill>
                  <a:srgbClr val="D83B01"/>
                </a:solidFill>
                <a:latin typeface="-apple-system"/>
                <a:ea typeface="-apple-system"/>
              </a:rPr>
              <a:t>退出环境 </a:t>
            </a:r>
            <a:r>
              <a:rPr lang="en-US" altLang="zh-CN" sz="1600" b="0" i="0">
                <a:solidFill>
                  <a:srgbClr val="D83B01"/>
                </a:solidFill>
                <a:latin typeface="-apple-system"/>
                <a:ea typeface="-apple-system"/>
              </a:rPr>
              <a:t>(Deactivate)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工作完成，返回基础环境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853440" y="2202180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功能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命令</a:t>
                      </a:r>
                      <a:endParaRPr lang="zh-CN" altLang="en-US" sz="2000" b="0" i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创建环境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create -n &lt;env_name&gt; python=x.x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激活环境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activate &lt;env_name&gt;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退出环境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deactivate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查看所有环境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env list 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或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 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info --envs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删除环境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env remove -n &lt;env_name&gt;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安装</a:t>
                      </a:r>
                      <a:r>
                        <a:rPr lang="en-US" altLang="zh-CN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D83B01"/>
                          </a:solidFill>
                          <a:latin typeface="-apple-system"/>
                          <a:ea typeface="-apple-system"/>
                        </a:rPr>
                        <a:t>卸载包</a:t>
                      </a:r>
                      <a:endParaRPr lang="zh-CN" altLang="en-US" sz="2000" b="0" i="0">
                        <a:solidFill>
                          <a:srgbClr val="D83B0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-apple-system"/>
                          <a:ea typeface="-apple-system"/>
                        </a:rPr>
                        <a:t>conda install/uninstall &lt;package_name&gt;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91757" marB="91757" anchor="ctr" anchorCtr="0">
                    <a:lnL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16000" y="11363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en-US" altLang="zh-CN" sz="1600" b="1" i="0">
                <a:solidFill>
                  <a:srgbClr val="0078D4"/>
                </a:solidFill>
                <a:latin typeface="-apple-system"/>
                <a:ea typeface="-apple-system"/>
              </a:rPr>
              <a:t>Conda </a:t>
            </a:r>
            <a:r>
              <a:rPr lang="zh-CN" altLang="en-US" sz="1600" b="1" i="0">
                <a:solidFill>
                  <a:srgbClr val="0078D4"/>
                </a:solidFill>
                <a:latin typeface="-apple-system"/>
                <a:ea typeface="-apple-system"/>
              </a:rPr>
              <a:t>常用命令备忘录</a:t>
            </a:r>
            <a:endParaRPr lang="zh-CN" altLang="en-US" sz="1600" b="1" i="0">
              <a:solidFill>
                <a:srgbClr val="0078D4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42975" y="439420"/>
            <a:ext cx="9826625" cy="62750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spcBef>
                <a:spcPct val="0"/>
              </a:spcBef>
              <a:spcAft>
                <a:spcPts val="1500"/>
              </a:spcAft>
            </a:pPr>
            <a:r>
              <a:rPr lang="zh-CN" altLang="en-US" sz="3900" b="1" i="0">
                <a:solidFill>
                  <a:srgbClr val="0078D4"/>
                </a:solidFill>
                <a:latin typeface="-apple-system"/>
                <a:ea typeface="-apple-system"/>
              </a:rPr>
              <a:t>标准化开发环境的“黄金搭档”</a:t>
            </a:r>
            <a:endParaRPr lang="zh-CN" altLang="en-US" sz="3900" b="1" i="0">
              <a:solidFill>
                <a:srgbClr val="0078D4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Git: 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管理代码的“历史”与“协作”</a:t>
            </a:r>
            <a:endParaRPr lang="zh-CN" altLang="en-US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时间维度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做什么：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跟踪每一次代码变更。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核心价值：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安全、可追溯、支持团队合作。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关键词：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clone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commit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push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pull</a:t>
            </a:r>
            <a:endParaRPr lang="en-US" altLang="zh-CN" sz="1600" b="0" i="0">
              <a:solidFill>
                <a:srgbClr val="333333"/>
              </a:solidFill>
              <a:latin typeface="SFMono-Regular"/>
              <a:ea typeface="SFMono-Regular"/>
            </a:endParaRPr>
          </a:p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Conda: 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管理项目的“依赖”与“环境”</a:t>
            </a:r>
            <a:endParaRPr lang="zh-CN" altLang="en-US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2500" b="1" i="0">
                <a:solidFill>
                  <a:srgbClr val="333333"/>
                </a:solidFill>
                <a:latin typeface="-apple-system"/>
                <a:ea typeface="-apple-system"/>
              </a:rPr>
              <a:t>空间维度</a:t>
            </a:r>
            <a:r>
              <a:rPr lang="en-US" altLang="zh-CN" sz="2500" b="1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5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做什么：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隔离不同项目的运行环境。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核心价值：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干净、无冲突、保证可复现。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7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D83B01"/>
                </a:solidFill>
                <a:latin typeface="-apple-system"/>
                <a:ea typeface="-apple-system"/>
              </a:rPr>
              <a:t>关键词：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create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activate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install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, </a:t>
            </a:r>
            <a:r>
              <a:rPr lang="en-US" altLang="zh-CN" sz="1600" b="0" i="0">
                <a:solidFill>
                  <a:srgbClr val="333333"/>
                </a:solidFill>
                <a:latin typeface="SFMono-Regular"/>
                <a:ea typeface="SFMono-Regular"/>
              </a:rPr>
              <a:t>deactivate</a:t>
            </a:r>
            <a:endParaRPr lang="en-US" altLang="zh-CN" sz="1600" b="0" i="0">
              <a:solidFill>
                <a:srgbClr val="333333"/>
              </a:solidFill>
              <a:latin typeface="SFMono-Regular"/>
              <a:ea typeface="SFMono-Regular"/>
            </a:endParaRPr>
          </a:p>
          <a:p>
            <a:pPr marL="0" indent="0" algn="ctr">
              <a:spcBef>
                <a:spcPts val="1800"/>
              </a:spcBef>
            </a:pPr>
            <a:r>
              <a:rPr lang="en-US" altLang="zh-CN" sz="2300" b="0" i="0">
                <a:solidFill>
                  <a:srgbClr val="D83B01"/>
                </a:solidFill>
                <a:latin typeface="-apple-system"/>
                <a:ea typeface="-apple-system"/>
              </a:rPr>
              <a:t>Git + Conda = </a:t>
            </a:r>
            <a:r>
              <a:rPr lang="zh-CN" altLang="en-US" sz="2300" b="0" i="0">
                <a:solidFill>
                  <a:srgbClr val="D83B01"/>
                </a:solidFill>
                <a:latin typeface="-apple-system"/>
                <a:ea typeface="-apple-system"/>
              </a:rPr>
              <a:t>专业、可靠、可复现的开发工作流</a:t>
            </a:r>
            <a:endParaRPr lang="zh-CN" altLang="en-US" sz="2300" b="0" i="0">
              <a:solidFill>
                <a:srgbClr val="D83B0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80360" y="1297940"/>
            <a:ext cx="6294755" cy="3622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600" b="1" i="0">
                <a:solidFill>
                  <a:srgbClr val="444444"/>
                </a:solidFill>
                <a:latin typeface="-apple-system"/>
                <a:ea typeface="-apple-system"/>
              </a:rPr>
              <a:t>我们为什么要安装 </a:t>
            </a:r>
            <a:r>
              <a:rPr lang="en-US" altLang="zh-CN" sz="3600" b="1" i="0">
                <a:solidFill>
                  <a:srgbClr val="444444"/>
                </a:solidFill>
                <a:latin typeface="-apple-system"/>
                <a:ea typeface="-apple-system"/>
              </a:rPr>
              <a:t>Node.js ?</a:t>
            </a:r>
            <a:endParaRPr lang="en-US" altLang="zh-CN" sz="3600" b="1" i="0">
              <a:solidFill>
                <a:srgbClr val="444444"/>
              </a:solidFill>
              <a:latin typeface="-apple-system"/>
              <a:ea typeface="-apple-system"/>
            </a:endParaRPr>
          </a:p>
          <a:p>
            <a:pPr marL="200025" indent="-200025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后端开发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构建高性能的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Web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服务器和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API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接口。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200025" indent="-200025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前端工程化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运行现代前端框架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如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React, Vue) 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的构建工具。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200025" indent="-200025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命令行工具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编写和使用强大的命令行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(CLI)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工具。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200025" indent="-200025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庞大的生态系统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: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免费使用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2000" b="1" i="0">
                <a:solidFill>
                  <a:srgbClr val="2E7D32"/>
                </a:solidFill>
                <a:latin typeface="-apple-system"/>
                <a:ea typeface="-apple-system"/>
              </a:rPr>
              <a:t>npm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(Node Package Manager) 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上百万个开源软件包。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60358"/>
            <a:ext cx="5080000" cy="11372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444444"/>
                </a:solidFill>
                <a:latin typeface="-apple-system"/>
                <a:ea typeface="-apple-system"/>
              </a:rPr>
              <a:t>第一步：下载安装包</a:t>
            </a:r>
            <a:endParaRPr lang="zh-CN" altLang="en-US" sz="3300" b="1" i="0">
              <a:solidFill>
                <a:srgbClr val="444444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请访问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Node.js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官方网站：</a:t>
            </a:r>
            <a:r>
              <a:rPr lang="en-US" altLang="zh-CN" sz="1600" b="0" i="0">
                <a:solidFill>
                  <a:srgbClr val="4CAF50"/>
                </a:solidFill>
                <a:latin typeface="-apple-system"/>
                <a:ea typeface="-apple-system"/>
                <a:hlinkClick r:id="rId1"/>
              </a:rPr>
              <a:t>nodejs.org</a:t>
            </a:r>
            <a:endParaRPr lang="en-US" altLang="zh-CN" sz="1600" b="0" i="0">
              <a:solidFill>
                <a:srgbClr val="4CAF50"/>
              </a:solidFill>
              <a:latin typeface="-apple-system"/>
              <a:ea typeface="-apple-system"/>
              <a:hlinkClick r:id="rId1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465201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i="0">
                <a:solidFill>
                  <a:srgbClr val="555555"/>
                </a:solidFill>
                <a:latin typeface="-apple-system"/>
                <a:ea typeface="-apple-system"/>
              </a:rPr>
              <a:t>LTS vs Current:</a:t>
            </a:r>
            <a:endParaRPr lang="en-US" altLang="zh-CN" sz="1600" i="0">
              <a:solidFill>
                <a:srgbClr val="555555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- </a:t>
            </a:r>
            <a:r>
              <a:rPr lang="en-US" altLang="zh-CN" sz="1600" b="1" i="0">
                <a:solidFill>
                  <a:srgbClr val="2E7D32"/>
                </a:solidFill>
                <a:latin typeface="-apple-system"/>
                <a:ea typeface="-apple-system"/>
              </a:rPr>
              <a:t>LTS (</a:t>
            </a:r>
            <a:r>
              <a:rPr lang="zh-CN" altLang="en-US" sz="1600" b="1" i="0">
                <a:solidFill>
                  <a:srgbClr val="2E7D32"/>
                </a:solidFill>
                <a:latin typeface="-apple-system"/>
                <a:ea typeface="-apple-system"/>
              </a:rPr>
              <a:t>长期支持版</a:t>
            </a:r>
            <a:r>
              <a:rPr lang="en-US" altLang="zh-CN" sz="1600" b="1" i="0">
                <a:solidFill>
                  <a:srgbClr val="2E7D32"/>
                </a:solidFill>
                <a:latin typeface="-apple-system"/>
                <a:ea typeface="-apple-system"/>
              </a:rPr>
              <a:t>)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推荐给绝大部分用户。它更稳定，拥有更长的维护周期。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- </a:t>
            </a:r>
            <a:r>
              <a:rPr lang="en-US" altLang="zh-CN" sz="1600" b="1" i="0">
                <a:solidFill>
                  <a:srgbClr val="D9534F"/>
                </a:solidFill>
                <a:latin typeface="-apple-system"/>
                <a:ea typeface="-apple-system"/>
              </a:rPr>
              <a:t>Current (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最新版</a:t>
            </a:r>
            <a:r>
              <a:rPr lang="en-US" altLang="zh-CN" sz="1600" b="1" i="0">
                <a:solidFill>
                  <a:srgbClr val="D9534F"/>
                </a:solidFill>
                <a:latin typeface="-apple-system"/>
                <a:ea typeface="-apple-system"/>
              </a:rPr>
              <a:t>)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包含最新的功能，但可能不稳定，适合想尝鲜的开发者。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i="0">
                <a:solidFill>
                  <a:srgbClr val="555555"/>
                </a:solidFill>
                <a:latin typeface="-apple-system"/>
                <a:ea typeface="-apple-system"/>
              </a:rPr>
              <a:t>企业</a:t>
            </a:r>
            <a:r>
              <a:rPr lang="zh-CN" altLang="en-US" sz="1600" i="0">
                <a:solidFill>
                  <a:srgbClr val="555555"/>
                </a:solidFill>
                <a:latin typeface="-apple-system"/>
                <a:ea typeface="-apple-system"/>
              </a:rPr>
              <a:t>开发请务必选择</a:t>
            </a:r>
            <a:r>
              <a:rPr lang="en-US" altLang="zh-CN" sz="1600" i="0">
                <a:solidFill>
                  <a:srgbClr val="555555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2E7D32"/>
                </a:solidFill>
                <a:latin typeface="-apple-system"/>
                <a:ea typeface="-apple-system"/>
              </a:rPr>
              <a:t>LTS</a:t>
            </a:r>
            <a:r>
              <a:rPr lang="en-US" altLang="zh-CN" sz="1600" i="0">
                <a:solidFill>
                  <a:srgbClr val="555555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i="0">
                <a:solidFill>
                  <a:srgbClr val="555555"/>
                </a:solidFill>
                <a:latin typeface="-apple-system"/>
                <a:ea typeface="-apple-system"/>
              </a:rPr>
              <a:t>版本！</a:t>
            </a:r>
            <a:endParaRPr lang="zh-CN" altLang="en-US" sz="160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599247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44444"/>
                </a:solidFill>
                <a:latin typeface="-apple-system"/>
                <a:ea typeface="-apple-system"/>
              </a:rPr>
              <a:t>第二步：运行安装程序</a:t>
            </a:r>
            <a:endParaRPr lang="zh-CN" altLang="en-US" sz="2700" b="1" i="0">
              <a:solidFill>
                <a:srgbClr val="444444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双击下载好的文件，启动安装向导。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4022408"/>
            <a:ext cx="5080000" cy="24453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ts val="1800"/>
              </a:spcBef>
            </a:pPr>
            <a:r>
              <a:rPr lang="zh-CN" altLang="en-US" sz="2800" b="0" i="0">
                <a:solidFill>
                  <a:srgbClr val="333333"/>
                </a:solidFill>
                <a:latin typeface="-apple-system"/>
                <a:ea typeface="-apple-system"/>
              </a:rPr>
              <a:t>整个过程基本就是不断点击</a:t>
            </a:r>
            <a:r>
              <a:rPr lang="en-US" altLang="zh-CN" sz="28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2800" b="1" i="0">
                <a:solidFill>
                  <a:srgbClr val="2E7D32"/>
                </a:solidFill>
                <a:latin typeface="-apple-system"/>
                <a:ea typeface="-apple-system"/>
              </a:rPr>
              <a:t>"Next"</a:t>
            </a:r>
            <a:r>
              <a:rPr lang="en-US" altLang="zh-CN" sz="28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800" b="0" i="0">
                <a:solidFill>
                  <a:srgbClr val="333333"/>
                </a:solidFill>
                <a:latin typeface="-apple-system"/>
                <a:ea typeface="-apple-system"/>
              </a:rPr>
              <a:t>或</a:t>
            </a:r>
            <a:r>
              <a:rPr lang="en-US" altLang="zh-CN" sz="28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2800" b="1" i="0">
                <a:solidFill>
                  <a:srgbClr val="2E7D32"/>
                </a:solidFill>
                <a:latin typeface="-apple-system"/>
                <a:ea typeface="-apple-system"/>
              </a:rPr>
              <a:t>"Continue"</a:t>
            </a:r>
            <a:r>
              <a:rPr lang="zh-CN" altLang="en-US" sz="2800" b="0" i="0">
                <a:solidFill>
                  <a:srgbClr val="333333"/>
                </a:solidFill>
                <a:latin typeface="-apple-system"/>
                <a:ea typeface="-apple-system"/>
              </a:rPr>
              <a:t>。保持默认选项即可。</a:t>
            </a:r>
            <a:endParaRPr lang="zh-CN" altLang="en-US" sz="28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安装程序会自动将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node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和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0" i="0">
                <a:solidFill>
                  <a:srgbClr val="333333"/>
                </a:solidFill>
                <a:latin typeface="Courier New" panose="02070309020205020404"/>
                <a:ea typeface="Courier New" panose="02070309020205020404"/>
              </a:rPr>
              <a:t>npm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命令添加到系统的环境变量中，无需手动配置。</a:t>
            </a:r>
            <a:endParaRPr lang="zh-CN" altLang="en-US" sz="23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80477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44444"/>
                </a:solidFill>
                <a:latin typeface="-apple-system"/>
                <a:ea typeface="-apple-system"/>
              </a:rPr>
              <a:t>第三步：验证安装</a:t>
            </a:r>
            <a:endParaRPr lang="zh-CN" altLang="en-US" sz="2700" b="1" i="0">
              <a:solidFill>
                <a:srgbClr val="444444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安装完成后，打开你的命令行工具：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613977"/>
            <a:ext cx="5080000" cy="26149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2800" b="0" i="0">
                <a:solidFill>
                  <a:schemeClr val="tx1"/>
                </a:solidFill>
                <a:latin typeface="-apple-system"/>
                <a:ea typeface="-apple-system"/>
              </a:rPr>
              <a:t>输入以下两个命令，并按回车。如果能看到版本号，就代表成功了！</a:t>
            </a:r>
            <a:endParaRPr lang="zh-CN" altLang="en-US" sz="28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$node -</a:t>
            </a: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v</a:t>
            </a:r>
            <a:endParaRPr lang="en-US" altLang="zh-CN" sz="1600" b="0" i="0">
              <a:solidFill>
                <a:schemeClr val="tx1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// </a:t>
            </a:r>
            <a:r>
              <a:rPr lang="zh-CN" altLang="en-US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显示你的</a:t>
            </a: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Node.js</a:t>
            </a:r>
            <a:r>
              <a:rPr lang="zh-CN" altLang="en-US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版本</a:t>
            </a:r>
            <a:endParaRPr lang="zh-CN" altLang="en-US" sz="1600" b="0" i="0">
              <a:solidFill>
                <a:schemeClr val="tx1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chemeClr val="tx1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$npm -</a:t>
            </a: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v</a:t>
            </a:r>
            <a:endParaRPr lang="en-US" altLang="zh-CN" sz="1600" b="0" i="0">
              <a:solidFill>
                <a:schemeClr val="tx1"/>
              </a:solidFill>
              <a:latin typeface="Courier New" panose="02070309020205020404"/>
              <a:ea typeface="Courier New" panose="020703090202050204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// </a:t>
            </a:r>
            <a:r>
              <a:rPr lang="zh-CN" altLang="en-US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显示你的</a:t>
            </a:r>
            <a:r>
              <a:rPr lang="en-US" altLang="zh-CN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npm</a:t>
            </a:r>
            <a:r>
              <a:rPr lang="zh-CN" altLang="en-US" sz="1600" b="0" i="0">
                <a:solidFill>
                  <a:schemeClr val="tx1"/>
                </a:solidFill>
                <a:latin typeface="Courier New" panose="02070309020205020404"/>
                <a:ea typeface="Courier New" panose="02070309020205020404"/>
              </a:rPr>
              <a:t>版本</a:t>
            </a:r>
            <a:endParaRPr lang="zh-CN" altLang="en-US" sz="1600" b="0" i="0">
              <a:solidFill>
                <a:schemeClr val="tx1"/>
              </a:solidFill>
              <a:latin typeface="Courier New" panose="02070309020205020404"/>
              <a:ea typeface="Courier New" panose="020703090202050204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621915"/>
            <a:ext cx="5080000" cy="16141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从</a:t>
            </a:r>
            <a:r>
              <a:rPr lang="zh-CN" altLang="en-US" sz="3600" b="1" i="0">
                <a:solidFill>
                  <a:srgbClr val="D9534F"/>
                </a:solidFill>
                <a:latin typeface="-apple-system"/>
                <a:ea typeface="-apple-system"/>
              </a:rPr>
              <a:t>物理样机</a:t>
            </a: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到</a:t>
            </a:r>
            <a:r>
              <a:rPr lang="zh-CN" altLang="en-US" sz="3600" b="1" i="0">
                <a:solidFill>
                  <a:srgbClr val="D9534F"/>
                </a:solidFill>
                <a:latin typeface="-apple-system"/>
                <a:ea typeface="-apple-system"/>
              </a:rPr>
              <a:t>数字孪生</a:t>
            </a:r>
            <a:r>
              <a:rPr lang="zh-CN" altLang="en-US" sz="3600" b="1" i="0">
                <a:solidFill>
                  <a:srgbClr val="003366"/>
                </a:solidFill>
                <a:latin typeface="-apple-system"/>
                <a:ea typeface="-apple-system"/>
              </a:rPr>
              <a:t>的变革</a:t>
            </a:r>
            <a:endParaRPr lang="zh-CN" altLang="en-US" sz="36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6000"/>
              </a:spcBef>
            </a:pP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开启机器人开发新范式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221548"/>
            <a:ext cx="5080000" cy="22453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5A9E"/>
                </a:solidFill>
                <a:latin typeface="-apple-system"/>
                <a:ea typeface="-apple-system"/>
              </a:rPr>
              <a:t>回顾与设问</a:t>
            </a:r>
            <a:endParaRPr lang="zh-CN" altLang="en-US" sz="25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2400"/>
              </a:spcBef>
            </a:pPr>
            <a:r>
              <a:rPr lang="zh-CN" altLang="en-US" sz="2100" b="0" i="0">
                <a:solidFill>
                  <a:srgbClr val="005A9E"/>
                </a:solidFill>
                <a:latin typeface="-apple-system"/>
                <a:ea typeface="-apple-system"/>
              </a:rPr>
              <a:t>现在，一个关键问题摆在我们面前，实际开发</a:t>
            </a:r>
            <a:r>
              <a:rPr lang="zh-CN" altLang="en-US" sz="2100" b="0" i="0">
                <a:solidFill>
                  <a:srgbClr val="005A9E"/>
                </a:solidFill>
                <a:latin typeface="-apple-system"/>
                <a:ea typeface="-apple-system"/>
              </a:rPr>
              <a:t>过程中：</a:t>
            </a:r>
            <a:endParaRPr lang="zh-CN" altLang="en-US" sz="2100" b="0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900" b="1" i="0">
                <a:solidFill>
                  <a:srgbClr val="333333"/>
                </a:solidFill>
                <a:latin typeface="-apple-system"/>
                <a:ea typeface="-apple-system"/>
              </a:rPr>
              <a:t>我们是应该立刻开始在</a:t>
            </a:r>
            <a:r>
              <a:rPr lang="zh-CN" altLang="en-US" sz="1900" b="1" i="0">
                <a:solidFill>
                  <a:srgbClr val="D9534F"/>
                </a:solidFill>
                <a:latin typeface="-apple-system"/>
                <a:ea typeface="-apple-system"/>
              </a:rPr>
              <a:t>真实的机械臂</a:t>
            </a:r>
            <a:r>
              <a:rPr lang="zh-CN" altLang="en-US" sz="1900" b="1" i="0">
                <a:solidFill>
                  <a:srgbClr val="333333"/>
                </a:solidFill>
                <a:latin typeface="-apple-system"/>
                <a:ea typeface="-apple-system"/>
              </a:rPr>
              <a:t>上编写和测试代码吗？</a:t>
            </a:r>
            <a:endParaRPr lang="zh-CN" altLang="en-US" sz="1900" b="1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741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直接开发的潜在挑战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43610" y="263969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风险：物理损坏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43610" y="3357880"/>
            <a:ext cx="5080000" cy="86042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想象一下，一个运动学算法中的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微小</a:t>
            </a:r>
            <a:r>
              <a:rPr lang="en-US" altLang="zh-CN" sz="1600" b="1" i="0">
                <a:solidFill>
                  <a:srgbClr val="D9534F"/>
                </a:solidFill>
                <a:latin typeface="-apple-system"/>
                <a:ea typeface="-apple-system"/>
              </a:rPr>
              <a:t>bug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，可能会导致机械臂撞到自身或桌面，造成昂贵的物理损坏。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952615" y="263969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成本：时间与损耗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952615" y="3357880"/>
            <a:ext cx="5080000" cy="86042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调试一个抓取算法，可能需要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成千上万次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的重复抓取。这个过程不仅耗时，还会加速硬件的磨损。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052320"/>
            <a:ext cx="5080000" cy="27533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5A9E"/>
                </a:solidFill>
                <a:latin typeface="-apple-system"/>
                <a:ea typeface="-apple-system"/>
              </a:rPr>
              <a:t>寻找更优解</a:t>
            </a:r>
            <a:endParaRPr lang="zh-CN" altLang="en-US" sz="25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有没有一种方法，可以让我们在动手操作真实硬件</a:t>
            </a:r>
            <a:r>
              <a:rPr lang="zh-CN" altLang="en-US" sz="1900" b="1" i="0">
                <a:solidFill>
                  <a:srgbClr val="D9534F"/>
                </a:solidFill>
                <a:latin typeface="-apple-system"/>
                <a:ea typeface="-apple-system"/>
              </a:rPr>
              <a:t>之前</a:t>
            </a:r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，就完成大部分的开发、测试、甚至优化工作呢？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1800"/>
              </a:spcAft>
            </a:pPr>
            <a:r>
              <a:rPr lang="zh-CN" altLang="en-US" sz="2500" b="1" i="0">
                <a:solidFill>
                  <a:srgbClr val="005A9E"/>
                </a:solidFill>
                <a:latin typeface="-apple-system"/>
                <a:ea typeface="-apple-system"/>
              </a:rPr>
              <a:t>解决方案</a:t>
            </a:r>
            <a:r>
              <a:rPr lang="en-US" altLang="zh-CN" sz="2500" b="1" i="0">
                <a:solidFill>
                  <a:srgbClr val="005A9E"/>
                </a:solidFill>
                <a:latin typeface="-apple-system"/>
                <a:ea typeface="-apple-system"/>
              </a:rPr>
              <a:t>——</a:t>
            </a:r>
            <a:endParaRPr lang="en-US" altLang="zh-CN" sz="25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仿真驱动的开发模式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105977"/>
            <a:ext cx="5080000" cy="26460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5A9E"/>
                </a:solidFill>
                <a:latin typeface="-apple-system"/>
                <a:ea typeface="-apple-system"/>
              </a:rPr>
              <a:t>概念升维：从“仿真”到“数字孪生”</a:t>
            </a:r>
            <a:endParaRPr lang="zh-CN" altLang="en-US" sz="25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仿真 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(Simulation)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这个词大家可能不陌生。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24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但今天，我想引入一个更宏大、更深刻的概念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——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3200" b="1" i="0">
                <a:solidFill>
                  <a:srgbClr val="D9534F"/>
                </a:solidFill>
                <a:latin typeface="-apple-system"/>
                <a:ea typeface="-apple-system"/>
              </a:rPr>
              <a:t>数字孪生 </a:t>
            </a:r>
            <a:r>
              <a:rPr lang="en-US" altLang="zh-CN" sz="3200" b="1" i="0">
                <a:solidFill>
                  <a:srgbClr val="D9534F"/>
                </a:solidFill>
                <a:latin typeface="-apple-system"/>
                <a:ea typeface="-apple-system"/>
              </a:rPr>
              <a:t>(Digital Twin)</a:t>
            </a:r>
            <a:endParaRPr lang="en-US" altLang="zh-CN" sz="3200" b="1" i="0">
              <a:solidFill>
                <a:srgbClr val="D9534F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18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什么是数字孪生？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4045" y="1480502"/>
            <a:ext cx="5080000" cy="16249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0" i="0">
                <a:solidFill>
                  <a:srgbClr val="333333"/>
                </a:solidFill>
                <a:latin typeface="-apple-system"/>
                <a:ea typeface="-apple-system"/>
              </a:rPr>
              <a:t>传统仿真</a:t>
            </a:r>
            <a:endParaRPr lang="zh-CN" altLang="en-US" sz="22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焦点：特定过程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范围：局部、离线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目的：分析与验证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例子：一个齿轮的受力分析，一个电路的性能模拟。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0" y="1405572"/>
            <a:ext cx="5080000" cy="16249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1" i="0">
                <a:solidFill>
                  <a:srgbClr val="D9534F"/>
                </a:solidFill>
                <a:latin typeface="-apple-system"/>
                <a:ea typeface="-apple-system"/>
              </a:rPr>
              <a:t>数字孪生</a:t>
            </a:r>
            <a:endParaRPr lang="zh-CN" altLang="en-US" sz="22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焦点：完整实体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范围：全局、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实时同步</a:t>
            </a:r>
            <a:endParaRPr lang="zh-CN" altLang="en-US" sz="16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目的：预测、监控、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闭环交互</a:t>
            </a:r>
            <a:endParaRPr lang="zh-CN" altLang="en-US" sz="1600" b="1" i="0">
              <a:solidFill>
                <a:srgbClr val="D9534F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核心：在数字空间创建物理实体的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动态虚拟副本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481933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它不仅有相同的外观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Geometry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，还有相同的物理属性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Physics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，能接收传感器数据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Sensing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并响应控制指令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Actuation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223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数字孪生的应用</a:t>
            </a:r>
            <a:endParaRPr lang="zh-CN" altLang="en-US" sz="1600" b="1" i="0">
              <a:solidFill>
                <a:srgbClr val="005A9E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8275" y="3077210"/>
            <a:ext cx="3388360" cy="126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900"/>
              </a:spcAft>
            </a:pP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工业界</a:t>
            </a:r>
            <a:endParaRPr lang="zh-CN" altLang="en-US" sz="21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GE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航空为每个发动机创建数字孪生，实时监控状态，预测故障，优化维护周期。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99280" y="3077210"/>
            <a:ext cx="3731260" cy="126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900"/>
              </a:spcAft>
            </a:pP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智慧城市</a:t>
            </a:r>
            <a:endParaRPr lang="zh-CN" altLang="en-US" sz="21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创建整个城市的交通系统孪生体，用于模拟交通流量，优化信号灯配时，规划应急路线。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57895" y="3077210"/>
            <a:ext cx="3497580" cy="1268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900"/>
              </a:spcAft>
            </a:pPr>
            <a:r>
              <a:rPr lang="zh-CN" altLang="en-US" sz="2100" b="0" i="0">
                <a:solidFill>
                  <a:srgbClr val="333333"/>
                </a:solidFill>
                <a:latin typeface="-apple-system"/>
                <a:ea typeface="-apple-system"/>
              </a:rPr>
              <a:t>航天领域</a:t>
            </a:r>
            <a:endParaRPr lang="zh-CN" altLang="en-US" sz="21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NASA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为火星车创建数字孪生，在地球上模拟火星环境，测试行驶路径和操作指令的安全性。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929130"/>
            <a:ext cx="5080000" cy="29997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5A9E"/>
                </a:solidFill>
                <a:latin typeface="-apple-system"/>
                <a:ea typeface="-apple-system"/>
              </a:rPr>
              <a:t>结论：我们的任务</a:t>
            </a:r>
            <a:endParaRPr lang="zh-CN" altLang="en-US" sz="2500" b="1" i="0">
              <a:solidFill>
                <a:srgbClr val="005A9E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900" b="0" i="0">
                <a:solidFill>
                  <a:srgbClr val="333333"/>
                </a:solidFill>
                <a:latin typeface="-apple-system"/>
                <a:ea typeface="-apple-system"/>
              </a:rPr>
              <a:t>对于我们的机器人课程而言，</a:t>
            </a:r>
            <a:endParaRPr lang="zh-CN" altLang="en-US" sz="19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2300" b="1" i="0">
                <a:solidFill>
                  <a:srgbClr val="003366"/>
                </a:solidFill>
                <a:latin typeface="-apple-system"/>
                <a:ea typeface="-apple-system"/>
              </a:rPr>
              <a:t>我们即将要做的，就是为我们的实体机械臂，</a:t>
            </a:r>
            <a:endParaRPr lang="zh-CN" altLang="en-US" sz="23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2300" b="1" i="0">
                <a:solidFill>
                  <a:srgbClr val="003366"/>
                </a:solidFill>
                <a:latin typeface="-apple-system"/>
                <a:ea typeface="-apple-system"/>
              </a:rPr>
              <a:t>创建一个它的</a:t>
            </a:r>
            <a:r>
              <a:rPr lang="zh-CN" altLang="en-US" sz="2300" b="1" i="0">
                <a:solidFill>
                  <a:srgbClr val="D9534F"/>
                </a:solidFill>
                <a:latin typeface="-apple-system"/>
                <a:ea typeface="-apple-system"/>
              </a:rPr>
              <a:t>数字孪生体</a:t>
            </a:r>
            <a:r>
              <a:rPr lang="zh-CN" altLang="en-US" sz="2300" b="1" i="0">
                <a:solidFill>
                  <a:srgbClr val="003366"/>
                </a:solidFill>
                <a:latin typeface="-apple-system"/>
                <a:ea typeface="-apple-system"/>
              </a:rPr>
              <a:t>。</a:t>
            </a:r>
            <a:endParaRPr lang="zh-CN" altLang="en-US" sz="23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这个孪生体将成为我们主要的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开发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测试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和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实验平台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1090" y="1156970"/>
            <a:ext cx="5080000" cy="8915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600" b="1" i="0">
                <a:solidFill>
                  <a:srgbClr val="003366"/>
                </a:solidFill>
                <a:latin typeface="-apple-system"/>
                <a:ea typeface="-apple-system"/>
              </a:rPr>
              <a:t>为何仿真不可或缺？</a:t>
            </a:r>
            <a:endParaRPr lang="zh-CN" altLang="en-US" sz="2600" b="1" i="0">
              <a:solidFill>
                <a:srgbClr val="003366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现代机器人开发的三大核心价值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390" y="2502535"/>
            <a:ext cx="5080000" cy="3826510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4500" b="0" i="0">
                <a:solidFill>
                  <a:srgbClr val="007BFF"/>
                </a:solidFill>
                <a:latin typeface="-apple-system"/>
                <a:ea typeface="-apple-system"/>
              </a:rPr>
              <a:t>💰</a:t>
            </a:r>
            <a:endParaRPr lang="zh-CN" altLang="en-US" sz="4500" b="0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价值一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大幅降低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开发成本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200"/>
              </a:spcAft>
            </a:pP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56865" y="2502535"/>
            <a:ext cx="6096000" cy="2099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4500">
                <a:solidFill>
                  <a:srgbClr val="007BFF"/>
                </a:solidFill>
                <a:latin typeface="-apple-system"/>
                <a:ea typeface="-apple-system"/>
                <a:sym typeface="+mn-ea"/>
              </a:rPr>
              <a:t>🛡</a:t>
            </a:r>
            <a:r>
              <a:rPr lang="en-US" altLang="zh-CN" sz="4500">
                <a:solidFill>
                  <a:srgbClr val="007BFF"/>
                </a:solidFill>
                <a:latin typeface="-apple-system"/>
                <a:ea typeface="-apple-system"/>
                <a:sym typeface="+mn-ea"/>
              </a:rPr>
              <a:t>️</a:t>
            </a:r>
            <a:endParaRPr lang="en-US" altLang="zh-CN" sz="4500" b="0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20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价值二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确保绝对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开发安全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200"/>
              </a:spcAft>
            </a:pPr>
            <a:endParaRPr lang="zh-CN" altLang="en-US" sz="1600">
              <a:solidFill>
                <a:srgbClr val="333333"/>
              </a:solidFill>
              <a:latin typeface="-apple-system"/>
              <a:ea typeface="-apple-system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2502535"/>
            <a:ext cx="6096000" cy="1852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4500">
                <a:solidFill>
                  <a:srgbClr val="007BFF"/>
                </a:solidFill>
                <a:latin typeface="-apple-system"/>
                <a:ea typeface="-apple-system"/>
                <a:sym typeface="+mn-ea"/>
              </a:rPr>
              <a:t>🚀</a:t>
            </a:r>
            <a:endParaRPr lang="zh-CN" altLang="en-US" sz="4500" b="0" i="0">
              <a:solidFill>
                <a:srgbClr val="007BFF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20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价值三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极大提升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>
                <a:solidFill>
                  <a:srgbClr val="333333"/>
                </a:solidFill>
                <a:latin typeface="-apple-system"/>
                <a:ea typeface="-apple-system"/>
                <a:sym typeface="+mn-ea"/>
              </a:rPr>
              <a:t>开发效率</a:t>
            </a:r>
            <a:endParaRPr lang="zh-CN" altLang="en-US" sz="1600">
              <a:solidFill>
                <a:srgbClr val="333333"/>
              </a:solidFill>
              <a:latin typeface="-apple-system"/>
              <a:ea typeface="-apple-system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556000" y="128968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硬件成本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(Hardware Cost)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70910" y="2080260"/>
            <a:ext cx="5080000" cy="143002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实体机器人价格昂贵。在仿真中，我们可以‘炸毁’、‘撞坏’无数个虚拟机器人，而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成本为零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。这使得大胆的、破坏性的测试成为可能。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时间成本 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(Time Cost)</a:t>
            </a:r>
            <a:endParaRPr lang="en-US" altLang="zh-CN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56000" y="4598670"/>
            <a:ext cx="5080000" cy="112204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物理实验受场地、时间限制。在仿真中，我们可以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同时运行成百上千个实验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24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小时不间断，极大地缩短研发周期。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0856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迭代成本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(Iteration Cost)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2803843"/>
            <a:ext cx="5080000" cy="196850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修改一个物理样机的设计可能需要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数周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时间。而在仿真中，修改一个模型的参数（如臂长、电机扭矩）可能只需要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几秒钟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这使得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1" i="0">
                <a:solidFill>
                  <a:srgbClr val="005A9E"/>
                </a:solidFill>
                <a:latin typeface="-apple-system"/>
                <a:ea typeface="-apple-system"/>
              </a:rPr>
              <a:t>快速设计迭代 </a:t>
            </a:r>
            <a:r>
              <a:rPr lang="en-US" altLang="zh-CN" sz="2000" b="1" i="0">
                <a:solidFill>
                  <a:srgbClr val="005A9E"/>
                </a:solidFill>
                <a:latin typeface="-apple-system"/>
                <a:ea typeface="-apple-system"/>
              </a:rPr>
              <a:t>(Rapid Prototyping)</a:t>
            </a:r>
            <a:r>
              <a:rPr lang="en-US" altLang="zh-CN" sz="20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成为可能。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3270" y="2462530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设备安全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(Equipment Safety)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270" y="3180715"/>
            <a:ext cx="5080000" cy="87566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防止因算法错误或意外情况导致的硬件损坏，这是最直观的安全价值。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49365" y="2462530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人员安全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(Personnel Safety)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9365" y="3180715"/>
            <a:ext cx="5080000" cy="87566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在人机协作场景中，新的交互算法必须在仿真中经过严格验证，确保不会对操作人员构成任何危险。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6251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极端情况测试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(Edge Case Testing)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080702"/>
            <a:ext cx="5080000" cy="141478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很多危险、极端的工况在现实中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难以复现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或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成本极高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（如失重环境、达到力矩极限）。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仿真为此提供了</a:t>
            </a:r>
            <a:r>
              <a:rPr lang="zh-CN" altLang="en-US" sz="2000" b="1" i="0">
                <a:solidFill>
                  <a:srgbClr val="005A9E"/>
                </a:solidFill>
                <a:latin typeface="-apple-system"/>
                <a:ea typeface="-apple-system"/>
              </a:rPr>
              <a:t>完美的、安全的测试环境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50888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前端开发与后端解耦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227070"/>
            <a:ext cx="5080000" cy="112204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算法工程师可以在仿真环境中开发调试，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无需等待物理样机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制造完成。这实现了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软硬件开发的并行化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，大大缩短了产品上市时间。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08990"/>
            <a:ext cx="5080000" cy="23304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b="0" i="0">
                <a:solidFill>
                  <a:srgbClr val="333333"/>
                </a:solidFill>
                <a:latin typeface="-apple-system"/>
                <a:ea typeface="-apple-system"/>
              </a:rPr>
              <a:t>当现实世界中的算法失败时，我们很难判断问题根源。</a:t>
            </a:r>
            <a:endParaRPr lang="zh-CN" altLang="en-US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现实世界</a:t>
            </a:r>
            <a:endParaRPr lang="zh-CN" altLang="en-US" sz="23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算法 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Bug?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传感器噪声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?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机械误差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?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❔ 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环境干扰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?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416718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仿真提供了一个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“纯净”的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、排除了物理不确定性的理想环境，便于我们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首先验证算法逻辑的正确性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26250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自动化测试与回归测试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2980690"/>
            <a:ext cx="5080000" cy="161480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900"/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我们可以编写脚本，让机器人在仿真中自动执行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上千个测试用例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每次代码更新后，都能自动进行</a:t>
            </a:r>
            <a:r>
              <a:rPr lang="zh-CN" altLang="en-US" sz="1600" b="1" i="0">
                <a:solidFill>
                  <a:srgbClr val="005A9E"/>
                </a:solidFill>
                <a:latin typeface="-apple-system"/>
                <a:ea typeface="-apple-system"/>
              </a:rPr>
              <a:t>回归测试 </a:t>
            </a:r>
            <a:r>
              <a:rPr lang="en-US" altLang="zh-CN" sz="1600" b="1" i="0">
                <a:solidFill>
                  <a:srgbClr val="005A9E"/>
                </a:solidFill>
                <a:latin typeface="-apple-system"/>
                <a:ea typeface="-apple-system"/>
              </a:rPr>
              <a:t>(Regression Testing)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，确保没有引入新的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bug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。这在物理世界中是难以想象的。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83230"/>
            <a:ext cx="5080000" cy="8915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600" b="1" i="0">
                <a:solidFill>
                  <a:srgbClr val="341F51"/>
                </a:solidFill>
                <a:latin typeface="-apple-system"/>
                <a:ea typeface="-apple-system"/>
              </a:rPr>
              <a:t>现代机器人</a:t>
            </a:r>
            <a:r>
              <a:rPr lang="en-US" altLang="zh-CN" sz="2600" b="1" i="0">
                <a:solidFill>
                  <a:srgbClr val="341F51"/>
                </a:solidFill>
                <a:latin typeface="-apple-system"/>
                <a:ea typeface="-apple-system"/>
              </a:rPr>
              <a:t>AI</a:t>
            </a:r>
            <a:r>
              <a:rPr lang="zh-CN" altLang="en-US" sz="2600" b="1" i="0">
                <a:solidFill>
                  <a:srgbClr val="341F51"/>
                </a:solidFill>
                <a:latin typeface="-apple-system"/>
                <a:ea typeface="-apple-system"/>
              </a:rPr>
              <a:t>的“虚拟训练场”</a:t>
            </a:r>
            <a:endParaRPr lang="zh-CN" altLang="en-US" sz="2600" b="1" i="0">
              <a:solidFill>
                <a:srgbClr val="341F51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仿真如何驱动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AI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机器人学习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48000" y="241363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数据驱动</a:t>
            </a:r>
            <a:r>
              <a:rPr lang="en-US" altLang="zh-CN"/>
              <a:t>AI</a:t>
            </a:r>
            <a:r>
              <a:rPr lang="zh-CN" altLang="en-US"/>
              <a:t>的困境</a:t>
            </a:r>
            <a:endParaRPr lang="zh-CN" altLang="en-US"/>
          </a:p>
          <a:p>
            <a:r>
              <a:rPr lang="zh-CN" altLang="en-US"/>
              <a:t>现代</a:t>
            </a:r>
            <a:r>
              <a:rPr lang="en-US" altLang="zh-CN"/>
              <a:t>AI</a:t>
            </a:r>
            <a:r>
              <a:rPr lang="zh-CN" altLang="en-US"/>
              <a:t>，尤其是深度学习，是名副其实的</a:t>
            </a:r>
            <a:r>
              <a:rPr lang="en-US" altLang="zh-CN"/>
              <a:t> “</a:t>
            </a:r>
            <a:r>
              <a:rPr lang="zh-CN" altLang="en-US"/>
              <a:t>数据饕餮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训练一个图像识别模型需要数百万张图片。那么，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训练一个机器人抓取模型需要什么？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34402"/>
            <a:ext cx="5080000" cy="122999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63265"/>
                </a:solidFill>
                <a:latin typeface="-apple-system"/>
                <a:ea typeface="-apple-system"/>
              </a:rPr>
              <a:t>物理世界的数据采集瓶颈</a:t>
            </a:r>
            <a:endParaRPr lang="zh-CN" altLang="en-US" sz="27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机器人学习需要数百万次的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1" i="0">
                <a:solidFill>
                  <a:srgbClr val="6A1B9A"/>
                </a:solidFill>
                <a:latin typeface="-apple-system"/>
                <a:ea typeface="-apple-system"/>
              </a:rPr>
              <a:t>交互数据 </a:t>
            </a:r>
            <a:r>
              <a:rPr lang="en-US" altLang="zh-CN" sz="1600" b="1" i="0">
                <a:solidFill>
                  <a:srgbClr val="6A1B9A"/>
                </a:solidFill>
                <a:latin typeface="-apple-system"/>
                <a:ea typeface="-apple-system"/>
              </a:rPr>
              <a:t>(State, Action, Reward)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1065" y="34293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让一个实体机器人尝试抓取一百万次，可能需要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数年时间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，并且硬件早已报废。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91910" y="35975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这就是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无法逾越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的物理世界数据采集瓶颈。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96615" y="1348105"/>
            <a:ext cx="5080000" cy="8915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100" b="1" i="0">
                <a:solidFill>
                  <a:srgbClr val="463265"/>
                </a:solidFill>
                <a:latin typeface="-apple-system"/>
                <a:ea typeface="-apple-system"/>
              </a:rPr>
              <a:t>仿真：无限数据生成器</a:t>
            </a:r>
            <a:endParaRPr lang="zh-CN" altLang="en-US" sz="21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Simulation as an Infinite Data Generator</a:t>
            </a:r>
            <a:endParaRPr lang="en-US" altLang="zh-CN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31372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仿真为我们提供了近乎</a:t>
            </a:r>
            <a:r>
              <a:rPr lang="zh-CN" altLang="en-US" sz="1600" b="1" i="0">
                <a:solidFill>
                  <a:srgbClr val="6A1B9A"/>
                </a:solidFill>
                <a:latin typeface="-apple-system"/>
                <a:ea typeface="-apple-system"/>
              </a:rPr>
              <a:t>无限、廉价、高速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的数据来源，彻底打破了物理瓶颈。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567940"/>
            <a:ext cx="5080000" cy="172212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63265"/>
                </a:solidFill>
                <a:latin typeface="-apple-system"/>
                <a:ea typeface="-apple-system"/>
              </a:rPr>
              <a:t>强化学习</a:t>
            </a:r>
            <a:r>
              <a:rPr lang="en-US" altLang="zh-CN" sz="2700" b="1" i="0">
                <a:solidFill>
                  <a:srgbClr val="463265"/>
                </a:solidFill>
                <a:latin typeface="-apple-system"/>
                <a:ea typeface="-apple-system"/>
              </a:rPr>
              <a:t>(RL)</a:t>
            </a:r>
            <a:r>
              <a:rPr lang="zh-CN" altLang="en-US" sz="2700" b="1" i="0">
                <a:solidFill>
                  <a:srgbClr val="463265"/>
                </a:solidFill>
                <a:latin typeface="-apple-system"/>
                <a:ea typeface="-apple-system"/>
              </a:rPr>
              <a:t>的摇篮</a:t>
            </a:r>
            <a:endParaRPr lang="zh-CN" altLang="en-US" sz="27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仿真环境是强化学习算法最理想的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“训练场”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智能体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(Agent)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可以在虚拟世界里进行</a:t>
            </a:r>
            <a:r>
              <a:rPr lang="zh-CN" altLang="en-US" sz="1600" b="1" i="0">
                <a:solidFill>
                  <a:srgbClr val="6A1B9A"/>
                </a:solidFill>
                <a:latin typeface="-apple-system"/>
                <a:ea typeface="-apple-system"/>
              </a:rPr>
              <a:t>数亿次的试错 </a:t>
            </a:r>
            <a:r>
              <a:rPr lang="en-US" altLang="zh-CN" sz="1600" b="1" i="0">
                <a:solidFill>
                  <a:srgbClr val="6A1B9A"/>
                </a:solidFill>
                <a:latin typeface="-apple-system"/>
                <a:ea typeface="-apple-system"/>
              </a:rPr>
              <a:t>(Trial and Error)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，学习从失败中总结经验，而这一切都可以在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几个小时内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完成。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429192"/>
            <a:ext cx="5080000" cy="1999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463265"/>
                </a:solidFill>
                <a:latin typeface="-apple-system"/>
                <a:ea typeface="-apple-system"/>
              </a:rPr>
              <a:t>监督学习的数据增强</a:t>
            </a:r>
            <a:endParaRPr lang="zh-CN" altLang="en-US" sz="33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对于模仿学习等范式，仿真不仅能生成海量理想数据，更能通过</a:t>
            </a:r>
            <a:r>
              <a:rPr lang="zh-CN" altLang="en-US" sz="2000" b="1" i="0">
                <a:solidFill>
                  <a:srgbClr val="6A1B9A"/>
                </a:solidFill>
                <a:latin typeface="-apple-system"/>
                <a:ea typeface="-apple-system"/>
              </a:rPr>
              <a:t>“领域随机化”</a:t>
            </a:r>
            <a:r>
              <a:rPr lang="zh-CN" altLang="en-US" sz="2000" b="0" i="0">
                <a:solidFill>
                  <a:srgbClr val="333333"/>
                </a:solidFill>
                <a:latin typeface="-apple-system"/>
                <a:ea typeface="-apple-system"/>
              </a:rPr>
              <a:t>技术，生成千奇百怪的数据。</a:t>
            </a:r>
            <a:endParaRPr lang="zh-CN" altLang="en-US" sz="20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随机改变光照、纹理、物体位置、物理参数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..</a:t>
            </a:r>
            <a:endParaRPr lang="en-US" altLang="zh-CN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523970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用这些数据训练出的模型，在真实世界中的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泛化能力 </a:t>
            </a:r>
            <a:r>
              <a:rPr lang="en-US" altLang="zh-CN" sz="1600" b="1" i="0">
                <a:solidFill>
                  <a:srgbClr val="D9534F"/>
                </a:solidFill>
                <a:latin typeface="-apple-system"/>
                <a:ea typeface="-apple-system"/>
              </a:rPr>
              <a:t>(Generalization)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会更强。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48000" y="1721485"/>
            <a:ext cx="6096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Sim-to-Real </a:t>
            </a:r>
            <a:r>
              <a:rPr lang="zh-CN" altLang="en-US"/>
              <a:t>的挑战</a:t>
            </a:r>
            <a:endParaRPr lang="zh-CN" altLang="en-US"/>
          </a:p>
          <a:p>
            <a:r>
              <a:rPr lang="zh-CN" altLang="en-US"/>
              <a:t>当然，从仿真到现实并非一帆风顺。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由于仿真模型无法</a:t>
            </a:r>
            <a:r>
              <a:rPr lang="en-US" altLang="zh-CN"/>
              <a:t>100%</a:t>
            </a:r>
            <a:r>
              <a:rPr lang="zh-CN" altLang="en-US"/>
              <a:t>精确模拟真实世界，存在所谓的</a:t>
            </a:r>
            <a:r>
              <a:rPr lang="en-US" altLang="zh-CN"/>
              <a:t>“</a:t>
            </a:r>
            <a:r>
              <a:rPr lang="zh-CN" altLang="en-US"/>
              <a:t>现实鸿沟</a:t>
            </a:r>
            <a:r>
              <a:rPr lang="en-US" altLang="zh-CN"/>
              <a:t>” (Reality Gap)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仿真</a:t>
            </a:r>
            <a:r>
              <a:rPr lang="en-US" altLang="zh-CN"/>
              <a:t> (Sim)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Reality Gap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现实</a:t>
            </a:r>
            <a:r>
              <a:rPr lang="en-US" altLang="zh-CN"/>
              <a:t> (Real)</a:t>
            </a:r>
            <a:endParaRPr lang="en-US" altLang="zh-CN"/>
          </a:p>
          <a:p>
            <a:r>
              <a:rPr lang="zh-CN" altLang="en-US"/>
              <a:t>在仿真中完美的策略，到现实中可能会失效。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19500" y="834072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63265"/>
                </a:solidFill>
                <a:latin typeface="-apple-system"/>
                <a:ea typeface="-apple-system"/>
              </a:rPr>
              <a:t>如何弥合“现实鸿沟”？</a:t>
            </a:r>
            <a:endParaRPr lang="zh-CN" altLang="en-US" sz="27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这是当前机器人领域最核心的研究方向之一。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6410" y="3101975"/>
            <a:ext cx="3041650" cy="12757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领域随机化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700" b="0" i="0">
                <a:solidFill>
                  <a:srgbClr val="333333"/>
                </a:solidFill>
                <a:latin typeface="-apple-system"/>
                <a:ea typeface="-apple-system"/>
              </a:rPr>
              <a:t>我们刚才提到的，通过生成多样化数据，让模型“见多识广”，对真实世界的不确定性更鲁棒。</a:t>
            </a:r>
            <a:endParaRPr lang="zh-CN" altLang="en-US" sz="1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9065" y="3101975"/>
            <a:ext cx="3667760" cy="12757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系统辨识</a:t>
            </a:r>
            <a:endParaRPr lang="zh-CN" altLang="en-US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700" b="0" i="0">
                <a:solidFill>
                  <a:srgbClr val="333333"/>
                </a:solidFill>
                <a:latin typeface="-apple-system"/>
                <a:ea typeface="-apple-system"/>
              </a:rPr>
              <a:t>精确测量真实机器人的物理参数（质量、摩擦力、延迟等），用于校准仿真模型，让仿真更逼真。</a:t>
            </a:r>
            <a:endParaRPr lang="zh-CN" altLang="en-US" sz="1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26145" y="3101975"/>
            <a:ext cx="3232150" cy="15779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1" i="0">
                <a:solidFill>
                  <a:srgbClr val="333333"/>
                </a:solidFill>
                <a:latin typeface="-apple-system"/>
                <a:ea typeface="-apple-system"/>
              </a:rPr>
              <a:t>微调 </a:t>
            </a: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(Fine-tuning)</a:t>
            </a:r>
            <a:endParaRPr lang="en-US" altLang="zh-CN" sz="1600" b="1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700" b="0" i="0">
                <a:solidFill>
                  <a:srgbClr val="333333"/>
                </a:solidFill>
                <a:latin typeface="-apple-system"/>
                <a:ea typeface="-apple-system"/>
              </a:rPr>
              <a:t>将在仿真中预训练好的模型，放到真实机器人上，用少量真实数据进行“二次训练”，快速适应真实环境。</a:t>
            </a:r>
            <a:endParaRPr lang="zh-CN" altLang="en-US" sz="17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94778"/>
            <a:ext cx="5080000" cy="1476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463265"/>
                </a:solidFill>
                <a:latin typeface="-apple-system"/>
                <a:ea typeface="-apple-system"/>
              </a:rPr>
              <a:t>结论：最高效的开发范式</a:t>
            </a:r>
            <a:endParaRPr lang="zh-CN" altLang="en-US" sz="2700" b="1" i="0">
              <a:solidFill>
                <a:srgbClr val="463265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尽管有挑战，但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1" i="0">
                <a:solidFill>
                  <a:srgbClr val="D9534F"/>
                </a:solidFill>
                <a:latin typeface="-apple-system"/>
                <a:ea typeface="-apple-system"/>
              </a:rPr>
              <a:t>“在仿真中大规模训练，在现实中少量微调”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已经成为公认的、最高效的机器人</a:t>
            </a:r>
            <a:r>
              <a:rPr lang="en-US" altLang="zh-CN" sz="1600" b="0" i="0">
                <a:solidFill>
                  <a:srgbClr val="333333"/>
                </a:solidFill>
                <a:latin typeface="-apple-system"/>
                <a:ea typeface="-apple-system"/>
              </a:rPr>
              <a:t>AI</a:t>
            </a: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开发范式。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0885" y="3786822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2700" b="1" i="0">
                <a:solidFill>
                  <a:srgbClr val="FF0000"/>
                </a:solidFill>
                <a:latin typeface="-apple-system"/>
                <a:ea typeface="-apple-system"/>
              </a:rPr>
              <a:t>99%</a:t>
            </a:r>
            <a:endParaRPr lang="en-US" altLang="zh-CN" sz="2700" b="1" i="0">
              <a:solidFill>
                <a:srgbClr val="FF0000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FF0000"/>
                </a:solidFill>
                <a:latin typeface="-apple-system"/>
                <a:ea typeface="-apple-system"/>
              </a:rPr>
              <a:t>在仿真中进行大规模训练</a:t>
            </a:r>
            <a:endParaRPr lang="zh-CN" altLang="en-US" sz="1600" b="0" i="0">
              <a:solidFill>
                <a:srgbClr val="FF0000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24550" y="3786822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2700" b="1" i="0">
                <a:solidFill>
                  <a:schemeClr val="accent1"/>
                </a:solidFill>
                <a:latin typeface="-apple-system"/>
                <a:ea typeface="-apple-system"/>
              </a:rPr>
              <a:t>1%</a:t>
            </a:r>
            <a:endParaRPr lang="en-US" altLang="zh-CN" sz="2700" b="1" i="0">
              <a:solidFill>
                <a:schemeClr val="accent1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chemeClr val="accent1"/>
                </a:solidFill>
                <a:latin typeface="-apple-system"/>
                <a:ea typeface="-apple-system"/>
              </a:rPr>
              <a:t>在现实中进行微调与部署</a:t>
            </a:r>
            <a:endParaRPr lang="zh-CN" altLang="en-US" sz="1600" b="0" i="0">
              <a:solidFill>
                <a:schemeClr val="accent1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4964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通过构建</a:t>
            </a:r>
            <a:r>
              <a:rPr lang="zh-CN" altLang="en-US" sz="1600" b="1" i="0">
                <a:solidFill>
                  <a:srgbClr val="94710A"/>
                </a:solidFill>
                <a:latin typeface="-apple-system"/>
                <a:ea typeface="-apple-system"/>
              </a:rPr>
              <a:t>数字孪生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，我们得以在一个</a:t>
            </a:r>
            <a:r>
              <a:rPr lang="zh-CN" altLang="en-US" sz="1600" b="1" i="0">
                <a:solidFill>
                  <a:srgbClr val="AE2012"/>
                </a:solidFill>
                <a:latin typeface="-apple-system"/>
                <a:ea typeface="-apple-system"/>
              </a:rPr>
              <a:t>可控、高效、安全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的虚拟世界中，完成绝大部分的研发工作。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93516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尤其对于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AI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驱动的机器人，仿真更是其智能涌现的</a:t>
            </a:r>
            <a:r>
              <a:rPr lang="zh-CN" altLang="en-US" sz="1600" b="1" i="0">
                <a:solidFill>
                  <a:srgbClr val="AE2012"/>
                </a:solidFill>
                <a:latin typeface="-apple-system"/>
                <a:ea typeface="-apple-system"/>
              </a:rPr>
              <a:t>“培养皿”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和</a:t>
            </a:r>
            <a:r>
              <a:rPr lang="zh-CN" altLang="en-US" sz="1600" b="1" i="0">
                <a:solidFill>
                  <a:srgbClr val="AE2012"/>
                </a:solidFill>
                <a:latin typeface="-apple-system"/>
                <a:ea typeface="-apple-system"/>
              </a:rPr>
              <a:t>“加速器”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它从根本上解决了数据驱动方法在物理世界中的</a:t>
            </a:r>
            <a:r>
              <a:rPr lang="zh-CN" altLang="en-US" sz="1600" b="1" i="0">
                <a:solidFill>
                  <a:srgbClr val="94710A"/>
                </a:solidFill>
                <a:latin typeface="-apple-system"/>
                <a:ea typeface="-apple-system"/>
              </a:rPr>
              <a:t>核心数据瓶颈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5910" y="3905568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2500" b="1" i="0">
                <a:solidFill>
                  <a:srgbClr val="005F73"/>
                </a:solidFill>
                <a:latin typeface="-apple-system"/>
                <a:ea typeface="-apple-system"/>
              </a:rPr>
              <a:t> </a:t>
            </a:r>
            <a:r>
              <a:rPr lang="zh-CN" altLang="en-US" sz="2500" b="1" i="0">
                <a:solidFill>
                  <a:srgbClr val="005F73"/>
                </a:solidFill>
                <a:latin typeface="-apple-system"/>
                <a:ea typeface="-apple-system"/>
              </a:rPr>
              <a:t>我们知道了“为什么”</a:t>
            </a:r>
            <a:endParaRPr lang="zh-CN" altLang="en-US" sz="2500" b="1" i="0">
              <a:solidFill>
                <a:srgbClr val="005F7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仿真对于现代机器人开发不可或缺。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7680" y="3905568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2500" b="1" i="0">
                <a:solidFill>
                  <a:srgbClr val="005F73"/>
                </a:solidFill>
                <a:latin typeface="-apple-system"/>
                <a:ea typeface="-apple-system"/>
              </a:rPr>
              <a:t>❓ </a:t>
            </a:r>
            <a:r>
              <a:rPr lang="zh-CN" altLang="en-US" sz="2500" b="1" i="0">
                <a:solidFill>
                  <a:srgbClr val="005F73"/>
                </a:solidFill>
                <a:latin typeface="-apple-system"/>
                <a:ea typeface="-apple-system"/>
              </a:rPr>
              <a:t>那么，“如何”做？</a:t>
            </a:r>
            <a:endParaRPr lang="zh-CN" altLang="en-US" sz="2500" b="1" i="0">
              <a:solidFill>
                <a:srgbClr val="005F7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如何着手构建我们自己的数字孪生体？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45205" y="1383348"/>
            <a:ext cx="5080000" cy="20453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005F73"/>
                </a:solidFill>
                <a:latin typeface="-apple-system"/>
                <a:ea typeface="-apple-system"/>
              </a:rPr>
              <a:t>机器人的“建筑蓝图”</a:t>
            </a:r>
            <a:endParaRPr lang="zh-CN" altLang="en-US" sz="3300" b="1" i="0">
              <a:solidFill>
                <a:srgbClr val="005F7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100" b="0" i="0">
                <a:solidFill>
                  <a:srgbClr val="212529"/>
                </a:solidFill>
                <a:latin typeface="-apple-system"/>
                <a:ea typeface="-apple-system"/>
              </a:rPr>
              <a:t>我们需要一种统一的“语言”来描述机器人。下一节课，我们将学习这个机器人世界的“建筑蓝图”</a:t>
            </a:r>
            <a:r>
              <a:rPr lang="en-US" altLang="zh-CN" sz="2100" b="0" i="0">
                <a:solidFill>
                  <a:srgbClr val="212529"/>
                </a:solidFill>
                <a:latin typeface="-apple-system"/>
                <a:ea typeface="-apple-system"/>
              </a:rPr>
              <a:t>—— </a:t>
            </a:r>
            <a:r>
              <a:rPr lang="en-US" altLang="zh-CN" sz="2000" b="1" i="0">
                <a:solidFill>
                  <a:srgbClr val="94710A"/>
                </a:solidFill>
                <a:latin typeface="-apple-system"/>
                <a:ea typeface="-apple-system"/>
              </a:rPr>
              <a:t>URDF</a:t>
            </a:r>
            <a:endParaRPr lang="en-US" altLang="zh-CN" sz="2000" b="1" i="0">
              <a:solidFill>
                <a:srgbClr val="94710A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800"/>
              </a:spcAft>
            </a:pP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(Unified Robot Description Format)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2350" y="4213860"/>
            <a:ext cx="2377440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893252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796B"/>
                </a:solidFill>
                <a:latin typeface="-apple-system"/>
                <a:ea typeface="-apple-system"/>
              </a:rPr>
              <a:t>一个基本问题</a:t>
            </a:r>
            <a:endParaRPr lang="zh-CN" altLang="en-US" sz="2500" b="1" i="0">
              <a:solidFill>
                <a:srgbClr val="00796B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思考一个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问题，我们要向计算机描述一个人的身体结构，我们会怎么说？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473133"/>
            <a:ext cx="5080000" cy="149161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 sz="1700"/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“这个人有一个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躯干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，躯干上连着一个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脖子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，脖子上连着一个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头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...”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我们需要一种</a:t>
            </a:r>
            <a:r>
              <a:rPr lang="zh-CN" altLang="en-US" sz="1600" b="1" i="0">
                <a:solidFill>
                  <a:srgbClr val="004D40"/>
                </a:solidFill>
                <a:latin typeface="-apple-system"/>
                <a:ea typeface="-apple-system"/>
              </a:rPr>
              <a:t>标准化的语言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来精确描述这种连接关系和每个部件的属性。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72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en-US" altLang="zh-CN" sz="1600" b="1" i="0">
                <a:solidFill>
                  <a:srgbClr val="00796B"/>
                </a:solidFill>
                <a:latin typeface="-apple-system"/>
                <a:ea typeface="-apple-system"/>
              </a:rPr>
              <a:t>URDF</a:t>
            </a:r>
            <a:endParaRPr lang="en-US" altLang="zh-CN" sz="1600" b="1" i="0">
              <a:solidFill>
                <a:srgbClr val="00796B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0177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1" i="0">
                <a:solidFill>
                  <a:srgbClr val="004D40"/>
                </a:solidFill>
                <a:latin typeface="-apple-system"/>
                <a:ea typeface="-apple-system"/>
              </a:rPr>
              <a:t>U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nified </a:t>
            </a:r>
            <a:r>
              <a:rPr lang="en-US" altLang="zh-CN" sz="1600" b="1" i="0">
                <a:solidFill>
                  <a:srgbClr val="004D40"/>
                </a:solidFill>
                <a:latin typeface="-apple-system"/>
                <a:ea typeface="-apple-system"/>
              </a:rPr>
              <a:t>R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obot </a:t>
            </a:r>
            <a:r>
              <a:rPr lang="en-US" altLang="zh-CN" sz="1600" b="1" i="0">
                <a:solidFill>
                  <a:srgbClr val="004D40"/>
                </a:solidFill>
                <a:latin typeface="-apple-system"/>
                <a:ea typeface="-apple-system"/>
              </a:rPr>
              <a:t>D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escription </a:t>
            </a:r>
            <a:r>
              <a:rPr lang="en-US" altLang="zh-CN" sz="1600" b="1" i="0">
                <a:solidFill>
                  <a:srgbClr val="004D40"/>
                </a:solidFill>
                <a:latin typeface="-apple-system"/>
                <a:ea typeface="-apple-system"/>
              </a:rPr>
              <a:t>F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ormat</a:t>
            </a:r>
            <a:endParaRPr lang="en-US" altLang="zh-CN" sz="1600" b="1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66160" y="3429000"/>
            <a:ext cx="5080000" cy="13068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统一机器人描述格式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8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它就是机器人世界的这门“解剖学语言”，一个基于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D84315"/>
                </a:solidFill>
                <a:latin typeface="-apple-system"/>
                <a:ea typeface="-apple-system"/>
              </a:rPr>
              <a:t>XML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格式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的文件，专门用来描述机器人的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运动学模型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和</a:t>
            </a:r>
            <a:r>
              <a:rPr lang="zh-CN" altLang="en-US" sz="1600" b="1" i="0">
                <a:solidFill>
                  <a:srgbClr val="D84315"/>
                </a:solidFill>
                <a:latin typeface="-apple-system"/>
                <a:ea typeface="-apple-system"/>
              </a:rPr>
              <a:t>动力学模型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48423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500" b="1" i="0">
                <a:solidFill>
                  <a:srgbClr val="00796B"/>
                </a:solidFill>
                <a:latin typeface="-apple-system"/>
                <a:ea typeface="-apple-system"/>
              </a:rPr>
              <a:t>核心价值</a:t>
            </a:r>
            <a:r>
              <a:rPr lang="en-US" altLang="zh-CN" sz="2500" b="1" i="0">
                <a:solidFill>
                  <a:srgbClr val="00796B"/>
                </a:solidFill>
                <a:latin typeface="-apple-system"/>
                <a:ea typeface="-apple-system"/>
              </a:rPr>
              <a:t>: “</a:t>
            </a:r>
            <a:r>
              <a:rPr lang="zh-CN" altLang="en-US" sz="2500" b="1" i="0">
                <a:solidFill>
                  <a:srgbClr val="00796B"/>
                </a:solidFill>
                <a:latin typeface="-apple-system"/>
                <a:ea typeface="-apple-system"/>
              </a:rPr>
              <a:t>统一” </a:t>
            </a:r>
            <a:r>
              <a:rPr lang="en-US" altLang="zh-CN" sz="2500" b="1" i="0">
                <a:solidFill>
                  <a:srgbClr val="00796B"/>
                </a:solidFill>
                <a:latin typeface="-apple-system"/>
                <a:ea typeface="-apple-system"/>
              </a:rPr>
              <a:t>(Unified)</a:t>
            </a:r>
            <a:endParaRPr lang="en-US" altLang="zh-CN" sz="2500" b="1" i="0">
              <a:solidFill>
                <a:srgbClr val="00796B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只要你用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定义了你的机器人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301402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理论上，这个模型就可以被几乎所有的主流机器人软件和仿真器加载和使用。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28365" y="438658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ROS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Gazebo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PyBullet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Isaac Sim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MuJoCo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495057"/>
                </a:solidFill>
                <a:latin typeface="-apple-system"/>
                <a:ea typeface="-apple-system"/>
              </a:rPr>
              <a:t>Three.js</a:t>
            </a:r>
            <a:endParaRPr lang="en-US" altLang="zh-CN" sz="1600" b="1" i="0">
              <a:solidFill>
                <a:srgbClr val="495057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97470" y="4386580"/>
            <a:ext cx="3296285" cy="1045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600" b="1" i="0">
                <a:solidFill>
                  <a:srgbClr val="004D40"/>
                </a:solidFill>
                <a:latin typeface="-apple-system"/>
                <a:ea typeface="-apple-system"/>
              </a:rPr>
              <a:t>一次定义，处处使用</a:t>
            </a:r>
            <a:endParaRPr lang="zh-CN" altLang="en-US" sz="2600" b="1" i="0">
              <a:solidFill>
                <a:srgbClr val="004D40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这，就是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的强大之处。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49955" y="970598"/>
            <a:ext cx="5080000" cy="8604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en-US" altLang="zh-CN" sz="2400" b="1" i="0">
                <a:solidFill>
                  <a:srgbClr val="172B4D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2400" b="1" i="0">
                <a:solidFill>
                  <a:srgbClr val="172B4D"/>
                </a:solidFill>
                <a:latin typeface="-apple-system"/>
                <a:ea typeface="-apple-system"/>
              </a:rPr>
              <a:t>的核心世界观</a:t>
            </a:r>
            <a:endParaRPr lang="zh-CN" altLang="en-US" sz="2400" b="1" i="0">
              <a:solidFill>
                <a:srgbClr val="172B4D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连杆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(Links)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与 关节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(Joints)</a:t>
            </a:r>
            <a:endParaRPr lang="en-US" altLang="zh-CN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1705" y="537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1A73E8"/>
                </a:solidFill>
                <a:latin typeface="-apple-system"/>
                <a:ea typeface="-apple-system"/>
              </a:rPr>
              <a:t>核心概念类比</a:t>
            </a:r>
            <a:endParaRPr lang="zh-CN" altLang="en-US" sz="1600" b="1" i="0">
              <a:solidFill>
                <a:srgbClr val="1A73E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3480" y="12849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人体骨骼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53480" y="12849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-apple-system"/>
                <a:ea typeface="-apple-system"/>
              </a:rPr>
              <a:t>机械臂结构</a:t>
            </a:r>
            <a:endParaRPr lang="zh-CN" altLang="en-US" sz="1600" b="0" i="0">
              <a:solidFill>
                <a:srgbClr val="333333"/>
              </a:solidFill>
              <a:latin typeface="-apple-system"/>
              <a:ea typeface="-apple-system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295" y="1830705"/>
            <a:ext cx="6667500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167573"/>
            <a:ext cx="5080000" cy="252285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1A73E8"/>
                </a:solidFill>
                <a:latin typeface="-apple-system"/>
                <a:ea typeface="-apple-system"/>
              </a:rPr>
              <a:t>核心元素一：连杆 </a:t>
            </a:r>
            <a:r>
              <a:rPr lang="en-US" altLang="zh-CN" sz="3300" b="1" i="0">
                <a:solidFill>
                  <a:srgbClr val="1A73E8"/>
                </a:solidFill>
                <a:latin typeface="-apple-system"/>
                <a:ea typeface="-apple-system"/>
              </a:rPr>
              <a:t>(Link)</a:t>
            </a:r>
            <a:endParaRPr lang="en-US" altLang="zh-CN" sz="3300" b="1" i="0">
              <a:solidFill>
                <a:srgbClr val="1A73E8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在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的世界里，机器人所有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刚性的、不会变形的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部件，都被称为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你可以把它想象成我们身体的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“骨骼”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，比如上臂、小臂、手掌。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它们是机器人的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实体部分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59902"/>
            <a:ext cx="5080000" cy="333819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1A73E8"/>
                </a:solidFill>
                <a:latin typeface="-apple-system"/>
                <a:ea typeface="-apple-system"/>
              </a:rPr>
              <a:t>核心元素二：关节 </a:t>
            </a:r>
            <a:r>
              <a:rPr lang="en-US" altLang="zh-CN" sz="3300" b="1" i="0">
                <a:solidFill>
                  <a:srgbClr val="1A73E8"/>
                </a:solidFill>
                <a:latin typeface="-apple-system"/>
                <a:ea typeface="-apple-system"/>
              </a:rPr>
              <a:t>(Joint)</a:t>
            </a:r>
            <a:endParaRPr lang="en-US" altLang="zh-CN" sz="3300" b="1" i="0">
              <a:solidFill>
                <a:srgbClr val="1A73E8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Joint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则用来描述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Links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 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之间的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连接关系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和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运动方式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它就像我们身体的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“关节”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，比如肘关节、腕关节。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它定义了‘小臂’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如何连接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到‘上臂’上，以及它能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如何运动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（比如旋转）。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21105"/>
            <a:ext cx="5080000" cy="45694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1A73E8"/>
                </a:solidFill>
                <a:latin typeface="-apple-system"/>
                <a:ea typeface="-apple-system"/>
              </a:rPr>
              <a:t>组合起来：树状结构 </a:t>
            </a:r>
            <a:r>
              <a:rPr lang="en-US" altLang="zh-CN" sz="3300" b="1" i="0">
                <a:solidFill>
                  <a:srgbClr val="1A73E8"/>
                </a:solidFill>
                <a:latin typeface="-apple-system"/>
                <a:ea typeface="-apple-system"/>
              </a:rPr>
              <a:t>(Tree Structure)</a:t>
            </a:r>
            <a:endParaRPr lang="en-US" altLang="zh-CN" sz="3300" b="1" i="0">
              <a:solidFill>
                <a:srgbClr val="1A73E8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一个机器人模型就是由一系列的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Links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通过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Joints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连接而成的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树状结构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endParaRPr lang="zh-CN" altLang="en-US" sz="2000" b="1" i="0">
              <a:solidFill>
                <a:srgbClr val="D93025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endParaRPr lang="zh-CN" altLang="en-US" sz="2000" b="1" i="0">
              <a:solidFill>
                <a:srgbClr val="D93025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endParaRPr lang="zh-CN" altLang="en-US" sz="2000" b="1" i="0">
              <a:solidFill>
                <a:srgbClr val="D93025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endParaRPr lang="zh-CN" altLang="en-US" sz="2000" b="1" i="0">
              <a:solidFill>
                <a:srgbClr val="D93025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约束：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必须有一个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根</a:t>
            </a:r>
            <a:r>
              <a:rPr lang="en-US" altLang="zh-CN" sz="2000" b="1" i="0">
                <a:solidFill>
                  <a:srgbClr val="1765CC"/>
                </a:solidFill>
                <a:latin typeface="-apple-system"/>
                <a:ea typeface="-apple-system"/>
              </a:rPr>
              <a:t>Link (Root Link)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，且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不允许出现闭环！</a:t>
            </a:r>
            <a:endParaRPr lang="zh-CN" altLang="en-US" sz="2000" b="1" i="0">
              <a:solidFill>
                <a:srgbClr val="D93025"/>
              </a:solidFill>
              <a:latin typeface="-apple-system"/>
              <a:ea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240" y="1918970"/>
            <a:ext cx="3794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26135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3300" b="1" i="0">
                <a:solidFill>
                  <a:srgbClr val="1A73E8"/>
                </a:solidFill>
                <a:latin typeface="-apple-system"/>
                <a:ea typeface="-apple-system"/>
              </a:rPr>
              <a:t>关键规则：父子关系</a:t>
            </a:r>
            <a:endParaRPr lang="zh-CN" altLang="en-US" sz="3300" b="1" i="0">
              <a:solidFill>
                <a:srgbClr val="1A73E8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(Parent-Child Relationship)</a:t>
            </a:r>
            <a:endParaRPr lang="en-US" altLang="zh-CN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每个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Joint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都连接着两个</a:t>
            </a:r>
            <a:r>
              <a:rPr lang="en-US" altLang="zh-CN" sz="1600" b="1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：一个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父</a:t>
            </a:r>
            <a:r>
              <a:rPr lang="en-US" altLang="zh-CN" sz="2000" b="1" i="0">
                <a:solidFill>
                  <a:srgbClr val="1765CC"/>
                </a:solidFill>
                <a:latin typeface="-apple-system"/>
                <a:ea typeface="-apple-system"/>
              </a:rPr>
              <a:t>Link (Parent Link)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和一个</a:t>
            </a:r>
            <a:r>
              <a:rPr lang="zh-CN" altLang="en-US" sz="2000" b="1" i="0">
                <a:solidFill>
                  <a:srgbClr val="1765CC"/>
                </a:solidFill>
                <a:latin typeface="-apple-system"/>
                <a:ea typeface="-apple-system"/>
              </a:rPr>
              <a:t>子</a:t>
            </a:r>
            <a:r>
              <a:rPr lang="en-US" altLang="zh-CN" sz="2000" b="1" i="0">
                <a:solidFill>
                  <a:srgbClr val="1765CC"/>
                </a:solidFill>
                <a:latin typeface="-apple-system"/>
                <a:ea typeface="-apple-system"/>
              </a:rPr>
              <a:t>Link (Child Link)</a:t>
            </a:r>
            <a:endParaRPr lang="en-US" altLang="zh-CN" sz="2000" b="1" i="0">
              <a:solidFill>
                <a:srgbClr val="1765CC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30295" y="57565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这定义了</a:t>
            </a:r>
            <a:r>
              <a:rPr lang="zh-CN" altLang="en-US" sz="1600" b="1" i="0">
                <a:solidFill>
                  <a:srgbClr val="D93025"/>
                </a:solidFill>
                <a:latin typeface="-apple-system"/>
                <a:ea typeface="-apple-system"/>
              </a:rPr>
              <a:t>坐标系的变换方向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010" y="3611880"/>
            <a:ext cx="441198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439670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1A73E8"/>
                </a:solidFill>
                <a:latin typeface="-apple-system"/>
                <a:ea typeface="-apple-system"/>
              </a:rPr>
              <a:t>实例解析：肘关节</a:t>
            </a:r>
            <a:endParaRPr lang="zh-CN" altLang="en-US" sz="1600" b="1" i="0">
              <a:solidFill>
                <a:srgbClr val="1A73E8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157855"/>
            <a:ext cx="5080000" cy="126047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连接“上臂”和“小臂”的“肘关节”：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“上臂”是</a:t>
            </a:r>
            <a:r>
              <a:rPr lang="zh-CN" altLang="en-US" sz="1600" b="1" i="0">
                <a:solidFill>
                  <a:srgbClr val="1765CC"/>
                </a:solidFill>
                <a:latin typeface="-apple-system"/>
                <a:ea typeface="-apple-system"/>
              </a:rPr>
              <a:t>父</a:t>
            </a:r>
            <a:r>
              <a:rPr lang="en-US" altLang="zh-CN" sz="1600" b="1" i="0">
                <a:solidFill>
                  <a:srgbClr val="1765CC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，“小臂”是</a:t>
            </a:r>
            <a:r>
              <a:rPr lang="zh-CN" altLang="en-US" sz="1600" b="1" i="0">
                <a:solidFill>
                  <a:srgbClr val="1765CC"/>
                </a:solidFill>
                <a:latin typeface="-apple-system"/>
                <a:ea typeface="-apple-system"/>
              </a:rPr>
              <a:t>子</a:t>
            </a:r>
            <a:r>
              <a:rPr lang="en-US" altLang="zh-CN" sz="1600" b="1" i="0">
                <a:solidFill>
                  <a:srgbClr val="1765CC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12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我们描述的是，“小臂”</a:t>
            </a:r>
            <a:r>
              <a:rPr lang="zh-CN" altLang="en-US" sz="1600" b="1" i="0">
                <a:solidFill>
                  <a:srgbClr val="D93025"/>
                </a:solidFill>
                <a:latin typeface="-apple-system"/>
                <a:ea typeface="-apple-system"/>
              </a:rPr>
              <a:t>相对于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“上臂”的位置和运动。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193290"/>
            <a:ext cx="5080000" cy="122999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700" b="1" i="0">
                <a:solidFill>
                  <a:srgbClr val="1A73E8"/>
                </a:solidFill>
                <a:latin typeface="-apple-system"/>
                <a:ea typeface="-apple-system"/>
              </a:rPr>
              <a:t>最终形成：运动学链</a:t>
            </a:r>
            <a:endParaRPr lang="zh-CN" altLang="en-US" sz="2700" b="1" i="0">
              <a:solidFill>
                <a:srgbClr val="1A73E8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这个</a:t>
            </a:r>
            <a:r>
              <a:rPr lang="zh-CN" altLang="en-US" sz="1600" b="1" i="0">
                <a:solidFill>
                  <a:srgbClr val="1765CC"/>
                </a:solidFill>
                <a:latin typeface="-apple-system"/>
                <a:ea typeface="-apple-system"/>
              </a:rPr>
              <a:t>父子关系链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，从根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开始，一级一级地传递下去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804285"/>
            <a:ext cx="5080000" cy="860425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0" algn="ctr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...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最终构成了整个机器人的</a:t>
            </a:r>
            <a:r>
              <a:rPr lang="zh-CN" altLang="en-US" sz="1600" b="1" i="0">
                <a:solidFill>
                  <a:srgbClr val="D93025"/>
                </a:solidFill>
                <a:latin typeface="-apple-system"/>
                <a:ea typeface="-apple-system"/>
              </a:rPr>
              <a:t>运动学链 </a:t>
            </a:r>
            <a:r>
              <a:rPr lang="en-US" altLang="zh-CN" sz="1600" b="1" i="0">
                <a:solidFill>
                  <a:srgbClr val="D93025"/>
                </a:solidFill>
                <a:latin typeface="-apple-system"/>
                <a:ea typeface="-apple-system"/>
              </a:rPr>
              <a:t>(Kinematic Chain)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194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1600" b="1" i="0">
                <a:solidFill>
                  <a:srgbClr val="1A73E8"/>
                </a:solidFill>
                <a:latin typeface="-apple-system"/>
                <a:ea typeface="-apple-system"/>
              </a:rPr>
              <a:t>总结：</a:t>
            </a:r>
            <a:r>
              <a:rPr lang="en-US" altLang="zh-CN" sz="1600" b="1" i="0">
                <a:solidFill>
                  <a:srgbClr val="1A73E8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1600" b="1" i="0">
                <a:solidFill>
                  <a:srgbClr val="1A73E8"/>
                </a:solidFill>
                <a:latin typeface="-apple-system"/>
                <a:ea typeface="-apple-system"/>
              </a:rPr>
              <a:t>的心智模型</a:t>
            </a:r>
            <a:endParaRPr lang="zh-CN" altLang="en-US" sz="1600" b="1" i="0">
              <a:solidFill>
                <a:srgbClr val="1A73E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1977707"/>
            <a:ext cx="5080000" cy="10331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Link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连杆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3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是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“骨骼”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，刚性实体。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17615" y="1879282"/>
            <a:ext cx="5080000" cy="10331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en-US" altLang="zh-CN" sz="1600" b="1" i="0">
                <a:solidFill>
                  <a:srgbClr val="333333"/>
                </a:solidFill>
                <a:latin typeface="-apple-system"/>
                <a:ea typeface="-apple-system"/>
              </a:rPr>
              <a:t>Joint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 (</a:t>
            </a:r>
            <a:r>
              <a:rPr lang="zh-CN" altLang="en-US" sz="2300" b="0" i="0">
                <a:solidFill>
                  <a:srgbClr val="333333"/>
                </a:solidFill>
                <a:latin typeface="-apple-system"/>
                <a:ea typeface="-apple-system"/>
              </a:rPr>
              <a:t>关节</a:t>
            </a:r>
            <a:r>
              <a:rPr lang="en-US" altLang="zh-CN" sz="2300" b="0" i="0">
                <a:solidFill>
                  <a:srgbClr val="333333"/>
                </a:solidFill>
                <a:latin typeface="-apple-system"/>
                <a:ea typeface="-apple-system"/>
              </a:rPr>
              <a:t>)</a:t>
            </a:r>
            <a:endParaRPr lang="en-US" altLang="zh-CN" sz="2300" b="0" i="0">
              <a:solidFill>
                <a:srgbClr val="333333"/>
              </a:solidFill>
              <a:latin typeface="-apple-system"/>
              <a:ea typeface="-apple-system"/>
            </a:endParaRPr>
          </a:p>
          <a:p>
            <a:pPr marL="0" indent="0" algn="ctr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是</a:t>
            </a:r>
            <a:r>
              <a:rPr lang="zh-CN" altLang="en-US" sz="2000" b="1" i="0">
                <a:solidFill>
                  <a:srgbClr val="D93025"/>
                </a:solidFill>
                <a:latin typeface="-apple-system"/>
                <a:ea typeface="-apple-system"/>
              </a:rPr>
              <a:t>“关节”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，定义连接与运动。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46834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它们通过</a:t>
            </a:r>
            <a:r>
              <a:rPr lang="zh-CN" altLang="en-US" sz="1600" b="1" i="0">
                <a:solidFill>
                  <a:srgbClr val="1765CC"/>
                </a:solidFill>
                <a:latin typeface="-apple-system"/>
                <a:ea typeface="-apple-system"/>
              </a:rPr>
              <a:t>父子关系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，构成了一个</a:t>
            </a:r>
            <a:r>
              <a:rPr lang="zh-CN" altLang="en-US" sz="1600" b="1" i="0">
                <a:solidFill>
                  <a:srgbClr val="1765CC"/>
                </a:solidFill>
                <a:latin typeface="-apple-system"/>
                <a:ea typeface="-apple-system"/>
              </a:rPr>
              <a:t>无闭环的树状结构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58595"/>
            <a:ext cx="5080000" cy="775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根标签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: &lt;robot&gt;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500"/>
              </a:spcAft>
            </a:pP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8975" y="301402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所有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文件都必须由一个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&lt;robot&gt;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标签包裹。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它就像一个房子的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地基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，包含了机器人所有的定义。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我们可以通过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name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属性给机器人起一个名字。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63335" y="3013710"/>
            <a:ext cx="5080000" cy="17868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&lt;?xml version="1.0"?&gt;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&lt;robot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"simple_robotic_arm"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&lt;!--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所有的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links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和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joints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都将在这里定义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--&gt;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&lt;/robot&gt;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62045" y="77501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&lt;link&gt; 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定义“骨骼”</a:t>
            </a:r>
            <a:endParaRPr lang="zh-CN" altLang="en-US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9295" y="245364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我们用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&lt;link&gt;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标签来定义一块“骨骼”。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每个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&lt;link&gt;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都必须有一个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独一无二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name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属性。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一个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&lt;link&gt;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标签内部，主要包含三个核心子标签：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- 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&lt;visual&gt;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视觉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- 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&lt;collision&gt;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碰撞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- 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&lt;inertial&gt;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 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惯性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endParaRPr lang="en-US" altLang="zh-CN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44615" y="245364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&lt;link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"base_link"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&lt;!--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视觉、碰撞、惯性属性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--&gt;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&lt;visual&gt;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&lt;/visual&gt;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&lt;collision&gt;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&lt;/collision&gt;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&lt;inertial&gt;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&lt;/inertial&gt;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&lt;/link&gt;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19500" y="7966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子标签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(1): &lt;visual&gt;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9590" y="2026285"/>
            <a:ext cx="5080000" cy="31692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定义机器人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“看起来像什么”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它只负责渲染，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不参与物理计算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&lt;geometry&gt;: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定义形状。可以是简单几何体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(&lt;box&gt;, &lt;cylinder&gt;)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或外部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3D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模型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(&lt;mesh&gt;)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None/>
            </a:pP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&lt;origin&gt;: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定义视觉形状相对于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坐标系原点的位置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(xyz)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和姿态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(rpy)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None/>
            </a:pP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&lt;material&gt;: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定义颜色和纹理。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72250" y="2268855"/>
            <a:ext cx="5080000" cy="292608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&lt;visual&gt;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&lt;geometry&gt;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 &lt;cylinder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length=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radius=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"0.05"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&lt;/geometry&gt;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&lt;origin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0.05"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rpy=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0"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&lt;material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"grey"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&lt;color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rgba=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"0.5 0.5 0.5 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&lt;/material&gt;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&lt;/visual&gt;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94430" y="864235"/>
            <a:ext cx="5080000" cy="7759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子标签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(2): &lt;collision&gt;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  <a:p>
            <a:pPr marL="0" indent="0" algn="ctr">
              <a:spcAft>
                <a:spcPts val="1500"/>
              </a:spcAft>
            </a:pP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771775"/>
            <a:ext cx="5080000" cy="131445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定义物理引擎用来计算碰撞的</a:t>
            </a:r>
            <a:r>
              <a:rPr lang="zh-CN" altLang="en-US" sz="2000" b="1" i="0">
                <a:solidFill>
                  <a:srgbClr val="D62828"/>
                </a:solidFill>
                <a:latin typeface="-apple-system"/>
                <a:ea typeface="-apple-system"/>
              </a:rPr>
              <a:t>碰撞体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它对用户</a:t>
            </a:r>
            <a:r>
              <a:rPr lang="zh-CN" altLang="en-US" sz="2000" b="1" i="0">
                <a:solidFill>
                  <a:srgbClr val="D62828"/>
                </a:solidFill>
                <a:latin typeface="-apple-system"/>
                <a:ea typeface="-apple-system"/>
              </a:rPr>
              <a:t>不可见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，但对物理引擎可见。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9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为了提高计算效率，碰撞体通常是比视觉模型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更简单的几何形状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242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子标签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(3): &lt;inertial&gt;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6770" y="1945323"/>
            <a:ext cx="5080000" cy="322262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定义</a:t>
            </a:r>
            <a:r>
              <a:rPr lang="en-US" altLang="zh-CN" sz="20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的</a:t>
            </a:r>
            <a:r>
              <a:rPr lang="zh-CN" altLang="en-US" sz="2000" b="1" i="0">
                <a:solidFill>
                  <a:srgbClr val="D62828"/>
                </a:solidFill>
                <a:latin typeface="-apple-system"/>
                <a:ea typeface="-apple-system"/>
              </a:rPr>
              <a:t>动力学属性</a:t>
            </a:r>
            <a:r>
              <a:rPr lang="zh-CN" altLang="en-US" sz="20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0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&lt;mass&gt;: 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质量 </a:t>
            </a: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单位</a:t>
            </a: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: kg)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24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&lt;inertia&gt;: 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惯性张量。描述物体旋转的难易程度。</a:t>
            </a:r>
            <a:endParaRPr lang="zh-CN" altLang="en-US" sz="24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&lt;origin&gt;: 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质心</a:t>
            </a: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(Center of Mass)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相对于</a:t>
            </a:r>
            <a:r>
              <a:rPr lang="en-US" altLang="zh-CN" sz="24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2400" b="0" i="0">
                <a:solidFill>
                  <a:srgbClr val="212529"/>
                </a:solidFill>
                <a:latin typeface="-apple-system"/>
                <a:ea typeface="-apple-system"/>
              </a:rPr>
              <a:t>坐标系原点的位置。</a:t>
            </a:r>
            <a:endParaRPr lang="zh-CN" altLang="en-US" sz="24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ctr">
              <a:spcBef>
                <a:spcPts val="900"/>
              </a:spcBef>
            </a:pP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对于运动学仿真，可以忽略或用简化值。对于动力学仿真，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至关重要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6545" y="2599055"/>
            <a:ext cx="5080000" cy="265557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&lt;inertial&gt;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     &lt;mass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value=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  &lt;inertia  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ixx=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"0.01"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iyy=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"0.01"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izz=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"0.01"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ixy=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ixz=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iyz=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&lt;/inertial&gt;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194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&lt;joint&gt; 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连接“骨骼”</a:t>
            </a:r>
            <a:endParaRPr lang="zh-CN" altLang="en-US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9218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这是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URDF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的灵魂，定义了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Links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如何连接和运动。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2644775"/>
            <a:ext cx="5706110" cy="35540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&lt;joint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"joint1"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type=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"revolute"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&lt;parent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link=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"base_link"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&lt;child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link=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"arm1_link"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/&gt;&lt;origin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0.1"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rpy=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0"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&lt;axis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   &lt;limit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lower=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"-1.57"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upper=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"1.57"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effort=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"10"</a:t>
            </a:r>
            <a:endParaRPr lang="en-US" altLang="zh-CN" sz="1600" b="0" i="0">
              <a:solidFill>
                <a:srgbClr val="98C379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   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velocity=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"1.0"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&lt;/joint&gt;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769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Joint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属性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(1): type (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关节类型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)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367598"/>
            <a:ext cx="5080000" cy="212280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这是</a:t>
            </a:r>
            <a:r>
              <a:rPr lang="zh-CN" altLang="en-US" b="1" i="0">
                <a:solidFill>
                  <a:srgbClr val="D62828"/>
                </a:solidFill>
                <a:latin typeface="-apple-system"/>
                <a:ea typeface="-apple-system"/>
              </a:rPr>
              <a:t>最重要</a:t>
            </a:r>
            <a:r>
              <a:rPr lang="zh-CN" altLang="en-US" b="0" i="0">
                <a:solidFill>
                  <a:srgbClr val="212529"/>
                </a:solidFill>
                <a:latin typeface="-apple-system"/>
                <a:ea typeface="-apple-system"/>
              </a:rPr>
              <a:t>的属性之一，定义了关节的运动自由度。</a:t>
            </a:r>
            <a:endParaRPr lang="zh-CN" altLang="en-US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revolute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旋转关节，绕单轴旋转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 肘关节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prismatic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移动关节，沿单轴平移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 伸缩臂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fixed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固定关节，父子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之间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无相对运动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，完全焊死。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continuous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连续旋转关节，没有角度限制 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如 轮子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37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Joint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子标签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(1): parent, child, origin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5235" y="1940560"/>
            <a:ext cx="6120765" cy="214947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&lt;parent&gt; &amp; &lt;child&gt;: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定义了连接的父子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，明确了运动学链的方向。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&lt;origin&gt;: 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极其关键！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它定义了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子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坐标系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相对于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父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1" i="0">
                <a:solidFill>
                  <a:srgbClr val="A37C00"/>
                </a:solidFill>
                <a:latin typeface="-apple-system"/>
                <a:ea typeface="-apple-system"/>
              </a:rPr>
              <a:t>坐标系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的静态位姿。简单说，就是关节的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“安装位置”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60115" y="8493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Joint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子标签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(2): axis, limit</a:t>
            </a:r>
            <a:endParaRPr lang="en-US" altLang="zh-CN" sz="1600" b="1" i="0">
              <a:solidFill>
                <a:srgbClr val="D62828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110" y="2183130"/>
            <a:ext cx="5080000" cy="2491740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&lt;axis&gt;: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对于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revolute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600" b="1" i="0">
                <a:solidFill>
                  <a:srgbClr val="A37C00"/>
                </a:solidFill>
                <a:latin typeface="-apple-system"/>
                <a:ea typeface="-apple-system"/>
              </a:rPr>
              <a:t>prismatic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关节，定义了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运动轴的方向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。这个方向是在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关节自身的坐标系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（即子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Link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坐标系）下定义的。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152400" indent="0" algn="l"/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例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: xyz="0 0 1" 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表示绕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Z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轴旋转</a:t>
            </a:r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移动。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/>
            <a:r>
              <a:rPr lang="en-US" altLang="zh-CN" sz="1600" b="0" i="0">
                <a:solidFill>
                  <a:srgbClr val="212529"/>
                </a:solidFill>
                <a:latin typeface="-apple-system"/>
                <a:ea typeface="-apple-system"/>
              </a:rPr>
              <a:t>&lt;limit&gt;: </a:t>
            </a:r>
            <a:r>
              <a:rPr lang="zh-CN" altLang="en-US" sz="1600" b="0" i="0">
                <a:solidFill>
                  <a:srgbClr val="212529"/>
                </a:solidFill>
                <a:latin typeface="-apple-system"/>
                <a:ea typeface="-apple-system"/>
              </a:rPr>
              <a:t>定义了关节的运动极限。</a:t>
            </a:r>
            <a:endParaRPr lang="zh-CN" altLang="en-US" sz="16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lower/upper: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位置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(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角度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/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长度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)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的下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/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上限。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effort: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最大能施加的力</a:t>
            </a: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/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力矩。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1900" b="0" i="0">
                <a:solidFill>
                  <a:srgbClr val="212529"/>
                </a:solidFill>
                <a:latin typeface="-apple-system"/>
                <a:ea typeface="-apple-system"/>
              </a:rPr>
              <a:t>velocity: </a:t>
            </a:r>
            <a:r>
              <a:rPr lang="zh-CN" altLang="en-US" sz="1900" b="0" i="0">
                <a:solidFill>
                  <a:srgbClr val="212529"/>
                </a:solidFill>
                <a:latin typeface="-apple-system"/>
                <a:ea typeface="-apple-system"/>
              </a:rPr>
              <a:t>最大速度。</a:t>
            </a:r>
            <a:endParaRPr lang="zh-CN" altLang="en-US" sz="1900" b="0" i="0">
              <a:solidFill>
                <a:srgbClr val="212529"/>
              </a:solidFill>
              <a:latin typeface="-apple-system"/>
              <a:ea typeface="-apple-syste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0" y="2258060"/>
            <a:ext cx="5080000" cy="254317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&lt;joint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"joint1"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type=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"revolute"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    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&lt;!--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定义运动轴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--&gt;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     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&lt;axis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     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&lt;!-- </a:t>
            </a:r>
            <a:r>
              <a:rPr lang="zh-CN" altLang="en-US" sz="1600" b="0" i="1">
                <a:solidFill>
                  <a:srgbClr val="5C6370"/>
                </a:solidFill>
                <a:latin typeface="Fira Code"/>
                <a:ea typeface="Fira Code"/>
              </a:rPr>
              <a:t>定义运动极限 </a:t>
            </a:r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--&gt;</a:t>
            </a:r>
            <a:endParaRPr lang="en-US" altLang="zh-CN" sz="1600" b="0" i="1">
              <a:solidFill>
                <a:srgbClr val="5C6370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1">
                <a:solidFill>
                  <a:srgbClr val="5C6370"/>
                </a:solidFill>
                <a:latin typeface="Fira Code"/>
                <a:ea typeface="Fira Code"/>
              </a:rPr>
              <a:t>     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&lt;limit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lower=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"-1.57"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upper=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"1.57"</a:t>
            </a:r>
            <a:endParaRPr lang="en-US" altLang="zh-CN" sz="1600" b="0" i="0">
              <a:solidFill>
                <a:srgbClr val="98C379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      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effort=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"10"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velocity=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"1.0"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&lt;/joint&gt;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340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这个机器人叫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simple_robotic_arm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。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</a:t>
            </a:r>
            <a:endParaRPr lang="en-US" altLang="zh-CN" sz="1600" b="1" i="0">
              <a:solidFill>
                <a:srgbClr val="003049"/>
              </a:solidFill>
              <a:latin typeface="-apple-system"/>
              <a:ea typeface="-apple-system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2275" y="1055370"/>
            <a:ext cx="66078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900"/>
              </a:spcAft>
            </a:pP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&lt;robot 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"simple_robotic_arm"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&lt;/robot&gt;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18583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它有一个叫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base_link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的基座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..."</a:t>
            </a:r>
            <a:endParaRPr lang="en-US" altLang="zh-CN" sz="1600" b="1" i="0">
              <a:solidFill>
                <a:srgbClr val="003049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20135" y="24425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Aft>
                <a:spcPts val="900"/>
              </a:spcAft>
            </a:pP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&lt;link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"base_link"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&lt;/link&gt;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00" y="2923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"...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然后有一个叫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joint1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的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旋转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关节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..."</a:t>
            </a:r>
            <a:endParaRPr lang="en-US" altLang="zh-CN" sz="1600" b="1" i="0">
              <a:solidFill>
                <a:srgbClr val="003049"/>
              </a:solidFill>
              <a:latin typeface="-apple-system"/>
              <a:ea typeface="-apple-system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9665" y="3260725"/>
            <a:ext cx="784987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900"/>
              </a:spcAft>
            </a:pP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&lt;joint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name=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"joint1"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type=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"revolute"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&gt;</a:t>
            </a:r>
            <a:r>
              <a:rPr lang="en-US" altLang="zh-CN" sz="1600" b="0" i="0">
                <a:solidFill>
                  <a:srgbClr val="ABB2BF"/>
                </a:solidFill>
                <a:latin typeface="Fira Code"/>
                <a:ea typeface="Fira Code"/>
              </a:rPr>
              <a:t> ... 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&lt;/joint&gt;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62275" y="3732530"/>
            <a:ext cx="639635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"...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它把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arm1_link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子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连接到了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base_link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(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父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)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上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..."</a:t>
            </a:r>
            <a:endParaRPr lang="en-US" altLang="zh-CN" sz="1600" b="1" i="0">
              <a:solidFill>
                <a:srgbClr val="003049"/>
              </a:solidFill>
              <a:latin typeface="-apple-system"/>
              <a:ea typeface="-apple-system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44800" y="4204335"/>
            <a:ext cx="69589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Aft>
                <a:spcPts val="900"/>
              </a:spcAft>
            </a:pP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&lt;parent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link=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"base_link"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/&gt;&lt;child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link=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"arm1_link"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3730" y="4662805"/>
            <a:ext cx="662940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"...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安装位置在基座上方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0.1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米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处，并且是绕着</a:t>
            </a:r>
            <a:r>
              <a:rPr lang="en-US" altLang="zh-CN" sz="1600" b="1" i="0">
                <a:solidFill>
                  <a:srgbClr val="D62828"/>
                </a:solidFill>
                <a:latin typeface="-apple-system"/>
                <a:ea typeface="-apple-system"/>
              </a:rPr>
              <a:t>Z</a:t>
            </a:r>
            <a:r>
              <a:rPr lang="zh-CN" altLang="en-US" sz="1600" b="1" i="0">
                <a:solidFill>
                  <a:srgbClr val="D62828"/>
                </a:solidFill>
                <a:latin typeface="-apple-system"/>
                <a:ea typeface="-apple-system"/>
              </a:rPr>
              <a:t>轴</a:t>
            </a:r>
            <a:r>
              <a:rPr lang="zh-CN" altLang="en-US" sz="1600" b="1" i="0">
                <a:solidFill>
                  <a:srgbClr val="003049"/>
                </a:solidFill>
                <a:latin typeface="-apple-system"/>
                <a:ea typeface="-apple-system"/>
              </a:rPr>
              <a:t>旋转的。</a:t>
            </a:r>
            <a:r>
              <a:rPr lang="en-US" altLang="zh-CN" sz="1600" b="1" i="0">
                <a:solidFill>
                  <a:srgbClr val="003049"/>
                </a:solidFill>
                <a:latin typeface="-apple-system"/>
                <a:ea typeface="-apple-system"/>
              </a:rPr>
              <a:t>"</a:t>
            </a:r>
            <a:endParaRPr lang="en-US" altLang="zh-CN" sz="1600" b="1" i="0">
              <a:solidFill>
                <a:srgbClr val="003049"/>
              </a:solidFill>
              <a:latin typeface="-apple-system"/>
              <a:ea typeface="-apple-system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80410" y="514826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&lt;origin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0.1"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/&gt;&lt;axis</a:t>
            </a:r>
            <a:r>
              <a:rPr lang="en-US" altLang="zh-CN" sz="1600" b="0" i="0">
                <a:solidFill>
                  <a:srgbClr val="D19A66"/>
                </a:solidFill>
                <a:latin typeface="Fira Code"/>
                <a:ea typeface="Fira Code"/>
              </a:rPr>
              <a:t>xyz=</a:t>
            </a:r>
            <a:r>
              <a:rPr lang="en-US" altLang="zh-CN" sz="1600" b="0" i="0">
                <a:solidFill>
                  <a:srgbClr val="98C379"/>
                </a:solidFill>
                <a:latin typeface="Fira Code"/>
                <a:ea typeface="Fira Code"/>
              </a:rPr>
              <a:t>"0 0 1"</a:t>
            </a:r>
            <a:r>
              <a:rPr lang="en-US" altLang="zh-CN" sz="1600" b="0" i="0">
                <a:solidFill>
                  <a:srgbClr val="E06C75"/>
                </a:solidFill>
                <a:latin typeface="Fira Code"/>
                <a:ea typeface="Fira Code"/>
              </a:rPr>
              <a:t>/&gt;</a:t>
            </a:r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  <a:p>
            <a:pPr marL="0" indent="0" algn="l"/>
            <a:endParaRPr lang="en-US" altLang="zh-CN" sz="1600" b="0" i="0">
              <a:solidFill>
                <a:srgbClr val="E06C75"/>
              </a:solidFill>
              <a:latin typeface="Fira Code"/>
              <a:ea typeface="Fira Code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03930" y="2828290"/>
            <a:ext cx="50095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实战：</a:t>
            </a:r>
            <a:r>
              <a:rPr lang="en-US" altLang="zh-CN" sz="2800"/>
              <a:t> </a:t>
            </a:r>
            <a:r>
              <a:rPr lang="zh-CN" altLang="en-US" sz="2800"/>
              <a:t>机械臂</a:t>
            </a:r>
            <a:r>
              <a:rPr lang="en-US" altLang="zh-CN" sz="2800"/>
              <a:t>urdf</a:t>
            </a:r>
            <a:r>
              <a:rPr lang="zh-CN" altLang="en-US" sz="2800"/>
              <a:t>从零到一</a:t>
            </a:r>
            <a:endParaRPr lang="zh-CN" altLang="en-US" sz="2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4.3,&quot;left&quot;:74.3,&quot;top&quot;:207.85,&quot;width&quot;:873.15}"/>
</p:tagLst>
</file>

<file path=ppt/tags/tag2.xml><?xml version="1.0" encoding="utf-8"?>
<p:tagLst xmlns:p="http://schemas.openxmlformats.org/presentationml/2006/main">
  <p:tag name="KSO_WM_DIAGRAM_VIRTUALLY_FRAME" val="{&quot;height&quot;:124.3,&quot;left&quot;:74.3,&quot;top&quot;:207.85,&quot;width&quot;:873.15}"/>
</p:tagLst>
</file>

<file path=ppt/tags/tag3.xml><?xml version="1.0" encoding="utf-8"?>
<p:tagLst xmlns:p="http://schemas.openxmlformats.org/presentationml/2006/main">
  <p:tag name="KSO_WM_DIAGRAM_VIRTUALLY_FRAME" val="{&quot;height&quot;:124.3,&quot;left&quot;:74.3,&quot;top&quot;:207.85,&quot;width&quot;:873.15}"/>
</p:tagLst>
</file>

<file path=ppt/tags/tag4.xml><?xml version="1.0" encoding="utf-8"?>
<p:tagLst xmlns:p="http://schemas.openxmlformats.org/presentationml/2006/main">
  <p:tag name="KSO_WM_DIAGRAM_VIRTUALLY_FRAME" val="{&quot;height&quot;:124.3,&quot;left&quot;:74.3,&quot;top&quot;:207.85,&quot;width&quot;:873.1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8025</Words>
  <Application>WPS 演示</Application>
  <PresentationFormat>宽屏</PresentationFormat>
  <Paragraphs>553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4" baseType="lpstr">
      <vt:lpstr>Arial</vt:lpstr>
      <vt:lpstr>宋体</vt:lpstr>
      <vt:lpstr>Wingdings</vt:lpstr>
      <vt:lpstr>-apple-system</vt:lpstr>
      <vt:lpstr>JetBrains Mono</vt:lpstr>
      <vt:lpstr>Arial</vt:lpstr>
      <vt:lpstr>SFMono-Regular</vt:lpstr>
      <vt:lpstr>Courier New</vt:lpstr>
      <vt:lpstr>微软雅黑</vt:lpstr>
      <vt:lpstr>Arial Unicode MS</vt:lpstr>
      <vt:lpstr>Calibri</vt:lpstr>
      <vt:lpstr>Fira Code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99</cp:revision>
  <dcterms:created xsi:type="dcterms:W3CDTF">2023-08-09T12:44:00Z</dcterms:created>
  <dcterms:modified xsi:type="dcterms:W3CDTF">2025-09-06T07:37:09Z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6E43772F3CBA4104BA555B807D09D29D_12</vt:lpwstr>
  </property>
</Properties>
</file>