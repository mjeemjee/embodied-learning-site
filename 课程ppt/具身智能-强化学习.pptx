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600450" y="2817495"/>
            <a:ext cx="51949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 b="1"/>
              <a:t>具身智能</a:t>
            </a:r>
            <a:r>
              <a:rPr lang="en-US" altLang="zh-CN" sz="4000" b="1"/>
              <a:t>-</a:t>
            </a:r>
            <a:r>
              <a:rPr lang="zh-CN" altLang="en-US" sz="4000" b="1"/>
              <a:t>强化学习</a:t>
            </a:r>
            <a:endParaRPr lang="zh-CN" altLang="en-US" sz="4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84300" y="2014855"/>
            <a:ext cx="5080000" cy="181483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b-title)"/>
                <a:ea typeface="var(--s-fb-title)"/>
              </a:rPr>
              <a:t>什么是强化学习？</a:t>
            </a:r>
            <a:endParaRPr lang="zh-CN" altLang="en-US" sz="1600" b="0" i="0">
              <a:solidFill>
                <a:srgbClr val="000000"/>
              </a:solidFill>
              <a:latin typeface="var(--s-fb-title)"/>
              <a:ea typeface="var(--s-fb-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定义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强化学习是一种通过智能体与环境交互，最大化长期累计奖励的学习方法。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意义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在动态和复杂的环境中找到最佳决策。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广泛应用于机器人、游戏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AI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、推荐系统等领域。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7135" y="1815465"/>
            <a:ext cx="3703320" cy="2621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21080" y="1413510"/>
            <a:ext cx="5080000" cy="403098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强化学习构成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智能体（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Agent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）：学习者和决策者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环境（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Environment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）：智能体交互的外界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动作（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Action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）：智能体对环境的影响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状态（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State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）：描述环境的信息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奖励（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Reward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）：反馈信号，用于指导学习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示例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Agent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（智能体）：小孩子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Environment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（环境）：餐桌上的食物（有蔬菜、米饭、零食）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Action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（动作）：小孩子可以选择吃蔬菜、吃米饭、吃零食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State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（状态）：当前盘子里剩下的食物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Reward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（奖励）：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吃蔬菜：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+2  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吃米饭：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+1  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吃零食：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-2</a:t>
            </a:r>
            <a:endParaRPr lang="en-US" altLang="zh-CN" sz="1600" b="0" i="0">
              <a:solidFill>
                <a:srgbClr val="000000"/>
              </a:solidFill>
              <a:latin typeface="var(--s-f-text)"/>
              <a:ea typeface="var(--s-f-text)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115" y="1946910"/>
            <a:ext cx="352044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59155" y="2644775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概念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状态（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State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）：环境的当前信息。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动作（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Action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）：智能体对环境的选择。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奖励（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Reward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）：动作的反馈，正向鼓励或负向惩罚。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循环关系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状态 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→ 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动作 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→ 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奖励 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→ 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新状态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6235" y="1840230"/>
            <a:ext cx="4556760" cy="329946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59155" y="11998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状态、动作、奖励的关系</a:t>
            </a:r>
            <a:endParaRPr lang="zh-CN" altLang="en-US" sz="1600" b="1" i="0">
              <a:solidFill>
                <a:srgbClr val="3333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30275" y="8461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状态（</a:t>
            </a:r>
            <a:r>
              <a:rPr lang="en-US" altLang="zh-CN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State</a:t>
            </a:r>
            <a:r>
              <a:rPr lang="zh-CN" altLang="en-US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）的概念与应用</a:t>
            </a:r>
            <a:endParaRPr lang="zh-CN" altLang="en-US" sz="1600" b="1" i="0">
              <a:solidFill>
                <a:srgbClr val="3333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13155" y="2570480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状态（</a:t>
            </a:r>
            <a:r>
              <a:rPr lang="en-US" altLang="zh-CN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State</a:t>
            </a: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）定义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状态是某一时刻环境或事物的样子和情况的描述。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应用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游戏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AI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：下棋时，棋盘的布局就是一种状态。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自动驾驶：车子行驶时，路上的车流、人行道和红绿灯的情况就是状态。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1370" y="1775460"/>
            <a:ext cx="4030980" cy="3307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9877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动作（</a:t>
            </a:r>
            <a:r>
              <a:rPr lang="en-US" altLang="zh-CN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Action</a:t>
            </a:r>
            <a:r>
              <a:rPr lang="zh-CN" altLang="en-US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）的概念与类型</a:t>
            </a:r>
            <a:endParaRPr lang="zh-CN" altLang="en-US" sz="1600" b="1" i="0">
              <a:solidFill>
                <a:srgbClr val="3333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2045" y="2767965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动作（</a:t>
            </a:r>
            <a:r>
              <a:rPr lang="en-US" altLang="zh-CN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Action</a:t>
            </a: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）定义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智能体在特定状态下的选择。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类型：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离散动作：有限选择（如上下左右）。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连续动作：无限选择（如方向盘角度）。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4140" y="2343150"/>
            <a:ext cx="45567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90709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奖励（</a:t>
            </a:r>
            <a:r>
              <a:rPr lang="en-US" altLang="zh-CN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Reward</a:t>
            </a:r>
            <a:r>
              <a:rPr lang="zh-CN" altLang="en-US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）的定义与作用</a:t>
            </a:r>
            <a:endParaRPr lang="zh-CN" altLang="en-US" sz="1600" b="1" i="0">
              <a:solidFill>
                <a:srgbClr val="3333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9960" y="2725420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奖励（</a:t>
            </a:r>
            <a:r>
              <a:rPr lang="en-US" altLang="zh-CN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Reward</a:t>
            </a: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）定义：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奖励是智能体完成一个动作后获得的反馈，告诉它这个动作是“好”还是“不好”。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奖励（</a:t>
            </a:r>
            <a:r>
              <a:rPr lang="en-US" altLang="zh-CN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Reward</a:t>
            </a: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）作用：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鼓励智能体采取正确的行为。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帮助智能体优化长期回报，学会更聪明地完成目标。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1265" y="1737360"/>
            <a:ext cx="45796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01725" y="9572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策略（</a:t>
            </a:r>
            <a:r>
              <a:rPr lang="en-US" altLang="zh-CN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Policy</a:t>
            </a:r>
            <a:r>
              <a:rPr lang="zh-CN" altLang="en-US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）的定义与分类</a:t>
            </a:r>
            <a:endParaRPr lang="zh-CN" altLang="en-US" sz="1600" b="1" i="0">
              <a:solidFill>
                <a:srgbClr val="3333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33170" y="2767965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策略（</a:t>
            </a:r>
            <a:r>
              <a:rPr lang="en-US" altLang="zh-CN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Policy</a:t>
            </a: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）定义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智能体根据状态选择动作的规则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策略（</a:t>
            </a:r>
            <a:r>
              <a:rPr lang="en-US" altLang="zh-CN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Policy</a:t>
            </a: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）分类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确定性策略：固定状态对应动作。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随机性策略：状态对应动作概率分布。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725" y="2236470"/>
            <a:ext cx="4572000" cy="14554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79475" y="82645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1" i="0">
                <a:solidFill>
                  <a:srgbClr val="333333"/>
                </a:solidFill>
                <a:latin typeface="HarmonyOS Sans SC" panose="00000500000000000000" charset="-122"/>
                <a:ea typeface="HarmonyOS Sans SC" panose="00000500000000000000" charset="-122"/>
              </a:rPr>
              <a:t>冰冻湖案例</a:t>
            </a:r>
            <a:endParaRPr lang="zh-CN" altLang="en-US" sz="1600" b="1" i="0">
              <a:solidFill>
                <a:srgbClr val="333333"/>
              </a:solidFill>
              <a:latin typeface="HarmonyOS Sans SC" panose="00000500000000000000" charset="-122"/>
              <a:ea typeface="HarmonyOS Sans SC" panose="00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50925" y="2152333"/>
            <a:ext cx="5080000" cy="255333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306FC7"/>
                </a:solidFill>
                <a:latin typeface="var(--s-fb-subtitle)"/>
                <a:ea typeface="var(--s-fb-subtitle)"/>
              </a:rPr>
              <a:t>一个智能体需要穿过冰冻湖拿到宝藏</a:t>
            </a:r>
            <a:endParaRPr lang="zh-CN" altLang="en-US" sz="1600" b="0" i="0">
              <a:solidFill>
                <a:srgbClr val="306FC7"/>
              </a:solidFill>
              <a:latin typeface="var(--s-fb-subtitle)"/>
              <a:ea typeface="var(--s-fb-subtitle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状态：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智能体（探险家）当前所在网格的位置。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动作：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上下左右移动到相邻的网格。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奖励：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成功到达终点：</a:t>
            </a:r>
            <a:r>
              <a:rPr lang="en-US" altLang="zh-CN" sz="1600" b="0" i="0">
                <a:solidFill>
                  <a:srgbClr val="000000"/>
                </a:solidFill>
                <a:latin typeface="var(--s-f-text)"/>
                <a:ea typeface="var(--s-f-text)"/>
              </a:rPr>
              <a:t>+1 </a:t>
            </a: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分。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策略：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000000"/>
                </a:solidFill>
                <a:latin typeface="var(--s-f-text)"/>
                <a:ea typeface="var(--s-f-text)"/>
              </a:rPr>
              <a:t>根据当前所在的位置（状态），决定是往“上”、“下”、“左”还是“右”移动，以避免掉水里并尽快到达终点。</a:t>
            </a:r>
            <a:endParaRPr lang="zh-CN" altLang="en-US" sz="1600" b="0" i="0">
              <a:solidFill>
                <a:srgbClr val="000000"/>
              </a:solidFill>
              <a:latin typeface="var(--s-f-text)"/>
              <a:ea typeface="var(--s-f-text)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2145" y="2152650"/>
            <a:ext cx="4511040" cy="2415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943</Words>
  <Application>WPS 演示</Application>
  <PresentationFormat>宽屏</PresentationFormat>
  <Paragraphs>76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Arial Unicode MS</vt:lpstr>
      <vt:lpstr>Calibri</vt:lpstr>
      <vt:lpstr>微软雅黑</vt:lpstr>
      <vt:lpstr>var(--s-fb-title)</vt:lpstr>
      <vt:lpstr>var(--s-f-subtitle)</vt:lpstr>
      <vt:lpstr>var(--s-fb-subtitle)</vt:lpstr>
      <vt:lpstr>var(--s-f-text)</vt:lpstr>
      <vt:lpstr>JetBrains Mono</vt:lpstr>
      <vt:lpstr>HarmonyOS Sans SC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 z</dc:creator>
  <cp:lastModifiedBy>欢乐马</cp:lastModifiedBy>
  <cp:revision>21</cp:revision>
  <dcterms:created xsi:type="dcterms:W3CDTF">2023-08-09T12:44:00Z</dcterms:created>
  <dcterms:modified xsi:type="dcterms:W3CDTF">2025-07-30T15:40:16Z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A766E9EBD7094FBF94654675E83E31EC_12</vt:lpwstr>
  </property>
</Properties>
</file>