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9" r:id="rId32"/>
    <p:sldId id="290" r:id="rId34"/>
    <p:sldId id="291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06_ikpy.py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07_numpy_ikpy.py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56000" y="2783205"/>
            <a:ext cx="5080000" cy="15379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200"/>
              </a:spcAft>
            </a:pPr>
            <a:r>
              <a:rPr lang="zh-CN" altLang="en-US" sz="3200" b="1" i="0">
                <a:solidFill>
                  <a:srgbClr val="003366"/>
                </a:solidFill>
                <a:latin typeface="-apple-system"/>
                <a:ea typeface="-apple-system"/>
              </a:rPr>
              <a:t>机器人运动学正解 </a:t>
            </a:r>
            <a:r>
              <a:rPr lang="en-US" altLang="zh-CN" sz="3200" b="1" i="0">
                <a:solidFill>
                  <a:srgbClr val="003366"/>
                </a:solidFill>
                <a:latin typeface="-apple-system"/>
                <a:ea typeface="-apple-system"/>
              </a:rPr>
              <a:t>(Forward Kinematics)</a:t>
            </a:r>
            <a:endParaRPr lang="en-US" altLang="zh-CN" sz="3200" b="1" i="0">
              <a:solidFill>
                <a:srgbClr val="003366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2000" b="0" i="0">
                <a:solidFill>
                  <a:srgbClr val="555555"/>
                </a:solidFill>
                <a:latin typeface="-apple-system"/>
                <a:ea typeface="-apple-system"/>
              </a:rPr>
              <a:t>从直观几何到严谨代数</a:t>
            </a:r>
            <a:endParaRPr lang="zh-CN" altLang="en-US" sz="2000" b="0" i="0">
              <a:solidFill>
                <a:srgbClr val="555555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56000" y="7489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1600" b="1" i="0">
                <a:solidFill>
                  <a:srgbClr val="005A9E"/>
                </a:solidFill>
                <a:latin typeface="-apple-system"/>
                <a:ea typeface="-apple-system"/>
              </a:rPr>
              <a:t>核心问题：建立两种坐标体系的映射</a:t>
            </a:r>
            <a:endParaRPr lang="zh-CN" altLang="en-US" sz="1600" b="1" i="0">
              <a:solidFill>
                <a:srgbClr val="005A9E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1205" y="2640965"/>
            <a:ext cx="5080000" cy="15760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900"/>
              </a:spcAft>
            </a:pP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关节空间 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(Joint Space)</a:t>
            </a:r>
            <a:endParaRPr lang="en-US" altLang="zh-CN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描述机器人</a:t>
            </a:r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自身构型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的坐标体系。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由一组独立的关节变量定义</a:t>
            </a:r>
            <a:endParaRPr lang="zh-CN" altLang="en-US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例如</a:t>
            </a:r>
            <a:r>
              <a:rPr lang="en-US" altLang="zh-CN" b="0" i="0">
                <a:solidFill>
                  <a:srgbClr val="212529"/>
                </a:solidFill>
                <a:latin typeface="-apple-system"/>
                <a:ea typeface="-apple-system"/>
              </a:rPr>
              <a:t>:</a:t>
            </a:r>
            <a:r>
              <a:rPr lang="en-US" altLang="zh-CN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q = [θ₁, θ₂, ..., θₙ]</a:t>
            </a:r>
            <a:endParaRPr lang="en-US" altLang="zh-CN" b="1" i="0">
              <a:solidFill>
                <a:srgbClr val="003366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直观理解：机器人各关节“摆”出的姿态。</a:t>
            </a:r>
            <a:endParaRPr lang="zh-CN" altLang="en-US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42125" y="2640965"/>
            <a:ext cx="5080000" cy="15760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900"/>
              </a:spcAft>
            </a:pP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任务空间 </a:t>
            </a: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(Task Space)</a:t>
            </a:r>
            <a:endParaRPr lang="en-US" altLang="zh-CN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描述机器人在</a:t>
            </a:r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工作环境中状态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的坐标体系。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>
              <a:buFont typeface="Arial" panose="020B0604020202020204"/>
              <a:buChar char="•"/>
            </a:pPr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通常指笛卡尔坐标系</a:t>
            </a:r>
            <a:endParaRPr lang="zh-CN" altLang="en-US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>
              <a:buFont typeface="Arial" panose="020B0604020202020204"/>
              <a:buChar char="•"/>
            </a:pPr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例如</a:t>
            </a:r>
            <a:r>
              <a:rPr lang="en-US" altLang="zh-CN" b="0" i="0">
                <a:solidFill>
                  <a:srgbClr val="212529"/>
                </a:solidFill>
                <a:latin typeface="-apple-system"/>
                <a:ea typeface="-apple-system"/>
              </a:rPr>
              <a:t>: </a:t>
            </a:r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位姿</a:t>
            </a:r>
            <a:r>
              <a:rPr lang="en-US" altLang="zh-CN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X = [x, y, z, α, β, γ]</a:t>
            </a:r>
            <a:endParaRPr lang="en-US" altLang="zh-CN" b="1" i="0">
              <a:solidFill>
                <a:srgbClr val="003366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ctr">
              <a:buFont typeface="Arial" panose="020B0604020202020204"/>
              <a:buChar char="•"/>
            </a:pPr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直观理解：末端在空间中的“位置”和“朝向”。</a:t>
            </a:r>
            <a:endParaRPr lang="zh-CN" altLang="en-US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593407"/>
            <a:ext cx="5080000" cy="98361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700" b="1" i="0">
                <a:solidFill>
                  <a:srgbClr val="005A9E"/>
                </a:solidFill>
                <a:latin typeface="-apple-system"/>
                <a:ea typeface="-apple-system"/>
              </a:rPr>
              <a:t>运动学正解 </a:t>
            </a:r>
            <a:r>
              <a:rPr lang="en-US" altLang="zh-CN" sz="2700" b="1" i="0">
                <a:solidFill>
                  <a:srgbClr val="005A9E"/>
                </a:solidFill>
                <a:latin typeface="-apple-system"/>
                <a:ea typeface="-apple-system"/>
              </a:rPr>
              <a:t>(FK) </a:t>
            </a:r>
            <a:r>
              <a:rPr lang="zh-CN" altLang="en-US" sz="2700" b="1" i="0">
                <a:solidFill>
                  <a:srgbClr val="005A9E"/>
                </a:solidFill>
                <a:latin typeface="-apple-system"/>
                <a:ea typeface="-apple-system"/>
              </a:rPr>
              <a:t>的数学本质</a:t>
            </a:r>
            <a:endParaRPr lang="zh-CN" altLang="en-US" sz="2700" b="1" i="0">
              <a:solidFill>
                <a:srgbClr val="005A9E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求解一个函数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f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，使得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...</a:t>
            </a:r>
            <a:endParaRPr lang="en-US" altLang="zh-CN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6490" y="2236470"/>
            <a:ext cx="7399020" cy="23850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556000" y="559593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“给定一组已知的</a:t>
            </a:r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关节角度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，求解机器人</a:t>
            </a:r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末端执行器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在任务空间中的确切</a:t>
            </a:r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位姿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。”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9267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1600" b="1" i="0">
                <a:solidFill>
                  <a:srgbClr val="005A9E"/>
                </a:solidFill>
                <a:latin typeface="-apple-system"/>
                <a:ea typeface="-apple-system"/>
              </a:rPr>
              <a:t>解决</a:t>
            </a:r>
            <a:r>
              <a:rPr lang="en-US" altLang="zh-CN" sz="1600" b="1" i="0">
                <a:solidFill>
                  <a:srgbClr val="005A9E"/>
                </a:solidFill>
                <a:latin typeface="-apple-system"/>
                <a:ea typeface="-apple-system"/>
              </a:rPr>
              <a:t>FK</a:t>
            </a:r>
            <a:r>
              <a:rPr lang="zh-CN" altLang="en-US" sz="1600" b="1" i="0">
                <a:solidFill>
                  <a:srgbClr val="005A9E"/>
                </a:solidFill>
                <a:latin typeface="-apple-system"/>
                <a:ea typeface="-apple-system"/>
              </a:rPr>
              <a:t>问题的两种核心方法</a:t>
            </a:r>
            <a:endParaRPr lang="zh-CN" altLang="en-US" sz="1600" b="1" i="0">
              <a:solidFill>
                <a:srgbClr val="005A9E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4230" y="2640965"/>
            <a:ext cx="5080000" cy="15760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900"/>
              </a:spcAft>
            </a:pP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1.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齐次变换矩阵法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基于线性代数，是现代机器人学中的</a:t>
            </a:r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通用标准方法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优点</a:t>
            </a:r>
            <a:r>
              <a:rPr lang="en-US" altLang="zh-CN" b="0" i="0">
                <a:solidFill>
                  <a:srgbClr val="212529"/>
                </a:solidFill>
                <a:latin typeface="-apple-system"/>
                <a:ea typeface="-apple-system"/>
              </a:rPr>
              <a:t>:</a:t>
            </a:r>
            <a:r>
              <a:rPr lang="en-US" altLang="zh-CN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形式统一，易于编程，可推广至任意复杂结构。</a:t>
            </a:r>
            <a:endParaRPr lang="zh-CN" altLang="en-US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特点</a:t>
            </a:r>
            <a:r>
              <a:rPr lang="en-US" altLang="zh-CN" b="0" i="0">
                <a:solidFill>
                  <a:srgbClr val="212529"/>
                </a:solidFill>
                <a:latin typeface="-apple-system"/>
                <a:ea typeface="-apple-system"/>
              </a:rPr>
              <a:t>: </a:t>
            </a:r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高度抽象，数学形式严谨。</a:t>
            </a:r>
            <a:endParaRPr lang="zh-CN" altLang="en-US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95440" y="2779395"/>
            <a:ext cx="5080000" cy="129921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900"/>
              </a:spcAft>
            </a:pPr>
            <a:r>
              <a:rPr lang="en-US" altLang="zh-CN" sz="1900" b="0" i="0">
                <a:solidFill>
                  <a:srgbClr val="333333"/>
                </a:solidFill>
                <a:latin typeface="-apple-system"/>
                <a:ea typeface="-apple-system"/>
              </a:rPr>
              <a:t>2. 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解析几何与三角函数法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基于经典欧式几何，通过</a:t>
            </a:r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几何作图和三角函数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进行推导。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优点</a:t>
            </a:r>
            <a:r>
              <a:rPr lang="en-US" altLang="zh-CN" b="0" i="0">
                <a:solidFill>
                  <a:srgbClr val="212529"/>
                </a:solidFill>
                <a:latin typeface="-apple-system"/>
                <a:ea typeface="-apple-system"/>
              </a:rPr>
              <a:t>:</a:t>
            </a:r>
            <a:r>
              <a:rPr lang="en-US" altLang="zh-CN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物理图像清晰，过程直观易懂。</a:t>
            </a:r>
            <a:endParaRPr lang="zh-CN" altLang="en-US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特点</a:t>
            </a:r>
            <a:r>
              <a:rPr lang="en-US" altLang="zh-CN" b="0" i="0">
                <a:solidFill>
                  <a:srgbClr val="212529"/>
                </a:solidFill>
                <a:latin typeface="-apple-system"/>
                <a:ea typeface="-apple-system"/>
              </a:rPr>
              <a:t>: </a:t>
            </a:r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依赖技巧，难以推广至高维复杂结构。</a:t>
            </a:r>
            <a:endParaRPr lang="zh-CN" altLang="en-US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644208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000" b="1" i="0">
                <a:solidFill>
                  <a:srgbClr val="005A9E"/>
                </a:solidFill>
                <a:latin typeface="-apple-system"/>
                <a:ea typeface="-apple-system"/>
              </a:rPr>
              <a:t>本节课的教学路径：回归本源</a:t>
            </a:r>
            <a:endParaRPr lang="zh-CN" altLang="en-US" sz="2000" b="1" i="0">
              <a:solidFill>
                <a:srgbClr val="005A9E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2675573"/>
            <a:ext cx="5080000" cy="2091690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在深入学习抽象的矩阵方法之前，</a:t>
            </a:r>
            <a:endParaRPr lang="zh-CN" altLang="en-US" sz="20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我们本节课将采用</a:t>
            </a:r>
            <a:r>
              <a:rPr lang="en-US" altLang="zh-CN" sz="20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zh-CN" altLang="en-US" sz="2000" b="1" i="0">
                <a:solidFill>
                  <a:srgbClr val="C82333"/>
                </a:solidFill>
                <a:latin typeface="-apple-system"/>
                <a:ea typeface="-apple-system"/>
              </a:rPr>
              <a:t>解析几何与三角函数法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20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</a:pP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目的：首先建立一个</a:t>
            </a:r>
            <a:r>
              <a:rPr lang="zh-CN" altLang="en-US" sz="2000" b="1" i="0">
                <a:solidFill>
                  <a:srgbClr val="C82333"/>
                </a:solidFill>
                <a:latin typeface="-apple-system"/>
                <a:ea typeface="-apple-system"/>
              </a:rPr>
              <a:t>牢固的物理和几何直觉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，深刻理解“运动学链”中坐标变换的本质。这种直观理解，将为我们后续掌握更抽象的矩阵方法</a:t>
            </a:r>
            <a:r>
              <a:rPr lang="zh-CN" altLang="en-US" sz="2000" b="1" i="0">
                <a:solidFill>
                  <a:srgbClr val="C82333"/>
                </a:solidFill>
                <a:latin typeface="-apple-system"/>
                <a:ea typeface="-apple-system"/>
              </a:rPr>
              <a:t>奠定坚实的基础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20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975610"/>
            <a:ext cx="5080000" cy="90678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200"/>
              </a:spcAft>
            </a:pPr>
            <a:r>
              <a:rPr lang="zh-CN" altLang="en-US" sz="2700" b="1" i="0">
                <a:solidFill>
                  <a:srgbClr val="003366"/>
                </a:solidFill>
                <a:latin typeface="-apple-system"/>
                <a:ea typeface="-apple-system"/>
              </a:rPr>
              <a:t>解析几何法求解运动学正解</a:t>
            </a:r>
            <a:endParaRPr lang="zh-CN" altLang="en-US" sz="2700" b="1" i="0">
              <a:solidFill>
                <a:srgbClr val="003366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从单连杆到二连杆的递推分析</a:t>
            </a:r>
            <a:endParaRPr lang="zh-CN" altLang="en-US" sz="1600" b="0" i="0">
              <a:solidFill>
                <a:srgbClr val="555555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75406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en-US" altLang="zh-CN" sz="1600" b="1" i="0">
                <a:solidFill>
                  <a:srgbClr val="005A9E"/>
                </a:solidFill>
                <a:latin typeface="-apple-system"/>
                <a:ea typeface="-apple-system"/>
              </a:rPr>
              <a:t>Part 1: </a:t>
            </a:r>
            <a:r>
              <a:rPr lang="zh-CN" altLang="en-US" sz="1600" b="1" i="0">
                <a:solidFill>
                  <a:srgbClr val="005A9E"/>
                </a:solidFill>
                <a:latin typeface="-apple-system"/>
                <a:ea typeface="-apple-system"/>
              </a:rPr>
              <a:t>单连杆模型分析</a:t>
            </a:r>
            <a:endParaRPr lang="zh-CN" altLang="en-US" sz="1600" b="1" i="0">
              <a:solidFill>
                <a:srgbClr val="005A9E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2285" y="2352675"/>
            <a:ext cx="5080000" cy="215265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1" i="0">
                <a:solidFill>
                  <a:srgbClr val="212529"/>
                </a:solidFill>
                <a:latin typeface="-apple-system"/>
                <a:ea typeface="-apple-system"/>
              </a:rPr>
              <a:t>模型建立</a:t>
            </a:r>
            <a:endParaRPr lang="zh-CN" altLang="en-US" sz="1600" b="1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我们从最简化的模型入手：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一个固定在原点</a:t>
            </a:r>
            <a:r>
              <a:rPr lang="en-US" altLang="zh-CN" sz="1900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O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的旋转关节。</a:t>
            </a:r>
            <a:endParaRPr lang="zh-CN" altLang="en-US" sz="19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驱动一个长度为</a:t>
            </a:r>
            <a:r>
              <a:rPr lang="en-US" altLang="zh-CN" sz="1900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L₁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的连杆。</a:t>
            </a:r>
            <a:endParaRPr lang="zh-CN" altLang="en-US" sz="19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连杆与参考坐标系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{0}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的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X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轴夹角为关节变量</a:t>
            </a:r>
            <a:r>
              <a:rPr lang="en-US" altLang="zh-CN" sz="1900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θ₁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9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目标：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确定连杆末端点</a:t>
            </a:r>
            <a:r>
              <a:rPr lang="en-US" altLang="zh-CN" sz="1600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P₁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的笛卡尔坐标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(X₁, Y₁)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2285" y="1406525"/>
            <a:ext cx="6396990" cy="4044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7966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1600" b="1" i="0">
                <a:solidFill>
                  <a:srgbClr val="005A9E"/>
                </a:solidFill>
                <a:latin typeface="-apple-system"/>
                <a:ea typeface="-apple-system"/>
              </a:rPr>
              <a:t>单连杆模型：公式呈现与学术点评</a:t>
            </a:r>
            <a:endParaRPr lang="zh-CN" altLang="en-US" sz="1600" b="1" i="0">
              <a:solidFill>
                <a:srgbClr val="005A9E"/>
              </a:solidFill>
              <a:latin typeface="-apple-system"/>
              <a:ea typeface="-apple-system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2900" y="1339215"/>
            <a:ext cx="3886200" cy="19278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556000" y="4061460"/>
            <a:ext cx="5080000" cy="147574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ts val="240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212529"/>
                </a:solidFill>
                <a:latin typeface="-apple-system"/>
                <a:ea typeface="-apple-system"/>
              </a:rPr>
              <a:t>学术点评</a:t>
            </a:r>
            <a:endParaRPr lang="zh-CN" altLang="en-US" sz="1600" b="1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这个简单的映射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(L₁, θ₁) → (X₁, Y₁)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，就是最基本的一级运动学正解。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它将一个</a:t>
            </a:r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关节空间的变量 </a:t>
            </a:r>
            <a:r>
              <a:rPr lang="en-US" altLang="zh-CN" sz="1600" b="1" i="0">
                <a:solidFill>
                  <a:srgbClr val="C82333"/>
                </a:solidFill>
                <a:latin typeface="-apple-system"/>
                <a:ea typeface="-apple-system"/>
              </a:rPr>
              <a:t>θ₁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，映射到了</a:t>
            </a:r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任务空间的坐标 </a:t>
            </a:r>
            <a:r>
              <a:rPr lang="en-US" altLang="zh-CN" sz="1600" b="1" i="0">
                <a:solidFill>
                  <a:srgbClr val="C82333"/>
                </a:solidFill>
                <a:latin typeface="-apple-system"/>
                <a:ea typeface="-apple-system"/>
              </a:rPr>
              <a:t>(X₁, Y₁)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6372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en-US" altLang="zh-CN" sz="1600" b="1" i="0">
                <a:solidFill>
                  <a:srgbClr val="005A9E"/>
                </a:solidFill>
                <a:latin typeface="-apple-system"/>
                <a:ea typeface="-apple-system"/>
              </a:rPr>
              <a:t>Part 2: </a:t>
            </a:r>
            <a:r>
              <a:rPr lang="zh-CN" altLang="en-US" sz="1600" b="1" i="0">
                <a:solidFill>
                  <a:srgbClr val="005A9E"/>
                </a:solidFill>
                <a:latin typeface="-apple-system"/>
                <a:ea typeface="-apple-system"/>
              </a:rPr>
              <a:t>二连杆模型的递推分析</a:t>
            </a:r>
            <a:endParaRPr lang="zh-CN" altLang="en-US" sz="1600" b="1" i="0">
              <a:solidFill>
                <a:srgbClr val="005A9E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3385" y="2398395"/>
            <a:ext cx="4324985" cy="23063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1" i="0">
                <a:solidFill>
                  <a:srgbClr val="212529"/>
                </a:solidFill>
                <a:latin typeface="-apple-system"/>
                <a:ea typeface="-apple-system"/>
              </a:rPr>
              <a:t>模型扩展</a:t>
            </a:r>
            <a:endParaRPr lang="zh-CN" altLang="en-US" sz="1600" b="1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我们在此模型基础上增加第二个连杆：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长度为</a:t>
            </a:r>
            <a:r>
              <a:rPr lang="en-US" altLang="zh-CN" sz="1900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L₂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，由第二个旋转关节驱动。</a:t>
            </a:r>
            <a:endParaRPr lang="zh-CN" altLang="en-US" sz="19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关节变量为</a:t>
            </a:r>
            <a:r>
              <a:rPr lang="en-US" altLang="zh-CN" sz="1900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θ₂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9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关键定义：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θ₂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是相对于</a:t>
            </a:r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第一连杆延长线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的夹角，这符合大多数串联机器人的物理结构。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新目标：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确定末端点</a:t>
            </a:r>
            <a:r>
              <a:rPr lang="en-US" altLang="zh-CN" sz="1600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P₂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的全局坐标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(X₂, Y₂)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635" y="1450975"/>
            <a:ext cx="6766560" cy="39547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6865" y="2217738"/>
            <a:ext cx="5080000" cy="242252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2700" b="1" i="0">
                <a:solidFill>
                  <a:srgbClr val="005A9E"/>
                </a:solidFill>
                <a:latin typeface="-apple-system"/>
                <a:ea typeface="-apple-system"/>
              </a:rPr>
              <a:t>核心思想：引入“局部坐标系”</a:t>
            </a:r>
            <a:endParaRPr lang="zh-CN" altLang="en-US" sz="2700" b="1" i="0">
              <a:solidFill>
                <a:srgbClr val="005A9E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直接求解末端点</a:t>
            </a:r>
            <a:r>
              <a:rPr lang="en-US" altLang="zh-CN" sz="1600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P₂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的坐标存在耦合，较为复杂。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一个有效的分析策略是引入</a:t>
            </a:r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局部参考坐标系 </a:t>
            </a:r>
            <a:r>
              <a:rPr lang="en-US" altLang="zh-CN" sz="1600" b="1" i="0">
                <a:solidFill>
                  <a:srgbClr val="C82333"/>
                </a:solidFill>
                <a:latin typeface="-apple-system"/>
                <a:ea typeface="-apple-system"/>
              </a:rPr>
              <a:t>(Local Frame)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我们可以在</a:t>
            </a:r>
            <a:r>
              <a:rPr lang="en-US" altLang="zh-CN" sz="1600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P₁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点建立一个随第一连杆运动的坐标系</a:t>
            </a:r>
            <a:r>
              <a:rPr lang="en-US" altLang="zh-CN" sz="1600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{1}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，其</a:t>
            </a:r>
            <a:r>
              <a:rPr lang="en-US" altLang="zh-CN" sz="1600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X'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轴始终与第一连杆</a:t>
            </a:r>
            <a:r>
              <a:rPr lang="en-US" altLang="zh-CN" sz="1600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L₁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共线。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通过这个策略，我们将一个复杂问题</a:t>
            </a:r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分解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为两个简单的子问题。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2555" y="1689100"/>
            <a:ext cx="466344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81070" y="857885"/>
            <a:ext cx="5080000" cy="119126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2700" b="1" i="0">
                <a:solidFill>
                  <a:srgbClr val="005A9E"/>
                </a:solidFill>
                <a:latin typeface="-apple-system"/>
                <a:ea typeface="-apple-system"/>
              </a:rPr>
              <a:t>推导最终解析式</a:t>
            </a:r>
            <a:endParaRPr lang="zh-CN" altLang="en-US" sz="2700" b="1" i="0">
              <a:solidFill>
                <a:srgbClr val="005A9E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基于矢量叠加的思想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P₂ = P₁ + P₁P₂</a:t>
            </a:r>
            <a:r>
              <a:rPr lang="en-US" altLang="zh-CN" sz="1600" b="1" i="0" baseline="-25000">
                <a:solidFill>
                  <a:srgbClr val="003366"/>
                </a:solidFill>
                <a:latin typeface="Courier New" panose="02070309020205020404"/>
                <a:ea typeface="Courier New" panose="02070309020205020404"/>
              </a:rPr>
              <a:t>(global)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，我们分别计算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X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和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Y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分量：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9960" y="2926080"/>
            <a:ext cx="5212080" cy="10058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543425" y="3931920"/>
            <a:ext cx="232029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altLang="zh-CN" sz="1600" b="0" i="0">
                <a:solidFill>
                  <a:srgbClr val="C82333"/>
                </a:solidFill>
                <a:latin typeface="-apple-system"/>
                <a:ea typeface="-apple-system"/>
              </a:rPr>
              <a:t>↑</a:t>
            </a:r>
            <a:endParaRPr lang="en-US" altLang="zh-CN" sz="1600" b="0" i="0">
              <a:solidFill>
                <a:srgbClr val="C8233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C82333"/>
                </a:solidFill>
                <a:latin typeface="-apple-system"/>
                <a:ea typeface="-apple-system"/>
              </a:rPr>
              <a:t>来自第一连杆的贡献</a:t>
            </a:r>
            <a:endParaRPr lang="zh-CN" altLang="en-US" sz="1600" b="0" i="0">
              <a:solidFill>
                <a:srgbClr val="C82333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56705" y="3931920"/>
            <a:ext cx="2383155" cy="72136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ctr"/>
            <a:r>
              <a:rPr lang="en-US" altLang="zh-CN" sz="1600" b="0" i="0">
                <a:solidFill>
                  <a:srgbClr val="005A9E"/>
                </a:solidFill>
                <a:latin typeface="-apple-system"/>
                <a:ea typeface="-apple-system"/>
              </a:rPr>
              <a:t>↑</a:t>
            </a:r>
            <a:endParaRPr lang="en-US" altLang="zh-CN" sz="1600" b="0" i="0">
              <a:solidFill>
                <a:srgbClr val="005A9E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005A9E"/>
                </a:solidFill>
                <a:latin typeface="-apple-system"/>
                <a:ea typeface="-apple-system"/>
              </a:rPr>
              <a:t>来自第二连杆的贡献</a:t>
            </a:r>
            <a:endParaRPr lang="zh-CN" altLang="en-US" sz="1600" b="0" i="0">
              <a:solidFill>
                <a:srgbClr val="005A9E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219835"/>
            <a:ext cx="5080000" cy="441833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3100" b="1" i="0">
                <a:solidFill>
                  <a:srgbClr val="005A9E"/>
                </a:solidFill>
                <a:latin typeface="-apple-system"/>
                <a:ea typeface="-apple-system"/>
              </a:rPr>
              <a:t>结论：递推分析法的力量</a:t>
            </a:r>
            <a:endParaRPr lang="zh-CN" altLang="en-US" sz="3100" b="1" i="0">
              <a:solidFill>
                <a:srgbClr val="005A9E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3366"/>
                </a:solidFill>
                <a:latin typeface="-apple-system"/>
                <a:ea typeface="-apple-system"/>
              </a:rPr>
              <a:t>回顾我们的分析策略：</a:t>
            </a:r>
            <a:endParaRPr lang="zh-CN" altLang="en-US" sz="2200" b="1" i="0">
              <a:solidFill>
                <a:srgbClr val="003366"/>
              </a:solidFill>
              <a:latin typeface="-apple-system"/>
              <a:ea typeface="-apple-system"/>
            </a:endParaRPr>
          </a:p>
          <a:p>
            <a:pPr marL="0" indent="0" algn="l">
              <a:spcBef>
                <a:spcPts val="1200"/>
              </a:spcBef>
              <a:buAutoNum type="arabicPeriod"/>
            </a:pP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从最简单的</a:t>
            </a:r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单连杆模型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入手，建立基础公式。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spcBef>
                <a:spcPts val="1200"/>
              </a:spcBef>
              <a:buAutoNum type="arabicPeriod"/>
            </a:pP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扩展到二连杆模型时，引入</a:t>
            </a:r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局部坐标系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来解耦问题。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spcBef>
                <a:spcPts val="1200"/>
              </a:spcBef>
              <a:buAutoNum type="arabicPeriod"/>
            </a:pP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在局部坐标系中，</a:t>
            </a:r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复用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单连杆模型的结论进行求解。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spcBef>
                <a:spcPts val="1200"/>
              </a:spcBef>
              <a:buAutoNum type="arabicPeriod"/>
            </a:pP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通过坐标变换与</a:t>
            </a:r>
            <a:r>
              <a:rPr lang="zh-CN" altLang="en-US" sz="1600" b="1" i="0">
                <a:solidFill>
                  <a:srgbClr val="C82333"/>
                </a:solidFill>
                <a:latin typeface="-apple-system"/>
                <a:ea typeface="-apple-system"/>
              </a:rPr>
              <a:t>矢量叠加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，将局部解转换并累加到全局解中。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</a:pPr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我们通过这一系列步骤，得到了一个二自由度平面机械臂的完整运动学正解解析式。这个</a:t>
            </a:r>
            <a:r>
              <a:rPr lang="zh-CN" altLang="en-US" b="1" i="0">
                <a:solidFill>
                  <a:srgbClr val="C82333"/>
                </a:solidFill>
                <a:latin typeface="-apple-system"/>
                <a:ea typeface="-apple-system"/>
              </a:rPr>
              <a:t>“局部求解，全局累加”</a:t>
            </a:r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的递推思想，是机器人运动学分析的基石。</a:t>
            </a:r>
            <a:endParaRPr lang="zh-CN" altLang="en-US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975610"/>
            <a:ext cx="5080000" cy="90678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200"/>
              </a:spcAft>
            </a:pPr>
            <a:r>
              <a:rPr lang="zh-CN" altLang="en-US" sz="2700" b="1" i="0">
                <a:solidFill>
                  <a:srgbClr val="1D3557"/>
                </a:solidFill>
                <a:latin typeface="-apple-system"/>
                <a:ea typeface="-apple-system"/>
              </a:rPr>
              <a:t>从解析法到矩阵法：思考与过渡</a:t>
            </a:r>
            <a:endParaRPr lang="zh-CN" altLang="en-US" sz="2700" b="1" i="0">
              <a:solidFill>
                <a:srgbClr val="1D3557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将数学模型工程化，并洞察其局限性</a:t>
            </a:r>
            <a:endParaRPr lang="zh-CN" altLang="en-US" sz="1600" b="0" i="0">
              <a:solidFill>
                <a:srgbClr val="555555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833370"/>
            <a:ext cx="5080000" cy="119126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2700" b="1" i="0">
                <a:solidFill>
                  <a:srgbClr val="457B9D"/>
                </a:solidFill>
                <a:latin typeface="-apple-system"/>
                <a:ea typeface="-apple-system"/>
              </a:rPr>
              <a:t>代码实现与验证</a:t>
            </a:r>
            <a:endParaRPr lang="zh-CN" altLang="en-US" sz="2700" b="1" i="0">
              <a:solidFill>
                <a:srgbClr val="457B9D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“现在，我们将推导出的解析式转化为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Python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代码，以验证其正确性。”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48863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1600" b="1" i="0">
                <a:solidFill>
                  <a:srgbClr val="457B9D"/>
                </a:solidFill>
                <a:latin typeface="-apple-system"/>
                <a:ea typeface="-apple-system"/>
              </a:rPr>
              <a:t>解析公式的代码转化</a:t>
            </a:r>
            <a:endParaRPr lang="zh-CN" altLang="en-US" sz="1600" b="1" i="0">
              <a:solidFill>
                <a:srgbClr val="457B9D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0885" y="187483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1" i="0">
                <a:solidFill>
                  <a:srgbClr val="212529"/>
                </a:solidFill>
                <a:latin typeface="-apple-system"/>
                <a:ea typeface="-apple-system"/>
              </a:rPr>
              <a:t>数学公式</a:t>
            </a:r>
            <a:endParaRPr lang="zh-CN" altLang="en-US" sz="1600" b="1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430" y="2438400"/>
            <a:ext cx="3619500" cy="9906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16000" y="398684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解析公式能非常</a:t>
            </a:r>
            <a:r>
              <a:rPr lang="zh-CN" altLang="en-US" sz="1600" b="1" i="0">
                <a:solidFill>
                  <a:srgbClr val="E63946"/>
                </a:solidFill>
                <a:latin typeface="-apple-system"/>
                <a:ea typeface="-apple-system"/>
              </a:rPr>
              <a:t>直观地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被翻译成代码。每一个数学项都对应着一行或一部分代码。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38570" y="1642745"/>
            <a:ext cx="5504815" cy="42767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1600" b="0" i="0">
                <a:solidFill>
                  <a:srgbClr val="C678DD"/>
                </a:solidFill>
                <a:latin typeface="Fira Code"/>
                <a:ea typeface="Fira Code"/>
              </a:rPr>
              <a:t>import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 numpy </a:t>
            </a:r>
            <a:r>
              <a:rPr lang="en-US" altLang="zh-CN" sz="1600" b="0" i="0">
                <a:solidFill>
                  <a:srgbClr val="C678DD"/>
                </a:solidFill>
                <a:latin typeface="Fira Code"/>
                <a:ea typeface="Fira Code"/>
              </a:rPr>
              <a:t>as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 np </a:t>
            </a:r>
            <a:endParaRPr lang="en-US" altLang="zh-CN" sz="1600" b="0" i="0">
              <a:solidFill>
                <a:srgbClr val="ABB2BF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C678DD"/>
                </a:solidFill>
                <a:latin typeface="Fira Code"/>
                <a:ea typeface="Fira Code"/>
              </a:rPr>
              <a:t>def </a:t>
            </a:r>
            <a:r>
              <a:rPr lang="en-US" altLang="zh-CN" sz="1600" b="0" i="0">
                <a:solidFill>
                  <a:srgbClr val="61AFEF"/>
                </a:solidFill>
                <a:latin typeface="Fira Code"/>
                <a:ea typeface="Fira Code"/>
              </a:rPr>
              <a:t>forward_kinematics_2d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(theta1, theta2, L1, L2): </a:t>
            </a:r>
            <a:endParaRPr lang="en-US" altLang="zh-CN" sz="1600" b="0" i="0">
              <a:solidFill>
                <a:srgbClr val="ABB2BF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1">
                <a:solidFill>
                  <a:srgbClr val="5C6370"/>
                </a:solidFill>
                <a:latin typeface="Fira Code"/>
                <a:ea typeface="Fira Code"/>
              </a:rPr>
              <a:t>"""</a:t>
            </a:r>
            <a:r>
              <a:rPr lang="zh-CN" altLang="en-US" sz="1600" b="0" i="1">
                <a:solidFill>
                  <a:srgbClr val="5C6370"/>
                </a:solidFill>
                <a:latin typeface="Fira Code"/>
                <a:ea typeface="Fira Code"/>
              </a:rPr>
              <a:t>计算二连杆末端坐标</a:t>
            </a:r>
            <a:r>
              <a:rPr lang="en-US" altLang="zh-CN" sz="1600" b="0" i="1">
                <a:solidFill>
                  <a:srgbClr val="5C6370"/>
                </a:solidFill>
                <a:latin typeface="Fira Code"/>
                <a:ea typeface="Fira Code"/>
              </a:rPr>
              <a:t>."""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 </a:t>
            </a:r>
            <a:endParaRPr lang="en-US" altLang="zh-CN" sz="1600" b="0" i="0">
              <a:solidFill>
                <a:srgbClr val="ABB2BF"/>
              </a:solidFill>
              <a:latin typeface="Fira Code"/>
              <a:ea typeface="Fira Code"/>
            </a:endParaRPr>
          </a:p>
          <a:p>
            <a:pPr marL="457200" lvl="1" indent="0" algn="l"/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theta1_rad = np.deg2rad(theta1) </a:t>
            </a:r>
            <a:endParaRPr lang="en-US" altLang="zh-CN" sz="1600" b="0" i="0">
              <a:solidFill>
                <a:srgbClr val="ABB2BF"/>
              </a:solidFill>
              <a:latin typeface="Fira Code"/>
              <a:ea typeface="Fira Code"/>
            </a:endParaRPr>
          </a:p>
          <a:p>
            <a:pPr marL="457200" lvl="1" indent="0" algn="l"/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theta2_rad = np.deg2rad(theta2) </a:t>
            </a:r>
            <a:endParaRPr lang="en-US" altLang="zh-CN" sz="1600" b="0" i="0">
              <a:solidFill>
                <a:srgbClr val="ABB2BF"/>
              </a:solidFill>
              <a:latin typeface="Fira Code"/>
              <a:ea typeface="Fira Code"/>
            </a:endParaRPr>
          </a:p>
          <a:p>
            <a:pPr marL="457200" lvl="1" indent="0" algn="l"/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X = L1 * np.cos(theta1_rad) + L2 * np.cos(theta1_rad + theta2_rad) </a:t>
            </a:r>
            <a:endParaRPr lang="en-US" altLang="zh-CN" sz="1600" b="0" i="0">
              <a:solidFill>
                <a:srgbClr val="ABB2BF"/>
              </a:solidFill>
              <a:latin typeface="Fira Code"/>
              <a:ea typeface="Fira Code"/>
            </a:endParaRPr>
          </a:p>
          <a:p>
            <a:pPr marL="457200" lvl="1" indent="0" algn="l"/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Y = L1 * np.sin(theta1_rad) + L2 * np.sin(theta1_rad + theta2_rad) </a:t>
            </a:r>
            <a:endParaRPr lang="en-US" altLang="zh-CN" sz="1600" b="0" i="0">
              <a:solidFill>
                <a:srgbClr val="ABB2BF"/>
              </a:solidFill>
              <a:latin typeface="Fira Code"/>
              <a:ea typeface="Fira Code"/>
            </a:endParaRPr>
          </a:p>
          <a:p>
            <a:pPr marL="457200" lvl="1" indent="0" algn="l"/>
            <a:r>
              <a:rPr lang="en-US" altLang="zh-CN" sz="1600" b="0" i="0">
                <a:solidFill>
                  <a:srgbClr val="C678DD"/>
                </a:solidFill>
                <a:latin typeface="Fira Code"/>
                <a:ea typeface="Fira Code"/>
              </a:rPr>
              <a:t>return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 X, Y </a:t>
            </a:r>
            <a:endParaRPr lang="en-US" altLang="zh-CN" sz="1600" b="0" i="0">
              <a:solidFill>
                <a:srgbClr val="ABB2BF"/>
              </a:solidFill>
              <a:latin typeface="Fira Code"/>
              <a:ea typeface="Fira Code"/>
            </a:endParaRPr>
          </a:p>
          <a:p>
            <a:pPr marL="0" indent="0" algn="l"/>
            <a:endParaRPr lang="en-US" altLang="zh-CN" sz="1600" b="0" i="0">
              <a:solidFill>
                <a:srgbClr val="ABB2BF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1">
                <a:solidFill>
                  <a:srgbClr val="5C6370"/>
                </a:solidFill>
                <a:latin typeface="Fira Code"/>
                <a:ea typeface="Fira Code"/>
              </a:rPr>
              <a:t># Example usage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 </a:t>
            </a:r>
            <a:endParaRPr lang="en-US" altLang="zh-CN" sz="1600" b="0" i="0">
              <a:solidFill>
                <a:srgbClr val="ABB2BF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pos_x, pos_y = </a:t>
            </a:r>
            <a:r>
              <a:rPr lang="en-US" altLang="zh-CN" sz="1600" b="0" i="0">
                <a:solidFill>
                  <a:srgbClr val="61AFEF"/>
                </a:solidFill>
                <a:latin typeface="Fira Code"/>
                <a:ea typeface="Fira Code"/>
              </a:rPr>
              <a:t>forward_kinematics_2d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(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30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, 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45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, 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1.0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, 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0.8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) </a:t>
            </a:r>
            <a:r>
              <a:rPr lang="en-US" altLang="zh-CN" sz="1600" b="0" i="0">
                <a:solidFill>
                  <a:srgbClr val="C678DD"/>
                </a:solidFill>
                <a:latin typeface="Fira Code"/>
                <a:ea typeface="Fira Code"/>
              </a:rPr>
              <a:t>print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(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f"End-effector position: ({pos_x:.4f}, {pos_y:.4f})"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) </a:t>
            </a:r>
            <a:r>
              <a:rPr lang="en-US" altLang="zh-CN" sz="1600" b="0" i="1">
                <a:solidFill>
                  <a:srgbClr val="5C6370"/>
                </a:solidFill>
                <a:latin typeface="Fira Code"/>
                <a:ea typeface="Fira Code"/>
              </a:rPr>
              <a:t># &gt;&gt; End-effector position: (1.0733, 1.2821)</a:t>
            </a:r>
            <a:endParaRPr lang="en-US" altLang="zh-CN" sz="1600" b="0" i="1">
              <a:solidFill>
                <a:srgbClr val="5C6370"/>
              </a:solidFill>
              <a:latin typeface="Fira Code"/>
              <a:ea typeface="Fira Cod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13633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1600" b="1" i="0">
                <a:solidFill>
                  <a:srgbClr val="457B9D"/>
                </a:solidFill>
                <a:latin typeface="-apple-system"/>
                <a:ea typeface="-apple-system"/>
              </a:rPr>
              <a:t>解析法的局限性探讨</a:t>
            </a:r>
            <a:endParaRPr lang="zh-CN" altLang="en-US" sz="1600" b="1" i="0">
              <a:solidFill>
                <a:srgbClr val="457B9D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2890838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我们的方法在二维平面内清晰可行，但当问题变得更复杂时，它的“天花板”就显现了。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一个优秀的工程方法，需要具备</a:t>
            </a:r>
            <a:r>
              <a:rPr lang="zh-CN" altLang="en-US" sz="1600" b="1" i="0">
                <a:solidFill>
                  <a:srgbClr val="E63946"/>
                </a:solidFill>
                <a:latin typeface="-apple-system"/>
                <a:ea typeface="-apple-system"/>
              </a:rPr>
              <a:t>可扩展性、鲁棒性、通用性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。解析法在这些方面都面临着巨大挑战。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197610"/>
            <a:ext cx="5080000" cy="119126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2700" b="1" i="0">
                <a:solidFill>
                  <a:srgbClr val="457B9D"/>
                </a:solidFill>
                <a:latin typeface="-apple-system"/>
                <a:ea typeface="-apple-system"/>
              </a:rPr>
              <a:t>三维空间的复杂性</a:t>
            </a:r>
            <a:endParaRPr lang="zh-CN" altLang="en-US" sz="2700" b="1" i="0">
              <a:solidFill>
                <a:srgbClr val="457B9D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请设想，当机器人进入三维空间，每个关节可能是绕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X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、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Y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、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Z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任意轴旋转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...</a:t>
            </a:r>
            <a:endParaRPr lang="en-US" altLang="zh-CN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2890838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要用纯粹的三角函数和几何作图法来追踪每个点的三维坐标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(x, y, z)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，推导过程将变得</a:t>
            </a:r>
            <a:r>
              <a:rPr lang="zh-CN" altLang="en-US" sz="1600" b="1" i="0">
                <a:solidFill>
                  <a:srgbClr val="E63946"/>
                </a:solidFill>
                <a:latin typeface="-apple-system"/>
                <a:ea typeface="-apple-system"/>
              </a:rPr>
              <a:t>极其繁琐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，公式也会</a:t>
            </a:r>
            <a:r>
              <a:rPr lang="zh-CN" altLang="en-US" sz="1600" b="1" i="0">
                <a:solidFill>
                  <a:srgbClr val="E63946"/>
                </a:solidFill>
                <a:latin typeface="-apple-system"/>
                <a:ea typeface="-apple-system"/>
              </a:rPr>
              <a:t>异常冗长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，非常容易出错。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二维下的“总角度相加”这种直观技巧将</a:t>
            </a:r>
            <a:r>
              <a:rPr lang="zh-CN" altLang="en-US" sz="1600" b="1" i="0">
                <a:solidFill>
                  <a:srgbClr val="E63946"/>
                </a:solidFill>
                <a:latin typeface="-apple-system"/>
                <a:ea typeface="-apple-system"/>
              </a:rPr>
              <a:t>完全失效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958658"/>
            <a:ext cx="5080000" cy="168402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2700" b="1" i="0">
                <a:solidFill>
                  <a:srgbClr val="457B9D"/>
                </a:solidFill>
                <a:latin typeface="-apple-system"/>
                <a:ea typeface="-apple-system"/>
              </a:rPr>
              <a:t>矩阵法：工程化的解决方案</a:t>
            </a:r>
            <a:endParaRPr lang="zh-CN" altLang="en-US" sz="2700" b="1" i="0">
              <a:solidFill>
                <a:srgbClr val="457B9D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正是为了解决解析法面临的</a:t>
            </a:r>
            <a:r>
              <a:rPr lang="zh-CN" altLang="en-US" sz="1600" b="1" i="0">
                <a:solidFill>
                  <a:srgbClr val="E63946"/>
                </a:solidFill>
                <a:latin typeface="-apple-system"/>
                <a:ea typeface="-apple-system"/>
              </a:rPr>
              <a:t>复杂性、姿态问题、非通用性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三大挑战，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学术界和工业界发展出了基于</a:t>
            </a:r>
            <a:r>
              <a:rPr lang="zh-CN" altLang="en-US" sz="1600" b="1" i="0">
                <a:solidFill>
                  <a:srgbClr val="1D3557"/>
                </a:solidFill>
                <a:latin typeface="-apple-system"/>
                <a:ea typeface="-apple-system"/>
              </a:rPr>
              <a:t>齐次变换矩阵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的标准化方法。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4023678"/>
            <a:ext cx="5080000" cy="87566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1900"/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它通过一个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4x4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的矩阵，将</a:t>
            </a:r>
            <a:r>
              <a:rPr lang="zh-CN" altLang="en-US" sz="1600" b="1" i="0">
                <a:solidFill>
                  <a:srgbClr val="E63946"/>
                </a:solidFill>
                <a:latin typeface="-apple-system"/>
                <a:ea typeface="-apple-system"/>
              </a:rPr>
              <a:t>旋转与平移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统一在一个运算框架下；将复杂的坐标系递推，转化为优雅的</a:t>
            </a:r>
            <a:r>
              <a:rPr lang="zh-CN" altLang="en-US" sz="1600" b="1" i="0">
                <a:solidFill>
                  <a:srgbClr val="E63946"/>
                </a:solidFill>
                <a:latin typeface="-apple-system"/>
                <a:ea typeface="-apple-system"/>
              </a:rPr>
              <a:t>矩阵连乘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751840"/>
            <a:ext cx="5080000" cy="119126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2700" b="1" i="0">
                <a:solidFill>
                  <a:srgbClr val="457B9D"/>
                </a:solidFill>
                <a:latin typeface="-apple-system"/>
                <a:ea typeface="-apple-system"/>
              </a:rPr>
              <a:t>为何要学习矩阵法？</a:t>
            </a:r>
            <a:endParaRPr lang="zh-CN" altLang="en-US" sz="2700" b="1" i="0">
              <a:solidFill>
                <a:srgbClr val="457B9D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虽然初学时显得抽象，但它为复杂机器人的建模提供了无与伦比的：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3545" y="2998470"/>
            <a:ext cx="3720465" cy="11074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100" b="1" i="0">
                <a:solidFill>
                  <a:srgbClr val="D62828"/>
                </a:solidFill>
                <a:latin typeface="-apple-system"/>
                <a:ea typeface="-apple-system"/>
              </a:rPr>
              <a:t>简洁性</a:t>
            </a:r>
            <a:endParaRPr lang="zh-CN" altLang="en-US" sz="2100" b="1" i="0">
              <a:solidFill>
                <a:srgbClr val="D62828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用统一的矩阵乘法代替繁杂的三角函数公式。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26585" y="2998470"/>
            <a:ext cx="4209415" cy="11074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100" b="1" i="0">
                <a:solidFill>
                  <a:srgbClr val="D62828"/>
                </a:solidFill>
                <a:latin typeface="-apple-system"/>
                <a:ea typeface="-apple-system"/>
              </a:rPr>
              <a:t>通用性</a:t>
            </a:r>
            <a:endParaRPr lang="zh-CN" altLang="en-US" sz="2100" b="1" i="0">
              <a:solidFill>
                <a:srgbClr val="D62828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一套方法适用于任何结构、任何自由度的机器人。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15375" y="2998470"/>
            <a:ext cx="2955925" cy="11074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100" b="1" i="0">
                <a:solidFill>
                  <a:srgbClr val="D62828"/>
                </a:solidFill>
                <a:latin typeface="-apple-system"/>
                <a:ea typeface="-apple-system"/>
              </a:rPr>
              <a:t>计算效率</a:t>
            </a:r>
            <a:endParaRPr lang="zh-CN" altLang="en-US" sz="2100" b="1" i="0">
              <a:solidFill>
                <a:srgbClr val="D62828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非常适合在计算机上进行高效的数值计算。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975610"/>
            <a:ext cx="5080000" cy="90678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200"/>
              </a:spcAft>
            </a:pPr>
            <a:r>
              <a:rPr lang="zh-CN" altLang="en-US" sz="2700" b="1" i="0">
                <a:solidFill>
                  <a:srgbClr val="023E8A"/>
                </a:solidFill>
                <a:latin typeface="-apple-system"/>
                <a:ea typeface="-apple-system"/>
              </a:rPr>
              <a:t>基础变换矩阵</a:t>
            </a:r>
            <a:endParaRPr lang="zh-CN" altLang="en-US" sz="2700" b="1" i="0">
              <a:solidFill>
                <a:srgbClr val="023E8A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旋转 </a:t>
            </a:r>
            <a:r>
              <a:rPr lang="en-US" altLang="zh-CN" sz="1600" b="0" i="0">
                <a:solidFill>
                  <a:srgbClr val="555555"/>
                </a:solidFill>
                <a:latin typeface="-apple-system"/>
                <a:ea typeface="-apple-system"/>
              </a:rPr>
              <a:t>(Rotation) </a:t>
            </a:r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与 平移 </a:t>
            </a:r>
            <a:r>
              <a:rPr lang="en-US" altLang="zh-CN" sz="1600" b="0" i="0">
                <a:solidFill>
                  <a:srgbClr val="555555"/>
                </a:solidFill>
                <a:latin typeface="-apple-system"/>
                <a:ea typeface="-apple-system"/>
              </a:rPr>
              <a:t>(Translation)</a:t>
            </a:r>
            <a:endParaRPr lang="en-US" altLang="zh-CN" sz="1600" b="0" i="0">
              <a:solidFill>
                <a:srgbClr val="555555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92424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en-US" altLang="zh-CN" sz="1600" b="1" i="0">
                <a:solidFill>
                  <a:srgbClr val="0077B6"/>
                </a:solidFill>
                <a:latin typeface="-apple-system"/>
                <a:ea typeface="-apple-system"/>
              </a:rPr>
              <a:t>1. </a:t>
            </a:r>
            <a:r>
              <a:rPr lang="zh-CN" altLang="en-US" sz="1600" b="1" i="0">
                <a:solidFill>
                  <a:srgbClr val="0077B6"/>
                </a:solidFill>
                <a:latin typeface="-apple-system"/>
                <a:ea typeface="-apple-system"/>
              </a:rPr>
              <a:t>旋转矩阵 </a:t>
            </a:r>
            <a:r>
              <a:rPr lang="en-US" altLang="zh-CN" sz="1600" b="1" i="0">
                <a:solidFill>
                  <a:srgbClr val="0077B6"/>
                </a:solidFill>
                <a:latin typeface="-apple-system"/>
                <a:ea typeface="-apple-system"/>
              </a:rPr>
              <a:t>Rot(θ)</a:t>
            </a:r>
            <a:endParaRPr lang="en-US" altLang="zh-CN" sz="1600" b="1" i="0">
              <a:solidFill>
                <a:srgbClr val="0077B6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83740" y="1900555"/>
            <a:ext cx="5080000" cy="122936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Aft>
                <a:spcPct val="60000"/>
              </a:spcAft>
            </a:pPr>
            <a:r>
              <a:rPr lang="zh-CN" altLang="en-US" sz="1600" b="1" i="0">
                <a:solidFill>
                  <a:srgbClr val="212529"/>
                </a:solidFill>
                <a:latin typeface="-apple-system"/>
                <a:ea typeface="-apple-system"/>
              </a:rPr>
              <a:t>作用</a:t>
            </a:r>
            <a:endParaRPr lang="zh-CN" altLang="en-US" sz="1600" b="1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旋转矩阵的核心作用是，将一个点或一个坐标系，绕着</a:t>
            </a:r>
            <a:r>
              <a:rPr lang="zh-CN" altLang="en-US" sz="1600" b="1" i="0">
                <a:solidFill>
                  <a:srgbClr val="D00000"/>
                </a:solidFill>
                <a:latin typeface="-apple-system"/>
                <a:ea typeface="-apple-system"/>
              </a:rPr>
              <a:t>原点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进行</a:t>
            </a:r>
            <a:r>
              <a:rPr lang="zh-CN" altLang="en-US" sz="1600" b="1" i="0">
                <a:solidFill>
                  <a:srgbClr val="D00000"/>
                </a:solidFill>
                <a:latin typeface="-apple-system"/>
                <a:ea typeface="-apple-system"/>
              </a:rPr>
              <a:t>逆时针旋转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一个角度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023E8A"/>
                </a:solidFill>
                <a:latin typeface="Courier New" panose="02070309020205020404"/>
                <a:ea typeface="Courier New" panose="02070309020205020404"/>
              </a:rPr>
              <a:t>θ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它只改变</a:t>
            </a:r>
            <a:r>
              <a:rPr lang="zh-CN" altLang="en-US" sz="1600" b="1" i="0">
                <a:solidFill>
                  <a:srgbClr val="D00000"/>
                </a:solidFill>
                <a:latin typeface="-apple-system"/>
                <a:ea typeface="-apple-system"/>
              </a:rPr>
              <a:t>方向</a:t>
            </a:r>
            <a:r>
              <a:rPr lang="en-US" altLang="zh-CN" sz="1600" b="1" i="0">
                <a:solidFill>
                  <a:srgbClr val="D00000"/>
                </a:solidFill>
                <a:latin typeface="-apple-system"/>
                <a:ea typeface="-apple-system"/>
              </a:rPr>
              <a:t>/</a:t>
            </a:r>
            <a:r>
              <a:rPr lang="zh-CN" altLang="en-US" sz="1600" b="1" i="0">
                <a:solidFill>
                  <a:srgbClr val="D00000"/>
                </a:solidFill>
                <a:latin typeface="-apple-system"/>
                <a:ea typeface="-apple-system"/>
              </a:rPr>
              <a:t>姿态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，不改变</a:t>
            </a:r>
            <a:r>
              <a:rPr lang="zh-CN" altLang="en-US" sz="1600" b="1" i="0">
                <a:solidFill>
                  <a:srgbClr val="D00000"/>
                </a:solidFill>
                <a:latin typeface="-apple-system"/>
                <a:ea typeface="-apple-system"/>
              </a:rPr>
              <a:t>位置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735" y="1900555"/>
            <a:ext cx="3197860" cy="14452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054735"/>
            <a:ext cx="5080000" cy="7759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en-US" altLang="zh-CN" sz="1600" b="1" i="0">
                <a:solidFill>
                  <a:srgbClr val="0077B6"/>
                </a:solidFill>
                <a:latin typeface="-apple-system"/>
                <a:ea typeface="-apple-system"/>
              </a:rPr>
              <a:t>2. </a:t>
            </a:r>
            <a:r>
              <a:rPr lang="zh-CN" altLang="en-US" sz="1600" b="1" i="0">
                <a:solidFill>
                  <a:srgbClr val="0077B6"/>
                </a:solidFill>
                <a:latin typeface="-apple-system"/>
                <a:ea typeface="-apple-system"/>
              </a:rPr>
              <a:t>平移变换 </a:t>
            </a:r>
            <a:r>
              <a:rPr lang="en-US" altLang="zh-CN" sz="1600" b="1" i="0">
                <a:solidFill>
                  <a:srgbClr val="0077B6"/>
                </a:solidFill>
                <a:latin typeface="-apple-system"/>
                <a:ea typeface="-apple-system"/>
              </a:rPr>
              <a:t>(Translation)</a:t>
            </a:r>
            <a:endParaRPr lang="en-US" altLang="zh-CN" sz="1600" b="1" i="0">
              <a:solidFill>
                <a:srgbClr val="0077B6"/>
              </a:solidFill>
              <a:latin typeface="-apple-system"/>
              <a:ea typeface="-apple-system"/>
            </a:endParaRPr>
          </a:p>
          <a:p>
            <a:pPr marL="0" indent="0" algn="ctr">
              <a:spcAft>
                <a:spcPts val="1500"/>
              </a:spcAft>
            </a:pPr>
            <a:endParaRPr lang="en-US" altLang="zh-CN" sz="1600" b="1" i="0">
              <a:solidFill>
                <a:srgbClr val="0077B6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40940" y="2245360"/>
            <a:ext cx="7065645" cy="21215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Aft>
                <a:spcPct val="60000"/>
              </a:spcAft>
            </a:pPr>
            <a:r>
              <a:rPr lang="zh-CN" altLang="en-US" sz="1600" b="1" i="0">
                <a:solidFill>
                  <a:srgbClr val="212529"/>
                </a:solidFill>
                <a:latin typeface="-apple-system"/>
                <a:ea typeface="-apple-system"/>
              </a:rPr>
              <a:t>作用</a:t>
            </a:r>
            <a:endParaRPr lang="zh-CN" altLang="en-US" sz="1600" b="1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平移的作用是，将一个点或一个坐标系，从原点移动到一个新的位置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023E8A"/>
                </a:solidFill>
                <a:latin typeface="Courier New" panose="02070309020205020404"/>
                <a:ea typeface="Courier New" panose="02070309020205020404"/>
              </a:rPr>
              <a:t>(tx, ty)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它只改变</a:t>
            </a:r>
            <a:r>
              <a:rPr lang="zh-CN" altLang="en-US" sz="1600" b="1" i="0">
                <a:solidFill>
                  <a:srgbClr val="D00000"/>
                </a:solidFill>
                <a:latin typeface="-apple-system"/>
                <a:ea typeface="-apple-system"/>
              </a:rPr>
              <a:t>位置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，不改变</a:t>
            </a:r>
            <a:r>
              <a:rPr lang="zh-CN" altLang="en-US" sz="1600" b="1" i="0">
                <a:solidFill>
                  <a:srgbClr val="D00000"/>
                </a:solidFill>
                <a:latin typeface="-apple-system"/>
                <a:ea typeface="-apple-system"/>
              </a:rPr>
              <a:t>方向</a:t>
            </a:r>
            <a:r>
              <a:rPr lang="en-US" altLang="zh-CN" sz="1600" b="1" i="0">
                <a:solidFill>
                  <a:srgbClr val="D00000"/>
                </a:solidFill>
                <a:latin typeface="-apple-system"/>
                <a:ea typeface="-apple-system"/>
              </a:rPr>
              <a:t>/</a:t>
            </a:r>
            <a:r>
              <a:rPr lang="zh-CN" altLang="en-US" sz="1600" b="1" i="0">
                <a:solidFill>
                  <a:srgbClr val="D00000"/>
                </a:solidFill>
                <a:latin typeface="-apple-system"/>
                <a:ea typeface="-apple-system"/>
              </a:rPr>
              <a:t>姿态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ct val="60000"/>
              </a:spcAft>
            </a:pPr>
            <a:r>
              <a:rPr lang="zh-CN" altLang="en-US" sz="1600" b="1" i="0">
                <a:solidFill>
                  <a:srgbClr val="212529"/>
                </a:solidFill>
                <a:latin typeface="-apple-system"/>
                <a:ea typeface="-apple-system"/>
              </a:rPr>
              <a:t>数学表达</a:t>
            </a:r>
            <a:endParaRPr lang="zh-CN" altLang="en-US" sz="1600" b="1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平移在数学上是一个</a:t>
            </a:r>
            <a:r>
              <a:rPr lang="zh-CN" altLang="en-US" sz="1600" b="1" i="0">
                <a:solidFill>
                  <a:srgbClr val="D00000"/>
                </a:solidFill>
                <a:latin typeface="-apple-system"/>
                <a:ea typeface="-apple-system"/>
              </a:rPr>
              <a:t>矢量加法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：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en-US" altLang="zh-CN" sz="1600" b="1" i="0">
                <a:solidFill>
                  <a:srgbClr val="023E8A"/>
                </a:solidFill>
                <a:latin typeface="Courier New" panose="02070309020205020404"/>
                <a:ea typeface="Courier New" panose="02070309020205020404"/>
              </a:rPr>
              <a:t>[x_new, y_new] = [x_old, y_old] + [tx, ty]</a:t>
            </a:r>
            <a:endParaRPr lang="en-US" altLang="zh-CN" sz="1600" b="1" i="0">
              <a:solidFill>
                <a:srgbClr val="023E8A"/>
              </a:solidFill>
              <a:latin typeface="Courier New" panose="02070309020205020404"/>
              <a:ea typeface="Courier New" panose="020703090202050204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683577"/>
            <a:ext cx="5080000" cy="94551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2700" b="1" i="0">
                <a:solidFill>
                  <a:srgbClr val="0077B6"/>
                </a:solidFill>
                <a:latin typeface="-apple-system"/>
                <a:ea typeface="-apple-system"/>
              </a:rPr>
              <a:t>如何统一两种运算？</a:t>
            </a:r>
            <a:endParaRPr lang="zh-CN" altLang="en-US" sz="2700" b="1" i="0">
              <a:solidFill>
                <a:srgbClr val="0077B6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我们面临一个工程上的难题：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74725" y="2262188"/>
            <a:ext cx="5080000" cy="7778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1" i="0">
                <a:solidFill>
                  <a:srgbClr val="D00000"/>
                </a:solidFill>
                <a:latin typeface="-apple-system"/>
                <a:ea typeface="-apple-system"/>
              </a:rPr>
              <a:t>旋转是“乘法”</a:t>
            </a:r>
            <a:endParaRPr lang="zh-CN" altLang="en-US" sz="1600" b="1" i="0">
              <a:solidFill>
                <a:srgbClr val="D00000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新坐标 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= 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矩阵 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× 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旧坐标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54725" y="2262188"/>
            <a:ext cx="5080000" cy="7778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1" i="0">
                <a:solidFill>
                  <a:srgbClr val="0077B6"/>
                </a:solidFill>
                <a:latin typeface="-apple-system"/>
                <a:ea typeface="-apple-system"/>
              </a:rPr>
              <a:t>平移是“加法”</a:t>
            </a:r>
            <a:endParaRPr lang="zh-CN" altLang="en-US" sz="1600" b="1" i="0">
              <a:solidFill>
                <a:srgbClr val="0077B6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新坐标 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= 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旧坐标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+ 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矢量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56000" y="3962083"/>
            <a:ext cx="5080000" cy="190690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ts val="2400"/>
              </a:spcBef>
            </a:pP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如果我们要对一个物体</a:t>
            </a:r>
            <a:r>
              <a:rPr lang="zh-CN" altLang="en-US" sz="1600" b="1" i="0">
                <a:solidFill>
                  <a:srgbClr val="D00000"/>
                </a:solidFill>
                <a:latin typeface="-apple-system"/>
                <a:ea typeface="-apple-system"/>
              </a:rPr>
              <a:t>先旋转再平移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，就需要进行一次乘法和一次加法，这非常不“优雅”，也难以编程实现连续的变换。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2400"/>
              </a:spcBef>
              <a:spcAft>
                <a:spcPts val="1500"/>
              </a:spcAft>
            </a:pPr>
            <a:r>
              <a:rPr lang="zh-CN" altLang="en-US" sz="2500" b="1" i="0">
                <a:solidFill>
                  <a:srgbClr val="0077B6"/>
                </a:solidFill>
                <a:latin typeface="-apple-system"/>
                <a:ea typeface="-apple-system"/>
              </a:rPr>
              <a:t>有没有办法把“加法”也变成“乘法”？</a:t>
            </a:r>
            <a:endParaRPr lang="zh-CN" altLang="en-US" sz="2500" b="1" i="0">
              <a:solidFill>
                <a:srgbClr val="0077B6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647700"/>
            <a:ext cx="5080000" cy="193040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2700" b="1" i="0">
                <a:solidFill>
                  <a:srgbClr val="0077B6"/>
                </a:solidFill>
                <a:latin typeface="-apple-system"/>
                <a:ea typeface="-apple-system"/>
              </a:rPr>
              <a:t>解决方案：齐次坐标与齐次矩阵</a:t>
            </a:r>
            <a:endParaRPr lang="zh-CN" altLang="en-US" sz="2700" b="1" i="0">
              <a:solidFill>
                <a:srgbClr val="0077B6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答案是肯定的！通过引入</a:t>
            </a:r>
            <a:r>
              <a:rPr lang="zh-CN" altLang="en-US" sz="1600" b="1" i="0">
                <a:solidFill>
                  <a:srgbClr val="D00000"/>
                </a:solidFill>
                <a:latin typeface="-apple-system"/>
                <a:ea typeface="-apple-system"/>
              </a:rPr>
              <a:t>齐次坐标 </a:t>
            </a:r>
            <a:r>
              <a:rPr lang="en-US" altLang="zh-CN" sz="1600" b="1" i="0">
                <a:solidFill>
                  <a:srgbClr val="D00000"/>
                </a:solidFill>
                <a:latin typeface="-apple-system"/>
                <a:ea typeface="-apple-system"/>
              </a:rPr>
              <a:t>(Homogeneous Coordinates)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，我们可以巧妙地将平移也用矩阵乘法来表示。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我们将二维坐标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023E8A"/>
                </a:solidFill>
                <a:latin typeface="Courier New" panose="02070309020205020404"/>
                <a:ea typeface="Courier New" panose="02070309020205020404"/>
              </a:rPr>
              <a:t>(x, y)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增加一个维度，变成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023E8A"/>
                </a:solidFill>
                <a:latin typeface="Courier New" panose="02070309020205020404"/>
                <a:ea typeface="Courier New" panose="02070309020205020404"/>
              </a:rPr>
              <a:t>(x, y, 1)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。然后使用</a:t>
            </a:r>
            <a:r>
              <a:rPr lang="en-US" altLang="zh-CN" sz="1600" b="1" i="0">
                <a:solidFill>
                  <a:srgbClr val="D00000"/>
                </a:solidFill>
                <a:latin typeface="-apple-system"/>
                <a:ea typeface="-apple-system"/>
              </a:rPr>
              <a:t>3x3</a:t>
            </a:r>
            <a:r>
              <a:rPr lang="zh-CN" altLang="en-US" sz="1600" b="1" i="0">
                <a:solidFill>
                  <a:srgbClr val="D00000"/>
                </a:solidFill>
                <a:latin typeface="-apple-system"/>
                <a:ea typeface="-apple-system"/>
              </a:rPr>
              <a:t>的齐次矩阵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来进行变换。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0" y="2730500"/>
            <a:ext cx="3931920" cy="24384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165" y="2730500"/>
            <a:ext cx="2971800" cy="23088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56000" y="559022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现在，旋转和平移都变成了</a:t>
            </a:r>
            <a:r>
              <a:rPr lang="zh-CN" altLang="en-US" sz="1600" b="1" i="0">
                <a:solidFill>
                  <a:srgbClr val="D00000"/>
                </a:solidFill>
                <a:latin typeface="-apple-system"/>
                <a:ea typeface="-apple-system"/>
              </a:rPr>
              <a:t>同一种形式的运算</a:t>
            </a:r>
            <a:r>
              <a:rPr lang="en-US" altLang="zh-CN" sz="1600" b="1" i="0">
                <a:solidFill>
                  <a:srgbClr val="D00000"/>
                </a:solidFill>
                <a:latin typeface="-apple-system"/>
                <a:ea typeface="-apple-system"/>
              </a:rPr>
              <a:t>——3x3</a:t>
            </a:r>
            <a:r>
              <a:rPr lang="zh-CN" altLang="en-US" sz="1600" b="1" i="0">
                <a:solidFill>
                  <a:srgbClr val="D00000"/>
                </a:solidFill>
                <a:latin typeface="-apple-system"/>
                <a:ea typeface="-apple-system"/>
              </a:rPr>
              <a:t>矩阵乘法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，问题被完美统一了！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82835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1600" b="1" i="0">
                <a:solidFill>
                  <a:srgbClr val="0077B6"/>
                </a:solidFill>
                <a:latin typeface="-apple-system"/>
                <a:ea typeface="-apple-system"/>
              </a:rPr>
              <a:t>矩阵乘法的意义：连续施加变换</a:t>
            </a:r>
            <a:endParaRPr lang="zh-CN" altLang="en-US" sz="1600" b="1" i="0">
              <a:solidFill>
                <a:srgbClr val="0077B6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99435" y="1891030"/>
            <a:ext cx="6174105" cy="3261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矩阵乘法不仅仅是数学计算，它的物理意义是</a:t>
            </a:r>
            <a:r>
              <a:rPr lang="zh-CN" altLang="en-US" sz="1600" b="1" i="0">
                <a:solidFill>
                  <a:srgbClr val="D00000"/>
                </a:solidFill>
                <a:latin typeface="-apple-system"/>
                <a:ea typeface="-apple-system"/>
              </a:rPr>
              <a:t>“将一系列的变换效果叠加起来”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假设我们想对一个点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023E8A"/>
                </a:solidFill>
                <a:latin typeface="Courier New" panose="02070309020205020404"/>
                <a:ea typeface="Courier New" panose="02070309020205020404"/>
              </a:rPr>
              <a:t>P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先进行变换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023E8A"/>
                </a:solidFill>
                <a:latin typeface="Courier New" panose="02070309020205020404"/>
                <a:ea typeface="Courier New" panose="02070309020205020404"/>
              </a:rPr>
              <a:t>M₁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，再进行变换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023E8A"/>
                </a:solidFill>
                <a:latin typeface="Courier New" panose="02070309020205020404"/>
                <a:ea typeface="Courier New" panose="02070309020205020404"/>
              </a:rPr>
              <a:t>M₂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，得到新的点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023E8A"/>
                </a:solidFill>
                <a:latin typeface="Courier New" panose="02070309020205020404"/>
                <a:ea typeface="Courier New" panose="02070309020205020404"/>
              </a:rPr>
              <a:t>P'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en-US" altLang="zh-CN" sz="2000" b="0" i="0">
                <a:solidFill>
                  <a:srgbClr val="212529"/>
                </a:solidFill>
                <a:latin typeface="-apple-system"/>
                <a:ea typeface="-apple-system"/>
              </a:rPr>
              <a:t>P' = M₂ × (M₁ × P) = (M₂ × M₁) × P</a:t>
            </a:r>
            <a:endParaRPr lang="en-US" altLang="zh-CN" sz="20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</a:pP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这意味着，我们可以先把所有变换矩阵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023E8A"/>
                </a:solidFill>
                <a:latin typeface="Courier New" panose="02070309020205020404"/>
                <a:ea typeface="Courier New" panose="02070309020205020404"/>
              </a:rPr>
              <a:t>M₂ × M₁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预先乘起来，得到一个</a:t>
            </a:r>
            <a:r>
              <a:rPr lang="zh-CN" altLang="en-US" sz="1600" b="1" i="0">
                <a:solidFill>
                  <a:srgbClr val="D00000"/>
                </a:solidFill>
                <a:latin typeface="-apple-system"/>
                <a:ea typeface="-apple-system"/>
              </a:rPr>
              <a:t>复合变换矩阵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023E8A"/>
                </a:solidFill>
                <a:latin typeface="Courier New" panose="02070309020205020404"/>
                <a:ea typeface="Courier New" panose="02070309020205020404"/>
              </a:rPr>
              <a:t>M_total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。然后用这个复合矩阵去变换点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023E8A"/>
                </a:solidFill>
                <a:latin typeface="Courier New" panose="02070309020205020404"/>
                <a:ea typeface="Courier New" panose="02070309020205020404"/>
              </a:rPr>
              <a:t>P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，效果完全一样！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endParaRPr lang="zh-CN" altLang="en-US" sz="1600" b="1" i="0">
              <a:solidFill>
                <a:srgbClr val="D00000"/>
              </a:solidFill>
              <a:latin typeface="-apple-system"/>
              <a:ea typeface="-apple-system"/>
            </a:endParaRPr>
          </a:p>
          <a:p>
            <a:pPr marL="0" indent="0" algn="ctr"/>
            <a:endParaRPr lang="zh-CN" altLang="en-US" sz="1600" b="1" i="0">
              <a:solidFill>
                <a:srgbClr val="D00000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1" i="0">
                <a:solidFill>
                  <a:srgbClr val="D00000"/>
                </a:solidFill>
                <a:latin typeface="-apple-system"/>
                <a:ea typeface="-apple-system"/>
              </a:rPr>
              <a:t>注意：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矩阵乘法不满足交换律，即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023E8A"/>
                </a:solidFill>
                <a:latin typeface="Courier New" panose="02070309020205020404"/>
                <a:ea typeface="Courier New" panose="02070309020205020404"/>
              </a:rPr>
              <a:t>M₂ × M₁ ≠ M₁ × M₂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。这意味着变换的顺序至关重要！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6372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1600" b="1" i="0">
                <a:solidFill>
                  <a:srgbClr val="0077B6"/>
                </a:solidFill>
                <a:latin typeface="-apple-system"/>
                <a:ea typeface="-apple-system"/>
              </a:rPr>
              <a:t>矩阵乘法计算示例：</a:t>
            </a:r>
            <a:r>
              <a:rPr lang="en-US" altLang="zh-CN" sz="1600" b="1" i="0">
                <a:solidFill>
                  <a:srgbClr val="0077B6"/>
                </a:solidFill>
                <a:latin typeface="-apple-system"/>
                <a:ea typeface="-apple-system"/>
              </a:rPr>
              <a:t>T₀² = T₀¹ × T₁²</a:t>
            </a:r>
            <a:endParaRPr lang="en-US" altLang="zh-CN" sz="1600" b="1" i="0">
              <a:solidFill>
                <a:srgbClr val="0077B6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117887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二连杆机器人的最终变换，看看它是如何计算的。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6050" y="1516380"/>
            <a:ext cx="6819900" cy="17449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27810" y="3429000"/>
            <a:ext cx="8837930" cy="189674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ctr"/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例如，计算结果矩阵第一行第一列的元素 </a:t>
            </a:r>
            <a:r>
              <a:rPr lang="en-US" altLang="zh-CN" b="0" i="0">
                <a:solidFill>
                  <a:srgbClr val="212529"/>
                </a:solidFill>
                <a:latin typeface="-apple-system"/>
                <a:ea typeface="-apple-system"/>
              </a:rPr>
              <a:t>C₁₁:</a:t>
            </a:r>
            <a:endParaRPr lang="en-US" altLang="zh-CN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C₁₁ = (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第一行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) ⋅ (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第一列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) = </a:t>
            </a:r>
            <a:r>
              <a:rPr lang="en-US" altLang="zh-CN" sz="1600" b="1" i="0">
                <a:solidFill>
                  <a:srgbClr val="023E8A"/>
                </a:solidFill>
                <a:latin typeface="Courier New" panose="02070309020205020404"/>
                <a:ea typeface="Courier New" panose="02070309020205020404"/>
              </a:rPr>
              <a:t>(c₁ * c₂) + (-s₁ * s₂) + (X₁ * 0) </a:t>
            </a:r>
            <a:endParaRPr lang="en-US" altLang="zh-CN" sz="1600" b="1" i="0">
              <a:solidFill>
                <a:srgbClr val="023E8A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ctr"/>
            <a:r>
              <a:rPr lang="en-US" altLang="zh-CN" sz="1600" b="1" i="0">
                <a:solidFill>
                  <a:srgbClr val="023E8A"/>
                </a:solidFill>
                <a:latin typeface="Courier New" panose="02070309020205020404"/>
                <a:ea typeface="Courier New" panose="02070309020205020404"/>
              </a:rPr>
              <a:t>= c₁c₂ - s₁s₂ = cos(θ₁+θ₂)</a:t>
            </a:r>
            <a:endParaRPr lang="en-US" altLang="zh-CN" sz="1600" b="1" i="0">
              <a:solidFill>
                <a:srgbClr val="023E8A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计算第一行第三列的元素 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C₁₃ (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最终的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X₂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坐标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):</a:t>
            </a:r>
            <a:endParaRPr lang="en-US" altLang="zh-CN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C₁₃ = (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第一行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) ⋅ (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第三列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) = </a:t>
            </a:r>
            <a:r>
              <a:rPr lang="en-US" altLang="zh-CN" sz="1600" b="1" i="0">
                <a:solidFill>
                  <a:srgbClr val="023E8A"/>
                </a:solidFill>
                <a:latin typeface="Courier New" panose="02070309020205020404"/>
                <a:ea typeface="Courier New" panose="02070309020205020404"/>
              </a:rPr>
              <a:t>(c₁ * X'₂) + (-s₁ * Y'₂) + (X₁ * 1) </a:t>
            </a:r>
            <a:endParaRPr lang="en-US" altLang="zh-CN" sz="1600" b="1" i="0">
              <a:solidFill>
                <a:srgbClr val="023E8A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ctr"/>
            <a:r>
              <a:rPr lang="en-US" altLang="zh-CN" sz="1600" b="1" i="0">
                <a:solidFill>
                  <a:srgbClr val="023E8A"/>
                </a:solidFill>
                <a:latin typeface="Courier New" panose="02070309020205020404"/>
                <a:ea typeface="Courier New" panose="02070309020205020404"/>
              </a:rPr>
              <a:t>= X₁ + c₁X'₂ - s₁Y'₂ = ... = X₁ + L₂cos(θ₁+θ₂)</a:t>
            </a:r>
            <a:endParaRPr lang="en-US" altLang="zh-CN" sz="1600" b="1" i="0">
              <a:solidFill>
                <a:srgbClr val="023E8A"/>
              </a:solidFill>
              <a:latin typeface="Courier New" panose="02070309020205020404"/>
              <a:ea typeface="Courier New" panose="02070309020205020404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820" y="5210810"/>
            <a:ext cx="3619500" cy="9906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430020" y="5325745"/>
            <a:ext cx="521208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与之前几何公式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完全一致</a:t>
            </a:r>
            <a:endParaRPr lang="zh-CN" altLang="en-US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702945"/>
            <a:ext cx="5080000" cy="90678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200"/>
              </a:spcAft>
            </a:pPr>
            <a:r>
              <a:rPr lang="zh-CN" altLang="en-US" sz="2700" b="1" i="0">
                <a:solidFill>
                  <a:srgbClr val="0D47A1"/>
                </a:solidFill>
                <a:latin typeface="-apple-system"/>
                <a:ea typeface="-apple-system"/>
              </a:rPr>
              <a:t>从理论到代码</a:t>
            </a:r>
            <a:endParaRPr lang="zh-CN" altLang="en-US" sz="2700" b="1" i="0">
              <a:solidFill>
                <a:srgbClr val="0D47A1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使用</a:t>
            </a:r>
            <a:r>
              <a:rPr lang="en-US" altLang="zh-CN" sz="1600" b="0" i="0">
                <a:solidFill>
                  <a:srgbClr val="555555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1565C0"/>
                </a:solidFill>
                <a:latin typeface="-apple-system"/>
                <a:ea typeface="-apple-system"/>
              </a:rPr>
              <a:t>IKPY</a:t>
            </a:r>
            <a:r>
              <a:rPr lang="en-US" altLang="zh-CN" sz="1600" b="0" i="0">
                <a:solidFill>
                  <a:srgbClr val="555555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库求解运动学正解</a:t>
            </a:r>
            <a:endParaRPr lang="zh-CN" altLang="en-US" sz="1600" b="0" i="0">
              <a:solidFill>
                <a:srgbClr val="555555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2121535"/>
            <a:ext cx="5080000" cy="143764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2700" b="1" i="0">
                <a:solidFill>
                  <a:srgbClr val="1565C0"/>
                </a:solidFill>
                <a:latin typeface="-apple-system"/>
                <a:ea typeface="-apple-system"/>
              </a:rPr>
              <a:t>我们刚刚学了什么？</a:t>
            </a:r>
            <a:endParaRPr lang="zh-CN" altLang="en-US" sz="2700" b="1" i="0">
              <a:solidFill>
                <a:srgbClr val="1565C0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我们学习了如何通过</a:t>
            </a:r>
            <a:r>
              <a:rPr lang="zh-CN" altLang="en-US" sz="1600" b="1" i="0">
                <a:solidFill>
                  <a:srgbClr val="D32F2F"/>
                </a:solidFill>
                <a:latin typeface="-apple-system"/>
                <a:ea typeface="-apple-system"/>
              </a:rPr>
              <a:t>矩阵连乘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endParaRPr lang="en-US" altLang="zh-CN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en-US" altLang="zh-CN" sz="1600" b="1" i="0">
                <a:solidFill>
                  <a:srgbClr val="0D47A1"/>
                </a:solidFill>
                <a:latin typeface="Courier New" panose="02070309020205020404"/>
                <a:ea typeface="Courier New" panose="02070309020205020404"/>
              </a:rPr>
              <a:t>T₀² = T₀¹ × T₁²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endParaRPr lang="en-US" altLang="zh-CN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来求解末端位姿。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487902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这个理论很完美，但是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...</a:t>
            </a:r>
            <a:endParaRPr lang="en-US" altLang="zh-CN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i="0">
                <a:solidFill>
                  <a:srgbClr val="212529"/>
                </a:solidFill>
                <a:latin typeface="-apple-system"/>
                <a:ea typeface="-apple-system"/>
              </a:rPr>
              <a:t>在真实项目中，我们真的要手动计算这些矩阵吗？</a:t>
            </a:r>
            <a:endParaRPr lang="zh-CN" altLang="en-US" sz="160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814388"/>
            <a:ext cx="5080000" cy="96075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2700" b="1" i="0">
                <a:solidFill>
                  <a:srgbClr val="1565C0"/>
                </a:solidFill>
                <a:latin typeface="-apple-system"/>
                <a:ea typeface="-apple-system"/>
              </a:rPr>
              <a:t>解决方案：让</a:t>
            </a:r>
            <a:r>
              <a:rPr lang="en-US" altLang="zh-CN" sz="2700" b="1" i="0">
                <a:solidFill>
                  <a:srgbClr val="1565C0"/>
                </a:solidFill>
                <a:latin typeface="-apple-system"/>
                <a:ea typeface="-apple-system"/>
              </a:rPr>
              <a:t>Python</a:t>
            </a:r>
            <a:r>
              <a:rPr lang="zh-CN" altLang="en-US" sz="2700" b="1" i="0">
                <a:solidFill>
                  <a:srgbClr val="1565C0"/>
                </a:solidFill>
                <a:latin typeface="-apple-system"/>
                <a:ea typeface="-apple-system"/>
              </a:rPr>
              <a:t>来做数学！</a:t>
            </a:r>
            <a:endParaRPr lang="zh-CN" altLang="en-US" sz="2700" b="1" i="0">
              <a:solidFill>
                <a:srgbClr val="1565C0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向大家介绍一个强大的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Python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库：</a:t>
            </a:r>
            <a:r>
              <a:rPr lang="en-US" altLang="zh-CN" sz="1700" b="1" i="0">
                <a:solidFill>
                  <a:srgbClr val="0D47A1"/>
                </a:solidFill>
                <a:latin typeface="Courier New" panose="02070309020205020404"/>
                <a:ea typeface="Courier New" panose="02070309020205020404"/>
              </a:rPr>
              <a:t>ikpy</a:t>
            </a:r>
            <a:endParaRPr lang="en-US" altLang="zh-CN" sz="1700" b="1" i="0">
              <a:solidFill>
                <a:srgbClr val="0D47A1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2206625"/>
            <a:ext cx="5080000" cy="2444750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en-US" altLang="zh-CN" sz="1600" b="1" i="0">
                <a:solidFill>
                  <a:srgbClr val="0D47A1"/>
                </a:solidFill>
                <a:latin typeface="Courier New" panose="02070309020205020404"/>
                <a:ea typeface="Courier New" panose="02070309020205020404"/>
              </a:rPr>
              <a:t>ikpy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是一个专门用于机器人运动学计算的、纯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Python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实现的库。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ct val="60000"/>
              </a:spcAft>
            </a:pPr>
            <a:r>
              <a:rPr lang="zh-CN" altLang="en-US" sz="1600" b="1" i="0">
                <a:solidFill>
                  <a:srgbClr val="212529"/>
                </a:solidFill>
                <a:latin typeface="-apple-system"/>
                <a:ea typeface="-apple-system"/>
              </a:rPr>
              <a:t>为什么选择它？</a:t>
            </a:r>
            <a:endParaRPr lang="zh-CN" altLang="en-US" sz="1600" b="1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None/>
            </a:pPr>
            <a:r>
              <a:rPr lang="zh-CN" altLang="en-US" sz="1900" b="1" i="0">
                <a:solidFill>
                  <a:srgbClr val="D32F2F"/>
                </a:solidFill>
                <a:latin typeface="-apple-system"/>
                <a:ea typeface="-apple-system"/>
              </a:rPr>
              <a:t>安装简单</a:t>
            </a:r>
            <a:r>
              <a:rPr lang="en-US" altLang="zh-CN" sz="1900" b="1" i="0">
                <a:solidFill>
                  <a:srgbClr val="D32F2F"/>
                </a:solidFill>
                <a:latin typeface="-apple-system"/>
                <a:ea typeface="-apple-system"/>
              </a:rPr>
              <a:t>: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只需一行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900" b="1" i="0">
                <a:solidFill>
                  <a:srgbClr val="0D47A1"/>
                </a:solidFill>
                <a:latin typeface="Courier New" panose="02070309020205020404"/>
                <a:ea typeface="Courier New" panose="02070309020205020404"/>
              </a:rPr>
              <a:t>pip install ikpy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9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None/>
            </a:pPr>
            <a:r>
              <a:rPr lang="en-US" altLang="zh-CN" sz="1900" b="1" i="0">
                <a:solidFill>
                  <a:srgbClr val="D32F2F"/>
                </a:solidFill>
                <a:latin typeface="-apple-system"/>
                <a:ea typeface="-apple-system"/>
              </a:rPr>
              <a:t>API</a:t>
            </a:r>
            <a:r>
              <a:rPr lang="zh-CN" altLang="en-US" sz="1900" b="1" i="0">
                <a:solidFill>
                  <a:srgbClr val="D32F2F"/>
                </a:solidFill>
                <a:latin typeface="-apple-system"/>
                <a:ea typeface="-apple-system"/>
              </a:rPr>
              <a:t>直观</a:t>
            </a:r>
            <a:r>
              <a:rPr lang="en-US" altLang="zh-CN" sz="1900" b="1" i="0">
                <a:solidFill>
                  <a:srgbClr val="D32F2F"/>
                </a:solidFill>
                <a:latin typeface="-apple-system"/>
                <a:ea typeface="-apple-system"/>
              </a:rPr>
              <a:t>: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代码逻辑清晰，易于理解。</a:t>
            </a:r>
            <a:endParaRPr lang="zh-CN" altLang="en-US" sz="19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None/>
            </a:pPr>
            <a:r>
              <a:rPr lang="zh-CN" altLang="en-US" sz="1900" b="1" i="0">
                <a:solidFill>
                  <a:srgbClr val="D32F2F"/>
                </a:solidFill>
                <a:latin typeface="-apple-system"/>
                <a:ea typeface="-apple-system"/>
              </a:rPr>
              <a:t>功能强大</a:t>
            </a:r>
            <a:r>
              <a:rPr lang="en-US" altLang="zh-CN" sz="1900" b="1" i="0">
                <a:solidFill>
                  <a:srgbClr val="D32F2F"/>
                </a:solidFill>
                <a:latin typeface="-apple-system"/>
                <a:ea typeface="-apple-system"/>
              </a:rPr>
              <a:t>: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不仅能做正解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(FK)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，更能做逆解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(IK)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，我们以后会学。</a:t>
            </a:r>
            <a:endParaRPr lang="zh-CN" altLang="en-US" sz="19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None/>
            </a:pPr>
            <a:r>
              <a:rPr lang="zh-CN" altLang="en-US" sz="1900" b="1" i="0">
                <a:solidFill>
                  <a:srgbClr val="D32F2F"/>
                </a:solidFill>
                <a:latin typeface="-apple-system"/>
                <a:ea typeface="-apple-system"/>
              </a:rPr>
              <a:t>基于</a:t>
            </a:r>
            <a:r>
              <a:rPr lang="en-US" altLang="zh-CN" sz="1900" b="1" i="0">
                <a:solidFill>
                  <a:srgbClr val="D32F2F"/>
                </a:solidFill>
                <a:latin typeface="-apple-system"/>
                <a:ea typeface="-apple-system"/>
              </a:rPr>
              <a:t>Numpy: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底层运算高效可靠。</a:t>
            </a:r>
            <a:endParaRPr lang="zh-CN" altLang="en-US" sz="19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485140"/>
            <a:ext cx="5080000" cy="185293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2700" b="1" i="0">
                <a:solidFill>
                  <a:srgbClr val="1565C0"/>
                </a:solidFill>
                <a:latin typeface="-apple-system"/>
                <a:ea typeface="-apple-system"/>
              </a:rPr>
              <a:t>核心概念：机器人 </a:t>
            </a:r>
            <a:r>
              <a:rPr lang="en-US" altLang="zh-CN" sz="2700" b="1" i="0">
                <a:solidFill>
                  <a:srgbClr val="1565C0"/>
                </a:solidFill>
                <a:latin typeface="-apple-system"/>
                <a:ea typeface="-apple-system"/>
              </a:rPr>
              <a:t>= </a:t>
            </a:r>
            <a:r>
              <a:rPr lang="zh-CN" altLang="en-US" sz="2700" b="1" i="0">
                <a:solidFill>
                  <a:srgbClr val="1565C0"/>
                </a:solidFill>
                <a:latin typeface="-apple-system"/>
                <a:ea typeface="-apple-system"/>
              </a:rPr>
              <a:t>链 </a:t>
            </a:r>
            <a:r>
              <a:rPr lang="en-US" altLang="zh-CN" sz="2700" b="1" i="0">
                <a:solidFill>
                  <a:srgbClr val="1565C0"/>
                </a:solidFill>
                <a:latin typeface="-apple-system"/>
                <a:ea typeface="-apple-system"/>
              </a:rPr>
              <a:t>(Chain)</a:t>
            </a:r>
            <a:endParaRPr lang="en-US" altLang="zh-CN" sz="2700" b="1" i="0">
              <a:solidFill>
                <a:srgbClr val="1565C0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`ikpy`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的核心思想，是将机器人模型看作一个由“环节”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(</a:t>
            </a:r>
            <a:r>
              <a:rPr lang="en-US" altLang="zh-CN" sz="1600" b="1" i="0">
                <a:solidFill>
                  <a:srgbClr val="0D47A1"/>
                </a:solidFill>
                <a:latin typeface="Courier New" panose="02070309020205020404"/>
                <a:ea typeface="Courier New" panose="02070309020205020404"/>
              </a:rPr>
              <a:t>Link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)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组成的“链”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(</a:t>
            </a:r>
            <a:r>
              <a:rPr lang="en-US" altLang="zh-CN" sz="1600" b="1" i="0">
                <a:solidFill>
                  <a:srgbClr val="0D47A1"/>
                </a:solidFill>
                <a:latin typeface="Courier New" panose="02070309020205020404"/>
                <a:ea typeface="Courier New" panose="02070309020205020404"/>
              </a:rPr>
              <a:t>Chain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)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这与我们的矩阵理论</a:t>
            </a:r>
            <a:r>
              <a:rPr lang="zh-CN" altLang="en-US" sz="1600" b="1" i="0">
                <a:solidFill>
                  <a:srgbClr val="D32F2F"/>
                </a:solidFill>
                <a:latin typeface="-apple-system"/>
                <a:ea typeface="-apple-system"/>
              </a:rPr>
              <a:t>完美对应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！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56815" y="2644140"/>
            <a:ext cx="7277735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ts val="1200"/>
              </a:spcAft>
            </a:pPr>
            <a:r>
              <a:rPr lang="zh-CN" altLang="en-US" sz="2800" b="0" i="0">
                <a:solidFill>
                  <a:srgbClr val="D32F2F"/>
                </a:solidFill>
                <a:latin typeface="Courier New" panose="02070309020205020404"/>
                <a:ea typeface="Courier New" panose="02070309020205020404"/>
              </a:rPr>
              <a:t>理论</a:t>
            </a:r>
            <a:r>
              <a:rPr lang="en-US" altLang="zh-CN" sz="2800" b="0" i="0">
                <a:solidFill>
                  <a:srgbClr val="D32F2F"/>
                </a:solidFill>
                <a:latin typeface="Courier New" panose="02070309020205020404"/>
                <a:ea typeface="Courier New" panose="02070309020205020404"/>
              </a:rPr>
              <a:t>:</a:t>
            </a:r>
            <a:r>
              <a:rPr lang="en-US" altLang="zh-CN" sz="2800" b="0" i="0">
                <a:solidFill>
                  <a:srgbClr val="212529"/>
                </a:solidFill>
                <a:latin typeface="Courier New" panose="02070309020205020404"/>
                <a:ea typeface="Courier New" panose="02070309020205020404"/>
              </a:rPr>
              <a:t> T₀³ = T₀¹ × T₁² × T₂³</a:t>
            </a:r>
            <a:endParaRPr lang="en-US" altLang="zh-CN" sz="2800" b="0" i="0">
              <a:solidFill>
                <a:srgbClr val="212529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38120" y="3429000"/>
            <a:ext cx="676910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altLang="en-US" sz="1600" b="0" i="0">
                <a:solidFill>
                  <a:srgbClr val="1565C0"/>
                </a:solidFill>
                <a:latin typeface="Courier New" panose="02070309020205020404"/>
                <a:ea typeface="Courier New" panose="02070309020205020404"/>
              </a:rPr>
              <a:t>代码</a:t>
            </a:r>
            <a:r>
              <a:rPr lang="en-US" altLang="zh-CN" sz="1600" b="0" i="0">
                <a:solidFill>
                  <a:srgbClr val="1565C0"/>
                </a:solidFill>
                <a:latin typeface="Courier New" panose="02070309020205020404"/>
                <a:ea typeface="Courier New" panose="02070309020205020404"/>
              </a:rPr>
              <a:t>:</a:t>
            </a:r>
            <a:r>
              <a:rPr lang="en-US" altLang="zh-CN" sz="1600" b="0" i="0">
                <a:solidFill>
                  <a:srgbClr val="212529"/>
                </a:solidFill>
                <a:latin typeface="Courier New" panose="02070309020205020404"/>
                <a:ea typeface="Courier New" panose="02070309020205020404"/>
              </a:rPr>
              <a:t> my_chain = Chain([ Link₁, Link₂, Link₃ ])</a:t>
            </a:r>
            <a:endParaRPr lang="en-US" altLang="zh-CN" sz="1600" b="0" i="0">
              <a:solidFill>
                <a:srgbClr val="212529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56000" y="433736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我们的工作，就是用代码来定义每一个</a:t>
            </a:r>
            <a:r>
              <a:rPr lang="en-US" altLang="zh-CN" sz="1600" b="1" i="0">
                <a:solidFill>
                  <a:srgbClr val="0D47A1"/>
                </a:solidFill>
                <a:latin typeface="Courier New" panose="02070309020205020404"/>
                <a:ea typeface="Courier New" panose="02070309020205020404"/>
              </a:rPr>
              <a:t>Link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，然后把它们串成一个</a:t>
            </a:r>
            <a:r>
              <a:rPr lang="en-US" altLang="zh-CN" sz="1600" b="1" i="0">
                <a:solidFill>
                  <a:srgbClr val="0D47A1"/>
                </a:solidFill>
                <a:latin typeface="Courier New" panose="02070309020205020404"/>
                <a:ea typeface="Courier New" panose="02070309020205020404"/>
              </a:rPr>
              <a:t>Chain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75660" y="2022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en-US" altLang="zh-CN" sz="1600" b="1" i="0">
                <a:solidFill>
                  <a:srgbClr val="1565C0"/>
                </a:solidFill>
                <a:latin typeface="-apple-system"/>
                <a:ea typeface="-apple-system"/>
              </a:rPr>
              <a:t>IK</a:t>
            </a:r>
            <a:r>
              <a:rPr lang="zh-CN" altLang="en-US" sz="1600" b="1" i="0">
                <a:solidFill>
                  <a:srgbClr val="1565C0"/>
                </a:solidFill>
                <a:latin typeface="-apple-system"/>
                <a:ea typeface="-apple-system"/>
              </a:rPr>
              <a:t>库完整代码与验证</a:t>
            </a:r>
            <a:endParaRPr lang="zh-CN" altLang="en-US" sz="1600" b="1" i="0">
              <a:solidFill>
                <a:srgbClr val="1565C0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36165" y="720090"/>
            <a:ext cx="7943850" cy="5692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import ikpy.chain</a:t>
            </a:r>
            <a:endParaRPr lang="en-US" altLang="zh-CN" sz="1400"/>
          </a:p>
          <a:p>
            <a:r>
              <a:rPr lang="en-US" altLang="zh-CN" sz="1400"/>
              <a:t>import ikpy.link</a:t>
            </a:r>
            <a:endParaRPr lang="en-US" altLang="zh-CN" sz="1400"/>
          </a:p>
          <a:p>
            <a:r>
              <a:rPr lang="en-US" altLang="zh-CN" sz="1400"/>
              <a:t>import numpy as np</a:t>
            </a:r>
            <a:endParaRPr lang="en-US" altLang="zh-CN" sz="1400"/>
          </a:p>
          <a:p>
            <a:r>
              <a:rPr lang="en-US" altLang="zh-CN" sz="1400"/>
              <a:t># 1. </a:t>
            </a:r>
            <a:r>
              <a:rPr lang="zh-CN" altLang="en-US" sz="1400"/>
              <a:t>定义机器人</a:t>
            </a:r>
            <a:r>
              <a:rPr lang="en-US" altLang="zh-CN" sz="1400"/>
              <a:t> - </a:t>
            </a:r>
            <a:r>
              <a:rPr lang="zh-CN" altLang="en-US" sz="1400"/>
              <a:t>使用</a:t>
            </a:r>
            <a:r>
              <a:rPr lang="en-US" altLang="zh-CN" sz="1400"/>
              <a:t> DHLink</a:t>
            </a:r>
            <a:endParaRPr lang="en-US" altLang="zh-CN" sz="1400"/>
          </a:p>
          <a:p>
            <a:r>
              <a:rPr lang="en-US" altLang="zh-CN" sz="1400"/>
              <a:t>my_arm = ikpy.chain.Chain(name='my_2d_arm', links=[</a:t>
            </a:r>
            <a:endParaRPr lang="en-US" altLang="zh-CN" sz="1400"/>
          </a:p>
          <a:p>
            <a:r>
              <a:rPr lang="en-US" altLang="zh-CN" sz="1400"/>
              <a:t>    ikpy.link.OriginLink(),  # </a:t>
            </a:r>
            <a:r>
              <a:rPr lang="zh-CN" altLang="en-US" sz="1400"/>
              <a:t>基座链接</a:t>
            </a:r>
            <a:endParaRPr lang="zh-CN" altLang="en-US" sz="1400"/>
          </a:p>
          <a:p>
            <a:r>
              <a:rPr lang="en-US" altLang="zh-CN" sz="1400"/>
              <a:t>    ikpy.link.DHLink(</a:t>
            </a:r>
            <a:endParaRPr lang="en-US" altLang="zh-CN" sz="1400"/>
          </a:p>
          <a:p>
            <a:r>
              <a:rPr lang="en-US" altLang="zh-CN" sz="1400"/>
              <a:t>        name="joint1",</a:t>
            </a:r>
            <a:endParaRPr lang="en-US" altLang="zh-CN" sz="1400"/>
          </a:p>
          <a:p>
            <a:r>
              <a:rPr lang="en-US" altLang="zh-CN" sz="1400"/>
              <a:t>        d=0,        # </a:t>
            </a:r>
            <a:r>
              <a:rPr lang="zh-CN" altLang="en-US" sz="1400"/>
              <a:t>连杆偏移</a:t>
            </a:r>
            <a:endParaRPr lang="zh-CN" altLang="en-US" sz="1400"/>
          </a:p>
          <a:p>
            <a:r>
              <a:rPr lang="en-US" altLang="zh-CN" sz="1400"/>
              <a:t>        a=1.0,      # </a:t>
            </a:r>
            <a:r>
              <a:rPr lang="zh-CN" altLang="en-US" sz="1400"/>
              <a:t>连杆长度</a:t>
            </a:r>
            <a:endParaRPr lang="zh-CN" altLang="en-US" sz="1400"/>
          </a:p>
          <a:p>
            <a:r>
              <a:rPr lang="en-US" altLang="zh-CN" sz="1400"/>
              <a:t>        alpha=0,    # </a:t>
            </a:r>
            <a:r>
              <a:rPr lang="zh-CN" altLang="en-US" sz="1400"/>
              <a:t>连杆扭转角</a:t>
            </a:r>
            <a:endParaRPr lang="zh-CN" altLang="en-US" sz="1400"/>
          </a:p>
          <a:p>
            <a:r>
              <a:rPr lang="en-US" altLang="zh-CN" sz="1400"/>
              <a:t>        theta=0     # </a:t>
            </a:r>
            <a:r>
              <a:rPr lang="zh-CN" altLang="en-US" sz="1400"/>
              <a:t>关节角（会被覆盖）</a:t>
            </a:r>
            <a:endParaRPr lang="zh-CN" altLang="en-US" sz="1400"/>
          </a:p>
          <a:p>
            <a:r>
              <a:rPr lang="en-US" altLang="zh-CN" sz="1400"/>
              <a:t>    ),</a:t>
            </a:r>
            <a:endParaRPr lang="en-US" altLang="zh-CN" sz="1400"/>
          </a:p>
          <a:p>
            <a:r>
              <a:rPr lang="en-US" altLang="zh-CN" sz="1400"/>
              <a:t>    ikpy.link.DHLink(        name="joint2",        d=0,        a=0.8,        alpha=0,        theta=0    )</a:t>
            </a:r>
            <a:endParaRPr lang="en-US" altLang="zh-CN" sz="1400"/>
          </a:p>
          <a:p>
            <a:r>
              <a:rPr lang="en-US" altLang="zh-CN" sz="1400"/>
              <a:t>])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# 2. </a:t>
            </a:r>
            <a:r>
              <a:rPr lang="zh-CN" altLang="en-US" sz="1400"/>
              <a:t>设置关节角</a:t>
            </a:r>
            <a:endParaRPr lang="zh-CN" altLang="en-US" sz="1400"/>
          </a:p>
          <a:p>
            <a:r>
              <a:rPr lang="en-US" altLang="zh-CN" sz="1400"/>
              <a:t>joint_angles = [0, np.deg2rad(30), np.deg2rad(45)]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# 3. </a:t>
            </a:r>
            <a:r>
              <a:rPr lang="zh-CN" altLang="en-US" sz="1400"/>
              <a:t>计算正解</a:t>
            </a:r>
            <a:endParaRPr lang="zh-CN" altLang="en-US" sz="1400"/>
          </a:p>
          <a:p>
            <a:r>
              <a:rPr lang="en-US" altLang="zh-CN" sz="1400"/>
              <a:t>T = my_arm.forward_kinematics(joint_angles)</a:t>
            </a:r>
            <a:endParaRPr lang="en-US" altLang="zh-CN" sz="1400"/>
          </a:p>
          <a:p>
            <a:r>
              <a:rPr lang="en-US" altLang="zh-CN" sz="1400"/>
              <a:t>position = T[:3, 3]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# 4. </a:t>
            </a:r>
            <a:r>
              <a:rPr lang="zh-CN" altLang="en-US" sz="1400"/>
              <a:t>打印结果</a:t>
            </a:r>
            <a:endParaRPr lang="zh-CN" altLang="en-US" sz="1400"/>
          </a:p>
          <a:p>
            <a:r>
              <a:rPr lang="en-US" altLang="zh-CN" sz="1400"/>
              <a:t>print("--- IKPY </a:t>
            </a:r>
            <a:r>
              <a:rPr lang="zh-CN" altLang="en-US" sz="1400"/>
              <a:t>计算结果</a:t>
            </a:r>
            <a:r>
              <a:rPr lang="en-US" altLang="zh-CN" sz="1400"/>
              <a:t> ---")</a:t>
            </a:r>
            <a:endParaRPr lang="en-US" altLang="zh-CN" sz="1400"/>
          </a:p>
          <a:p>
            <a:r>
              <a:rPr lang="en-US" altLang="zh-CN" sz="1400"/>
              <a:t>print(f"</a:t>
            </a:r>
            <a:r>
              <a:rPr lang="zh-CN" altLang="en-US" sz="1400"/>
              <a:t>末端位置</a:t>
            </a:r>
            <a:r>
              <a:rPr lang="en-US" altLang="zh-CN" sz="1400"/>
              <a:t> (X, Y): ({position[0]:.4f}, {position[1]:.4f})")</a:t>
            </a:r>
            <a:endParaRPr lang="en-US" altLang="zh-CN" sz="1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75660" y="2022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1600" b="1" i="0">
                <a:solidFill>
                  <a:srgbClr val="1565C0"/>
                </a:solidFill>
                <a:latin typeface="-apple-system"/>
                <a:ea typeface="-apple-system"/>
              </a:rPr>
              <a:t>对应</a:t>
            </a:r>
            <a:r>
              <a:rPr lang="en-US" altLang="zh-CN" sz="1600" b="1" i="0">
                <a:solidFill>
                  <a:srgbClr val="1565C0"/>
                </a:solidFill>
                <a:latin typeface="-apple-system"/>
                <a:ea typeface="-apple-system"/>
              </a:rPr>
              <a:t>numpy</a:t>
            </a:r>
            <a:r>
              <a:rPr lang="zh-CN" altLang="en-US" sz="1600" b="1" i="0">
                <a:solidFill>
                  <a:srgbClr val="1565C0"/>
                </a:solidFill>
                <a:latin typeface="-apple-system"/>
                <a:ea typeface="-apple-system"/>
              </a:rPr>
              <a:t>的原始版本</a:t>
            </a:r>
            <a:r>
              <a:rPr lang="zh-CN" altLang="en-US" sz="1600" b="1" i="0">
                <a:solidFill>
                  <a:srgbClr val="1565C0"/>
                </a:solidFill>
                <a:latin typeface="-apple-system"/>
                <a:ea typeface="-apple-system"/>
              </a:rPr>
              <a:t>代码</a:t>
            </a:r>
            <a:endParaRPr lang="zh-CN" altLang="en-US" sz="1600" b="1" i="0">
              <a:solidFill>
                <a:srgbClr val="1565C0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05710" y="789305"/>
            <a:ext cx="6786245" cy="6185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def create_transform_matrix(theta_deg, length):</a:t>
            </a:r>
            <a:endParaRPr lang="en-US" altLang="zh-CN"/>
          </a:p>
          <a:p>
            <a:r>
              <a:rPr lang="en-US" altLang="zh-CN"/>
              <a:t>    """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根据给定的角度和长度，创建一个</a:t>
            </a:r>
            <a:r>
              <a:rPr lang="en-US" altLang="zh-CN"/>
              <a:t>2D</a:t>
            </a:r>
            <a:r>
              <a:rPr lang="zh-CN" altLang="en-US"/>
              <a:t>齐次变换矩阵</a:t>
            </a:r>
            <a:r>
              <a:rPr lang="en-US" altLang="zh-CN"/>
              <a:t> (3x3)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这个函数是我们理论知识的直接代码实现。</a:t>
            </a:r>
            <a:endParaRPr lang="zh-CN" altLang="en-US"/>
          </a:p>
          <a:p>
            <a:r>
              <a:rPr lang="en-US" altLang="zh-CN"/>
              <a:t>    """</a:t>
            </a:r>
            <a:endParaRPr lang="en-US" altLang="zh-CN"/>
          </a:p>
          <a:p>
            <a:r>
              <a:rPr lang="en-US" altLang="zh-CN"/>
              <a:t>    # 1. </a:t>
            </a:r>
            <a:r>
              <a:rPr lang="zh-CN" altLang="en-US"/>
              <a:t>将角度转换为弧度</a:t>
            </a:r>
            <a:endParaRPr lang="zh-CN" altLang="en-US"/>
          </a:p>
          <a:p>
            <a:r>
              <a:rPr lang="en-US" altLang="zh-CN"/>
              <a:t>    theta_rad = np.deg2rad(theta_deg)</a:t>
            </a:r>
            <a:endParaRPr lang="en-US" altLang="zh-CN"/>
          </a:p>
          <a:p>
            <a:r>
              <a:rPr lang="en-US" altLang="zh-CN"/>
              <a:t>    </a:t>
            </a:r>
            <a:endParaRPr lang="en-US" altLang="zh-CN"/>
          </a:p>
          <a:p>
            <a:r>
              <a:rPr lang="en-US" altLang="zh-CN"/>
              <a:t>    # 2. </a:t>
            </a:r>
            <a:r>
              <a:rPr lang="zh-CN" altLang="en-US"/>
              <a:t>计算</a:t>
            </a:r>
            <a:r>
              <a:rPr lang="en-US" altLang="zh-CN"/>
              <a:t> sin </a:t>
            </a:r>
            <a:r>
              <a:rPr lang="zh-CN" altLang="en-US"/>
              <a:t>和</a:t>
            </a:r>
            <a:r>
              <a:rPr lang="en-US" altLang="zh-CN"/>
              <a:t> cos </a:t>
            </a:r>
            <a:r>
              <a:rPr lang="zh-CN" altLang="en-US"/>
              <a:t>值</a:t>
            </a:r>
            <a:endParaRPr lang="zh-CN" altLang="en-US"/>
          </a:p>
          <a:p>
            <a:r>
              <a:rPr lang="en-US" altLang="zh-CN"/>
              <a:t>    c = np.cos(theta_rad)</a:t>
            </a:r>
            <a:endParaRPr lang="en-US" altLang="zh-CN"/>
          </a:p>
          <a:p>
            <a:r>
              <a:rPr lang="en-US" altLang="zh-CN"/>
              <a:t>    s = np.sin(theta_rad)</a:t>
            </a:r>
            <a:endParaRPr lang="en-US" altLang="zh-CN"/>
          </a:p>
          <a:p>
            <a:r>
              <a:rPr lang="en-US" altLang="zh-CN"/>
              <a:t>    </a:t>
            </a:r>
            <a:endParaRPr lang="en-US" altLang="zh-CN"/>
          </a:p>
          <a:p>
            <a:r>
              <a:rPr lang="en-US" altLang="zh-CN"/>
              <a:t>    # 3. </a:t>
            </a:r>
            <a:r>
              <a:rPr lang="zh-CN" altLang="en-US"/>
              <a:t>构建</a:t>
            </a:r>
            <a:r>
              <a:rPr lang="en-US" altLang="zh-CN"/>
              <a:t>3x3</a:t>
            </a:r>
            <a:r>
              <a:rPr lang="zh-CN" altLang="en-US"/>
              <a:t>齐次变换矩阵</a:t>
            </a:r>
            <a:endParaRPr lang="zh-CN" altLang="en-US"/>
          </a:p>
          <a:p>
            <a:r>
              <a:rPr lang="en-US" altLang="zh-CN"/>
              <a:t>    #    </a:t>
            </a:r>
            <a:r>
              <a:rPr lang="zh-CN" altLang="en-US"/>
              <a:t>这个矩阵代表</a:t>
            </a:r>
            <a:r>
              <a:rPr lang="en-US" altLang="zh-CN"/>
              <a:t>“</a:t>
            </a:r>
            <a:r>
              <a:rPr lang="zh-CN" altLang="en-US"/>
              <a:t>先在原点旋转</a:t>
            </a:r>
            <a:r>
              <a:rPr lang="en-US" altLang="zh-CN"/>
              <a:t>θ</a:t>
            </a:r>
            <a:r>
              <a:rPr lang="zh-CN" altLang="en-US"/>
              <a:t>，再沿新的</a:t>
            </a:r>
            <a:r>
              <a:rPr lang="en-US" altLang="zh-CN"/>
              <a:t>X</a:t>
            </a:r>
            <a:r>
              <a:rPr lang="zh-CN" altLang="en-US"/>
              <a:t>轴平移</a:t>
            </a:r>
            <a:r>
              <a:rPr lang="en-US" altLang="zh-CN"/>
              <a:t>length”</a:t>
            </a:r>
            <a:endParaRPr lang="en-US" altLang="zh-CN"/>
          </a:p>
          <a:p>
            <a:r>
              <a:rPr lang="en-US" altLang="zh-CN"/>
              <a:t>    #    </a:t>
            </a:r>
            <a:r>
              <a:rPr lang="zh-CN" altLang="en-US"/>
              <a:t>这正是</a:t>
            </a:r>
            <a:r>
              <a:rPr lang="en-US" altLang="zh-CN"/>
              <a:t> T = Trans(L*c, L*s) * Rot(θ) </a:t>
            </a:r>
            <a:r>
              <a:rPr lang="zh-CN" altLang="en-US"/>
              <a:t>的结果</a:t>
            </a:r>
            <a:endParaRPr lang="zh-CN" altLang="en-US"/>
          </a:p>
          <a:p>
            <a:r>
              <a:rPr lang="en-US" altLang="zh-CN"/>
              <a:t>    transform_matrix = np.array([</a:t>
            </a:r>
            <a:endParaRPr lang="en-US" altLang="zh-CN"/>
          </a:p>
          <a:p>
            <a:r>
              <a:rPr lang="en-US" altLang="zh-CN"/>
              <a:t>        [c, -s, length * c],</a:t>
            </a:r>
            <a:endParaRPr lang="en-US" altLang="zh-CN"/>
          </a:p>
          <a:p>
            <a:r>
              <a:rPr lang="en-US" altLang="zh-CN"/>
              <a:t>        [s,  c, length * s],</a:t>
            </a:r>
            <a:endParaRPr lang="en-US" altLang="zh-CN"/>
          </a:p>
          <a:p>
            <a:r>
              <a:rPr lang="en-US" altLang="zh-CN"/>
              <a:t>        [0,  0, 1         ]</a:t>
            </a:r>
            <a:endParaRPr lang="en-US" altLang="zh-CN"/>
          </a:p>
          <a:p>
            <a:r>
              <a:rPr lang="en-US" altLang="zh-CN"/>
              <a:t>    ])</a:t>
            </a:r>
            <a:endParaRPr lang="en-US" altLang="zh-CN"/>
          </a:p>
          <a:p>
            <a:r>
              <a:rPr lang="en-US" altLang="zh-CN"/>
              <a:t>    </a:t>
            </a:r>
            <a:endParaRPr lang="en-US" altLang="zh-CN"/>
          </a:p>
          <a:p>
            <a:r>
              <a:rPr lang="en-US" altLang="zh-CN"/>
              <a:t>    return transform_matrix</a:t>
            </a:r>
            <a:endParaRPr lang="en-US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068320" y="1405255"/>
            <a:ext cx="4970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2d</a:t>
            </a:r>
            <a:r>
              <a:rPr lang="zh-CN" altLang="en-US"/>
              <a:t>，</a:t>
            </a:r>
            <a:r>
              <a:rPr lang="en-US" altLang="zh-CN"/>
              <a:t>3d</a:t>
            </a:r>
            <a:r>
              <a:rPr lang="zh-CN" altLang="en-US"/>
              <a:t>机械臂正解计算模拟器。观察，</a:t>
            </a:r>
            <a:r>
              <a:rPr lang="zh-CN" altLang="en-US"/>
              <a:t>推理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5161</Words>
  <Application>WPS 演示</Application>
  <PresentationFormat>宽屏</PresentationFormat>
  <Paragraphs>290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Arial</vt:lpstr>
      <vt:lpstr>宋体</vt:lpstr>
      <vt:lpstr>Wingdings</vt:lpstr>
      <vt:lpstr>-apple-system</vt:lpstr>
      <vt:lpstr>JetBrains Mono</vt:lpstr>
      <vt:lpstr>Arial</vt:lpstr>
      <vt:lpstr>Courier New</vt:lpstr>
      <vt:lpstr>微软雅黑</vt:lpstr>
      <vt:lpstr>Arial Unicode MS</vt:lpstr>
      <vt:lpstr>Calibri</vt:lpstr>
      <vt:lpstr>Fira Code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 z</dc:creator>
  <cp:lastModifiedBy>欢乐马</cp:lastModifiedBy>
  <cp:revision>80</cp:revision>
  <dcterms:created xsi:type="dcterms:W3CDTF">2023-08-09T12:44:00Z</dcterms:created>
  <dcterms:modified xsi:type="dcterms:W3CDTF">2025-07-26T01:00:37Z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F0EA091EF442419F9D6245BFDE2EF839_12</vt:lpwstr>
  </property>
</Properties>
</file>