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8" r:id="rId4"/>
    <p:sldId id="257" r:id="rId5"/>
    <p:sldId id="279" r:id="rId6"/>
    <p:sldId id="258" r:id="rId7"/>
    <p:sldId id="280" r:id="rId8"/>
    <p:sldId id="259" r:id="rId9"/>
    <p:sldId id="261" r:id="rId10"/>
    <p:sldId id="262" r:id="rId11"/>
    <p:sldId id="263" r:id="rId12"/>
    <p:sldId id="260" r:id="rId13"/>
    <p:sldId id="277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81" r:id="rId25"/>
    <p:sldId id="282" r:id="rId26"/>
    <p:sldId id="283" r:id="rId27"/>
    <p:sldId id="284" r:id="rId28"/>
    <p:sldId id="285" r:id="rId29"/>
    <p:sldId id="287" r:id="rId30"/>
    <p:sldId id="288" r:id="rId31"/>
    <p:sldId id="289" r:id="rId32"/>
    <p:sldId id="290" r:id="rId33"/>
    <p:sldId id="291" r:id="rId34"/>
    <p:sldId id="292" r:id="rId35"/>
    <p:sldId id="293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robot.zhongzhi.com/docs/opencv/01_opencv_basic/01_challenge/#_3" TargetMode="Externa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hyperlink" Target="https://robot.zhongzhi.com/docs/opencv/01_opencv_basic/01_challenge/#_6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556000" y="2890838"/>
            <a:ext cx="5080000" cy="129159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200"/>
              </a:spcAft>
            </a:pPr>
            <a:r>
              <a:rPr lang="zh-CN" altLang="en-US" sz="28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数字图像基础与</a:t>
            </a:r>
            <a:r>
              <a:rPr lang="en-US" altLang="zh-CN" sz="28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OpenCV</a:t>
            </a:r>
            <a:r>
              <a:rPr lang="zh-CN" altLang="en-US" sz="28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入门</a:t>
            </a:r>
            <a:endParaRPr lang="zh-CN" altLang="en-US" sz="2800" b="1" i="0">
              <a:solidFill>
                <a:srgbClr val="0056B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/>
            <a:r>
              <a:rPr lang="zh-CN" altLang="en-US" sz="20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建立对数字图像的底层认知，掌握</a:t>
            </a:r>
            <a:r>
              <a:rPr lang="en-US" altLang="zh-CN" sz="20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OpenCV</a:t>
            </a:r>
            <a:r>
              <a:rPr lang="zh-CN" altLang="en-US" sz="20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核心数据结构与基本操作。</a:t>
            </a:r>
            <a:endParaRPr lang="zh-CN" altLang="en-US" sz="20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83005" y="2407285"/>
            <a:ext cx="9250680" cy="368998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计算机视觉是一门研究如何使机器“看”和“理解”图像与视频的科学。它旨在模仿人类视觉系统的能力，让计算机能够从数字图像或视频中获取信息、进行处理并做出决策。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ct val="60000"/>
              </a:spcAft>
            </a:pPr>
            <a:r>
              <a:rPr lang="zh-CN" altLang="en-US" sz="2000" b="1" i="0">
                <a:solidFill>
                  <a:srgbClr val="007BFF"/>
                </a:solidFill>
                <a:latin typeface="-apple-system"/>
                <a:ea typeface="-apple-system"/>
              </a:rPr>
              <a:t>核心任务</a:t>
            </a:r>
            <a:endParaRPr lang="zh-CN" altLang="en-US" sz="2000" b="1" i="0">
              <a:solidFill>
                <a:srgbClr val="007BFF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图像分类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(Classification):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这张图片里有什么？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猫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/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狗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目标检测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(Detection):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猫在这张图的哪个位置？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图像分割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(Segmentation):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图像中哪些像素属于猫？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行为识别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(Action Recognition):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视频中的人在做什么？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ct val="60000"/>
              </a:spcAft>
            </a:pPr>
            <a:r>
              <a:rPr lang="zh-CN" altLang="en-US" sz="2000" b="1" i="0">
                <a:solidFill>
                  <a:srgbClr val="007BFF"/>
                </a:solidFill>
                <a:latin typeface="-apple-system"/>
                <a:ea typeface="-apple-system"/>
              </a:rPr>
              <a:t>应用领域</a:t>
            </a:r>
            <a:endParaRPr lang="zh-CN" altLang="en-US" sz="2000" b="1" i="0">
              <a:solidFill>
                <a:srgbClr val="007BFF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自动驾驶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障碍物识别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医疗影像分析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病灶检测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工业自动化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产品质检、机器人分拣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安防监控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人脸识别、人流统计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增强现实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(AR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滤镜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83005" y="1089025"/>
            <a:ext cx="784669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1200"/>
              </a:spcBef>
              <a:spcAft>
                <a:spcPct val="60000"/>
              </a:spcAft>
            </a:pPr>
            <a:r>
              <a:rPr lang="zh-CN" altLang="en-US" sz="2400" b="1" i="0">
                <a:solidFill>
                  <a:srgbClr val="0056B3"/>
                </a:solidFill>
                <a:latin typeface="-apple-system"/>
                <a:ea typeface="-apple-system"/>
              </a:rPr>
              <a:t>什么是计算机视觉 </a:t>
            </a:r>
            <a:r>
              <a:rPr lang="en-US" altLang="zh-CN" sz="2400" b="1" i="0">
                <a:solidFill>
                  <a:srgbClr val="0056B3"/>
                </a:solidFill>
                <a:latin typeface="-apple-system"/>
                <a:ea typeface="-apple-system"/>
              </a:rPr>
              <a:t>(Computer Vision)?</a:t>
            </a:r>
            <a:endParaRPr lang="en-US" altLang="zh-CN" sz="2400" b="1" i="0">
              <a:solidFill>
                <a:srgbClr val="0056B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73175" y="59404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900"/>
              </a:spcAft>
            </a:pPr>
            <a:r>
              <a:rPr lang="en-US" altLang="zh-CN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 </a:t>
            </a: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计算机如何“看”世界？</a:t>
            </a:r>
            <a:endParaRPr lang="zh-CN" altLang="en-US" sz="1600" b="1" i="0">
              <a:solidFill>
                <a:srgbClr val="005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3175" y="2013585"/>
            <a:ext cx="4180840" cy="33229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Aft>
                <a:spcPts val="600"/>
              </a:spcAft>
            </a:pPr>
            <a:r>
              <a:rPr lang="zh-CN" altLang="en-US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概念：图像由像素</a:t>
            </a:r>
            <a:r>
              <a:rPr lang="en-US" altLang="zh-CN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(Pixel)</a:t>
            </a:r>
            <a:r>
              <a:rPr lang="zh-CN" altLang="en-US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构成</a:t>
            </a:r>
            <a:endParaRPr lang="zh-CN" altLang="en-US" sz="2000" b="1" i="0">
              <a:solidFill>
                <a:srgbClr val="17A2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/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我们看到的连续、平滑的图像，在计算机眼中是由一个个微小的、颜色单一的方块组成的网格。这个最小的单位，就是像素。</a:t>
            </a:r>
            <a:endParaRPr lang="zh-CN" altLang="en-US" sz="16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spcAft>
                <a:spcPts val="600"/>
              </a:spcAft>
            </a:pPr>
            <a:r>
              <a:rPr lang="zh-CN" altLang="en-US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原理：图像 </a:t>
            </a:r>
            <a:r>
              <a:rPr lang="en-US" altLang="zh-CN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= </a:t>
            </a:r>
            <a:r>
              <a:rPr lang="zh-CN" altLang="en-US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矩阵 </a:t>
            </a:r>
            <a:r>
              <a:rPr lang="en-US" altLang="zh-CN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(Matrix)</a:t>
            </a:r>
            <a:endParaRPr lang="en-US" altLang="zh-CN" sz="2000" b="1" i="0">
              <a:solidFill>
                <a:srgbClr val="17A2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/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计算机将整个像素网格存储为一个巨大的数字矩阵。</a:t>
            </a:r>
            <a:endParaRPr lang="zh-CN" altLang="en-US" sz="16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1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灰度图 </a:t>
            </a:r>
            <a:r>
              <a:rPr lang="en-US" altLang="zh-CN" sz="1600" b="1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(Grayscale):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 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一个二维矩阵，每个元素值代表亮度 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(0=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黑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, 255=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白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6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1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彩色图 </a:t>
            </a:r>
            <a:r>
              <a:rPr lang="en-US" altLang="zh-CN" sz="1600" b="1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(Color):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 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一个三维矩阵，包含三个二维矩阵，分别代表蓝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(B)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、绿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(G)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、红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(R)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三个颜色通道的强度。</a:t>
            </a:r>
            <a:endParaRPr lang="zh-CN" altLang="en-US" sz="16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1670" y="1620520"/>
            <a:ext cx="6202680" cy="32232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72540" y="2896870"/>
            <a:ext cx="8493760" cy="25533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OpenCV (Open Source Computer Vision Library)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是全球最受欢迎的计算机视觉库，是入门和实践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CV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领域的不二之选。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开源免费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: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拥有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BSD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许可，可以免费用于学术和商业用途，无后顾之忧。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功能强大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: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包含了超过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2500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个优化的算法，从最基础的图像读写、滤波，到复杂的目标检测、特征匹配等应有尽有。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跨平台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: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支持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Windows, Linux, macOS, Android, iOS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等主流操作系统。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多语言接口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: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提供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C++, </a:t>
            </a:r>
            <a:r>
              <a:rPr lang="en-US" altLang="zh-CN" sz="1600" b="1" i="0">
                <a:solidFill>
                  <a:srgbClr val="D9534F"/>
                </a:solidFill>
                <a:latin typeface="-apple-system"/>
                <a:ea typeface="-apple-system"/>
              </a:rPr>
              <a:t>Python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, Java, MATLAB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等多种语言接口。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Python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接口的优势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: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语法简洁，开发效率高，与数据科学生态（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NumPy, SciPy, Matplotlib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）完美融合，是进行快速原型开发和学习的首选。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社区活跃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: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遇到问题，全球有数百万开发者可以提供帮助和参考。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45260" y="1290638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200"/>
              </a:spcBef>
              <a:spcAft>
                <a:spcPct val="60000"/>
              </a:spcAft>
            </a:pPr>
            <a:r>
              <a:rPr lang="zh-CN" altLang="en-US" sz="2000" b="1" i="0">
                <a:solidFill>
                  <a:srgbClr val="0056B3"/>
                </a:solidFill>
                <a:latin typeface="-apple-system"/>
                <a:ea typeface="-apple-system"/>
              </a:rPr>
              <a:t>为什么选择 </a:t>
            </a:r>
            <a:r>
              <a:rPr lang="en-US" altLang="zh-CN" sz="2000" b="1" i="0">
                <a:solidFill>
                  <a:srgbClr val="0056B3"/>
                </a:solidFill>
                <a:latin typeface="-apple-system"/>
                <a:ea typeface="-apple-system"/>
              </a:rPr>
              <a:t>OpenCV?</a:t>
            </a:r>
            <a:endParaRPr lang="en-US" altLang="zh-CN" sz="2000" b="1" i="0">
              <a:solidFill>
                <a:srgbClr val="0056B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73175" y="59404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900"/>
              </a:spcAft>
            </a:pPr>
            <a:r>
              <a:rPr lang="en-US" altLang="zh-CN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OpenCV</a:t>
            </a: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的色彩通道顺序是</a:t>
            </a:r>
            <a:r>
              <a:rPr lang="en-US" altLang="zh-CN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BGR</a:t>
            </a: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！</a:t>
            </a:r>
            <a:endParaRPr lang="zh-CN" altLang="en-US" sz="1600" b="1" i="0">
              <a:solidFill>
                <a:srgbClr val="005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6000" y="2351088"/>
            <a:ext cx="5080000" cy="136842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600"/>
              </a:spcAft>
            </a:pPr>
            <a:r>
              <a:rPr lang="zh-CN" altLang="en-US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传统</a:t>
            </a:r>
            <a:r>
              <a:rPr lang="en-US" altLang="zh-CN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常规顺序：</a:t>
            </a:r>
            <a:r>
              <a:rPr lang="en-US" altLang="zh-CN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RGB</a:t>
            </a:r>
            <a:endParaRPr lang="en-US" altLang="zh-CN" sz="2000" b="1" i="0">
              <a:solidFill>
                <a:srgbClr val="17A2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/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在网页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(CSS)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Photoshop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等大多数应用中，颜色按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 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红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(Red), 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绿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(Green), 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蓝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(Blue) 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的顺序排列。</a:t>
            </a:r>
            <a:endParaRPr lang="zh-CN" altLang="en-US" sz="16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/>
            <a:r>
              <a:rPr lang="en-US" altLang="zh-CN" sz="26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en-US" altLang="zh-CN" sz="2600" b="0" i="0">
                <a:solidFill>
                  <a:srgbClr val="008000"/>
                </a:solidFill>
                <a:latin typeface="微软雅黑" panose="020B0503020204020204" charset="-122"/>
                <a:ea typeface="微软雅黑" panose="020B0503020204020204" charset="-122"/>
              </a:rPr>
              <a:t>G</a:t>
            </a:r>
            <a:r>
              <a:rPr lang="en-US" altLang="zh-CN" sz="2600" b="0" i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600" b="0" i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25895" y="1934528"/>
            <a:ext cx="5080000" cy="161480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600"/>
              </a:spcAft>
            </a:pPr>
            <a:r>
              <a:rPr lang="en-US" altLang="zh-CN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OpenCV</a:t>
            </a:r>
            <a:r>
              <a:rPr lang="zh-CN" altLang="en-US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的顺序：</a:t>
            </a:r>
            <a:r>
              <a:rPr lang="en-US" altLang="zh-CN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BGR</a:t>
            </a:r>
            <a:endParaRPr lang="en-US" altLang="zh-CN" sz="2000" b="1" i="0">
              <a:solidFill>
                <a:srgbClr val="17A2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/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由于历史原因（早期相机硬件的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Bayer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滤镜排列），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OpenCV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从一开始就采用了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 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蓝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(Blue), 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绿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(Green), 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红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(Red) 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的顺序。</a:t>
            </a:r>
            <a:endParaRPr lang="zh-CN" altLang="en-US" sz="16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/>
            <a:r>
              <a:rPr lang="en-US" altLang="zh-CN" sz="2600" b="0" i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en-US" altLang="zh-CN" sz="2600" b="0" i="0">
                <a:solidFill>
                  <a:srgbClr val="008000"/>
                </a:solidFill>
                <a:latin typeface="微软雅黑" panose="020B0503020204020204" charset="-122"/>
                <a:ea typeface="微软雅黑" panose="020B0503020204020204" charset="-122"/>
              </a:rPr>
              <a:t>G</a:t>
            </a:r>
            <a:r>
              <a:rPr lang="en-US" altLang="zh-CN" sz="26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R</a:t>
            </a:r>
            <a:endParaRPr lang="en-US" altLang="zh-CN" sz="2600" b="0" i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73175" y="59404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900"/>
              </a:spcAft>
            </a:pP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环境</a:t>
            </a: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安装</a:t>
            </a:r>
            <a:endParaRPr lang="zh-CN" altLang="en-US" sz="1600" b="1" i="0">
              <a:solidFill>
                <a:srgbClr val="005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15110" y="15043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pip install opencv-python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515110" y="2764790"/>
            <a:ext cx="7594600" cy="1787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1200"/>
              </a:spcBef>
              <a:spcAft>
                <a:spcPct val="60000"/>
              </a:spcAft>
            </a:pPr>
            <a:r>
              <a:rPr lang="zh-CN" altLang="en-US" sz="2000" b="1" i="0">
                <a:solidFill>
                  <a:srgbClr val="007BFF"/>
                </a:solidFill>
                <a:latin typeface="-apple-system"/>
                <a:ea typeface="-apple-system"/>
              </a:rPr>
              <a:t>验证安装</a:t>
            </a:r>
            <a:endParaRPr lang="zh-CN" altLang="en-US" sz="2000" b="1" i="0">
              <a:solidFill>
                <a:srgbClr val="007BFF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ct val="60000"/>
              </a:spcAft>
            </a:pPr>
            <a:r>
              <a:rPr lang="en-US" altLang="zh-CN" sz="2000" b="1" i="0">
                <a:solidFill>
                  <a:srgbClr val="007BFF"/>
                </a:solidFill>
                <a:latin typeface="-apple-system"/>
                <a:ea typeface="-apple-system"/>
              </a:rPr>
              <a:t>cmd </a:t>
            </a:r>
            <a:r>
              <a:rPr lang="zh-CN" altLang="en-US" sz="2000" b="1" i="0">
                <a:solidFill>
                  <a:srgbClr val="007BFF"/>
                </a:solidFill>
                <a:latin typeface="-apple-system"/>
                <a:ea typeface="-apple-system"/>
              </a:rPr>
              <a:t>里面先敲一下</a:t>
            </a:r>
            <a:r>
              <a:rPr lang="en-US" altLang="zh-CN" sz="2000" b="1" i="0">
                <a:solidFill>
                  <a:srgbClr val="007BFF"/>
                </a:solidFill>
                <a:latin typeface="-apple-system"/>
                <a:ea typeface="-apple-system"/>
              </a:rPr>
              <a:t>python</a:t>
            </a:r>
            <a:endParaRPr lang="zh-CN" altLang="en-US" sz="2000" b="1" i="0">
              <a:solidFill>
                <a:srgbClr val="007BFF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安装完成后，打开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Python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解释器，输入以下代码进行验证。如果没有报错，并成功打印出版本号，说明安装成功。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81785" y="4700270"/>
            <a:ext cx="69830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import cv2</a:t>
            </a:r>
            <a:endParaRPr lang="en-US" altLang="zh-CN"/>
          </a:p>
          <a:p>
            <a:r>
              <a:rPr lang="en-US" altLang="zh-CN"/>
              <a:t>print(f"OpenCV Version: {cv2.__version__}")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1581785" y="2084705"/>
            <a:ext cx="7706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pip install opencv-python -i https://mirrors.aliyun.com/pypi/simple/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73175" y="59404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900"/>
              </a:spcAft>
            </a:pP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altLang="zh-CN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Python</a:t>
            </a: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中，</a:t>
            </a:r>
            <a:r>
              <a:rPr lang="en-US" altLang="zh-CN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OpenCV</a:t>
            </a: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图像就是</a:t>
            </a:r>
            <a:r>
              <a:rPr lang="en-US" altLang="zh-CN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NumPy</a:t>
            </a: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数组</a:t>
            </a:r>
            <a:endParaRPr lang="zh-CN" altLang="en-US" sz="1600" b="1" i="0">
              <a:solidFill>
                <a:srgbClr val="005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72565" y="1541145"/>
            <a:ext cx="609600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import cv2 as cv</a:t>
            </a:r>
            <a:endParaRPr lang="en-US" altLang="zh-CN"/>
          </a:p>
          <a:p>
            <a:r>
              <a:rPr lang="en-US" altLang="zh-CN"/>
              <a:t>import numpy as np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构建一个空白的矩阵</a:t>
            </a:r>
            <a:endParaRPr lang="zh-CN" altLang="en-US"/>
          </a:p>
          <a:p>
            <a:r>
              <a:rPr lang="en-US" altLang="zh-CN"/>
              <a:t>img = np.zeros((30,40,3),np.uint8)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将第</a:t>
            </a:r>
            <a:r>
              <a:rPr lang="en-US" altLang="zh-CN"/>
              <a:t>15</a:t>
            </a:r>
            <a:r>
              <a:rPr lang="zh-CN" altLang="en-US"/>
              <a:t>行所有像素点全都改成红色</a:t>
            </a:r>
            <a:endParaRPr lang="zh-CN" altLang="en-US"/>
          </a:p>
          <a:p>
            <a:r>
              <a:rPr lang="en-US" altLang="zh-CN"/>
              <a:t>for i in range(40):</a:t>
            </a:r>
            <a:endParaRPr lang="en-US" altLang="zh-CN"/>
          </a:p>
          <a:p>
            <a:r>
              <a:rPr lang="en-US" altLang="zh-CN"/>
              <a:t>    # </a:t>
            </a:r>
            <a:r>
              <a:rPr lang="zh-CN" altLang="en-US"/>
              <a:t>设置第</a:t>
            </a:r>
            <a:r>
              <a:rPr lang="en-US" altLang="zh-CN"/>
              <a:t>15</a:t>
            </a:r>
            <a:r>
              <a:rPr lang="zh-CN" altLang="en-US"/>
              <a:t>行颜色为红色</a:t>
            </a:r>
            <a:endParaRPr lang="zh-CN" altLang="en-US"/>
          </a:p>
          <a:p>
            <a:r>
              <a:rPr lang="en-US" altLang="zh-CN"/>
              <a:t>    img[15,i] = (0,0,255)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显示图片</a:t>
            </a:r>
            <a:endParaRPr lang="zh-CN" altLang="en-US"/>
          </a:p>
          <a:p>
            <a:r>
              <a:rPr lang="en-US" altLang="zh-CN"/>
              <a:t>cv.imshow("src",img)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cv.waitKey(0)</a:t>
            </a:r>
            <a:endParaRPr lang="en-US" altLang="zh-CN"/>
          </a:p>
          <a:p>
            <a:r>
              <a:rPr lang="en-US" altLang="zh-CN"/>
              <a:t>cv.destroyAllWindows()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205980" y="2110740"/>
            <a:ext cx="25654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提示词：</a:t>
            </a:r>
            <a:endParaRPr lang="zh-CN" altLang="en-US"/>
          </a:p>
          <a:p>
            <a:r>
              <a:rPr lang="zh-CN" altLang="en-US"/>
              <a:t>帮我用</a:t>
            </a:r>
            <a:r>
              <a:rPr lang="en-US" altLang="zh-CN"/>
              <a:t>numpy</a:t>
            </a:r>
            <a:r>
              <a:rPr lang="zh-CN" altLang="en-US"/>
              <a:t>数组创建一个</a:t>
            </a:r>
            <a:r>
              <a:rPr lang="en-US" altLang="zh-CN"/>
              <a:t>30x40</a:t>
            </a:r>
            <a:r>
              <a:rPr lang="zh-CN" altLang="en-US"/>
              <a:t>的</a:t>
            </a:r>
            <a:r>
              <a:rPr lang="zh-CN" altLang="en-US"/>
              <a:t>图片，</a:t>
            </a:r>
            <a:endParaRPr lang="zh-CN" altLang="en-US"/>
          </a:p>
          <a:p>
            <a:r>
              <a:rPr lang="zh-CN" altLang="en-US"/>
              <a:t>里面第</a:t>
            </a:r>
            <a:r>
              <a:rPr lang="en-US" altLang="zh-CN"/>
              <a:t>15</a:t>
            </a:r>
            <a:r>
              <a:rPr lang="zh-CN" altLang="en-US"/>
              <a:t>行是红</a:t>
            </a:r>
            <a:r>
              <a:rPr lang="zh-CN" altLang="en-US"/>
              <a:t>线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6000" y="7356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900"/>
              </a:spcAft>
            </a:pP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案例</a:t>
            </a:r>
            <a:r>
              <a:rPr lang="en-US" altLang="zh-CN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1600" b="1" i="0">
              <a:solidFill>
                <a:srgbClr val="005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41730" y="177736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</a:t>
            </a:r>
            <a:r>
              <a:rPr lang="zh-CN" altLang="en-US"/>
              <a:t>赋予机器</a:t>
            </a:r>
            <a:r>
              <a:rPr lang="en-US" altLang="zh-CN"/>
              <a:t>"</a:t>
            </a:r>
            <a:r>
              <a:rPr lang="zh-CN" altLang="en-US"/>
              <a:t>眼睛</a:t>
            </a:r>
            <a:r>
              <a:rPr lang="en-US" altLang="zh-CN"/>
              <a:t>" </a:t>
            </a:r>
            <a:endParaRPr lang="en-US" altLang="zh-CN"/>
          </a:p>
          <a:p>
            <a:r>
              <a:rPr lang="zh-CN" altLang="en-US"/>
              <a:t>功能</a:t>
            </a:r>
            <a:r>
              <a:rPr lang="en-US" altLang="zh-CN"/>
              <a:t>: </a:t>
            </a:r>
            <a:r>
              <a:rPr lang="zh-CN" altLang="en-US"/>
              <a:t>连接并打开电脑的摄像头，在一个窗口中实时显示捕捉到的画面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6000" y="7356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900"/>
              </a:spcAft>
            </a:pP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案例</a:t>
            </a:r>
            <a:r>
              <a:rPr lang="en-US" altLang="zh-CN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1600" b="1" i="0">
              <a:solidFill>
                <a:srgbClr val="005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41095" y="1757045"/>
            <a:ext cx="571055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 ROI</a:t>
            </a:r>
            <a:r>
              <a:rPr lang="zh-CN" altLang="en-US" sz="2800"/>
              <a:t>选择功能</a:t>
            </a:r>
            <a:endParaRPr lang="zh-CN" altLang="en-US" sz="2800"/>
          </a:p>
          <a:p>
            <a:r>
              <a:rPr lang="zh-CN" altLang="en-US" sz="2800"/>
              <a:t>功能</a:t>
            </a:r>
            <a:r>
              <a:rPr lang="en-US" altLang="zh-CN" sz="2800"/>
              <a:t>: </a:t>
            </a:r>
            <a:r>
              <a:rPr lang="zh-CN" altLang="en-US" sz="2800"/>
              <a:t>在实时视频流中，允许用户通过鼠标拖拽，画出一个矩形框，裁剪</a:t>
            </a:r>
            <a:r>
              <a:rPr lang="en-US" altLang="zh-CN" sz="2800"/>
              <a:t>ROI</a:t>
            </a:r>
            <a:r>
              <a:rPr lang="zh-CN" altLang="en-US" sz="2800"/>
              <a:t>区域</a:t>
            </a:r>
            <a:endParaRPr lang="zh-CN" altLang="en-US" sz="2800"/>
          </a:p>
          <a:p>
            <a:endParaRPr lang="zh-CN" altLang="en-US"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6000" y="7356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900"/>
              </a:spcAft>
            </a:pP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案例</a:t>
            </a:r>
            <a:r>
              <a:rPr lang="en-US" altLang="zh-CN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1600" b="1" i="0">
              <a:solidFill>
                <a:srgbClr val="005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42365" y="1534795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智能颜色分拣机</a:t>
            </a:r>
            <a:r>
              <a:rPr lang="en-US" altLang="zh-CN"/>
              <a:t> (Intelligent Color Sorter)</a:t>
            </a:r>
            <a:endParaRPr lang="en-US" altLang="zh-CN"/>
          </a:p>
          <a:p>
            <a:r>
              <a:rPr lang="zh-CN" altLang="en-US"/>
              <a:t>功能</a:t>
            </a:r>
            <a:r>
              <a:rPr lang="en-US" altLang="zh-CN"/>
              <a:t>: </a:t>
            </a:r>
            <a:r>
              <a:rPr lang="zh-CN" altLang="en-US"/>
              <a:t>识别不同颜色的物体并输出其位置信息</a:t>
            </a:r>
            <a:endParaRPr lang="zh-CN" altLang="en-US"/>
          </a:p>
          <a:p>
            <a:r>
              <a:rPr lang="zh-CN" altLang="en-US"/>
              <a:t>输出格式</a:t>
            </a:r>
            <a:r>
              <a:rPr lang="en-US" altLang="zh-CN"/>
              <a:t>: 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[{"type": "color", "value": "red", "position_pixels": [x, y]}]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828790" y="490220"/>
            <a:ext cx="5080000" cy="587756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核心技术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: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颜色空间转换 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(BGR to HSV),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颜色阈值分割 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(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cv2.inRange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),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轮廓检测 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(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cv2.findContours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),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矩计算 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(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cv2.moments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ct val="60000"/>
              </a:spcAft>
            </a:pPr>
            <a:r>
              <a:rPr lang="zh-CN" altLang="en-US" sz="2400" b="1" i="0">
                <a:solidFill>
                  <a:srgbClr val="007BFF"/>
                </a:solidFill>
                <a:latin typeface="-apple-system"/>
                <a:ea typeface="-apple-system"/>
              </a:rPr>
              <a:t>技术原理：为什么用</a:t>
            </a:r>
            <a:r>
              <a:rPr lang="en-US" altLang="zh-CN" sz="2400" b="1" i="0">
                <a:solidFill>
                  <a:srgbClr val="007BFF"/>
                </a:solidFill>
                <a:latin typeface="-apple-system"/>
                <a:ea typeface="-apple-system"/>
              </a:rPr>
              <a:t>HSV</a:t>
            </a:r>
            <a:r>
              <a:rPr lang="zh-CN" altLang="en-US" sz="2400" b="1" i="0">
                <a:solidFill>
                  <a:srgbClr val="007BFF"/>
                </a:solidFill>
                <a:latin typeface="-apple-system"/>
                <a:ea typeface="-apple-system"/>
              </a:rPr>
              <a:t>颜色空间？</a:t>
            </a:r>
            <a:endParaRPr lang="zh-CN" altLang="en-US" sz="2400" b="1" i="0">
              <a:solidFill>
                <a:srgbClr val="007BFF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在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BGR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空间中，一个物体的颜色会受到光照强度的严重影响（亮处的红色和暗处的红色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BGR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值差异很大）。而</a:t>
            </a:r>
            <a:r>
              <a:rPr lang="en-US" altLang="zh-CN" sz="1900" b="1" i="0">
                <a:solidFill>
                  <a:srgbClr val="D9534F"/>
                </a:solidFill>
                <a:latin typeface="-apple-system"/>
                <a:ea typeface="-apple-system"/>
              </a:rPr>
              <a:t>HSV (Hue, Saturation, Value)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颜色空间将颜色、鲜艳度和明暗度分离开来：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H (Hue-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色相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):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颜色的种类（红、橙、黄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...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），是我们要锁定的主要目标。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S (Saturation-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饱和度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):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颜色的纯度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/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鲜艳度。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V (Value-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明度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):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颜色的亮度。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通过设定一个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H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（色相）的范围，我们可以很轻松地提取出特定颜色，而不太受光照变化的影响。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6000" y="7356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900"/>
              </a:spcAft>
            </a:pP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图像坐标系</a:t>
            </a:r>
            <a:endParaRPr lang="zh-CN" altLang="en-US" sz="1600" b="1" i="0">
              <a:solidFill>
                <a:srgbClr val="005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6000" y="2117090"/>
            <a:ext cx="5080000" cy="219964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600"/>
              </a:spcAft>
            </a:pPr>
            <a:r>
              <a:rPr lang="zh-CN" altLang="en-US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标准：原点</a:t>
            </a:r>
            <a:r>
              <a:rPr lang="en-US" altLang="zh-CN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(0,0)</a:t>
            </a:r>
            <a:r>
              <a:rPr lang="zh-CN" altLang="en-US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在左上角</a:t>
            </a:r>
            <a:endParaRPr lang="zh-CN" altLang="en-US" sz="2000" b="1" i="0">
              <a:solidFill>
                <a:srgbClr val="17A2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/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与数学中的笛卡尔坐标系不同，计算机图形学和图像处理中普遍使用以下约定：</a:t>
            </a:r>
            <a:endParaRPr lang="zh-CN" altLang="en-US" sz="16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原点 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(0, 0) 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位于图像的左上角。</a:t>
            </a:r>
            <a:endParaRPr lang="zh-CN" altLang="en-US" sz="16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轴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 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从左向右增加。</a:t>
            </a:r>
            <a:endParaRPr lang="zh-CN" altLang="en-US" sz="16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Y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轴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 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从上向下增加。</a:t>
            </a:r>
            <a:endParaRPr lang="zh-CN" altLang="en-US" sz="16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/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因此，访问一个像素时，我们通常使用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 </a:t>
            </a:r>
            <a:r>
              <a:rPr lang="en-US" altLang="zh-CN" sz="1600" b="0" i="0">
                <a:solidFill>
                  <a:srgbClr val="C7254E"/>
                </a:solidFill>
                <a:latin typeface="Fira Code"/>
                <a:ea typeface="Fira Code"/>
              </a:rPr>
              <a:t>image[y, x]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 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的格式，即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 </a:t>
            </a:r>
            <a:r>
              <a:rPr lang="zh-CN" altLang="en-US" sz="1600" b="1" i="0">
                <a:solidFill>
                  <a:srgbClr val="DC3545"/>
                </a:solidFill>
                <a:latin typeface="微软雅黑" panose="020B0503020204020204" charset="-122"/>
                <a:ea typeface="微软雅黑" panose="020B0503020204020204" charset="-122"/>
              </a:rPr>
              <a:t>先高</a:t>
            </a:r>
            <a:r>
              <a:rPr lang="en-US" altLang="zh-CN" sz="1600" b="1" i="0">
                <a:solidFill>
                  <a:srgbClr val="DC3545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600" b="1" i="0">
                <a:solidFill>
                  <a:srgbClr val="DC3545"/>
                </a:solidFill>
                <a:latin typeface="微软雅黑" panose="020B0503020204020204" charset="-122"/>
                <a:ea typeface="微软雅黑" panose="020B0503020204020204" charset="-122"/>
              </a:rPr>
              <a:t>行</a:t>
            </a:r>
            <a:r>
              <a:rPr lang="en-US" altLang="zh-CN" sz="1600" b="1" i="0">
                <a:solidFill>
                  <a:srgbClr val="DC3545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1600" b="1" i="0">
                <a:solidFill>
                  <a:srgbClr val="DC3545"/>
                </a:solidFill>
                <a:latin typeface="微软雅黑" panose="020B0503020204020204" charset="-122"/>
                <a:ea typeface="微软雅黑" panose="020B0503020204020204" charset="-122"/>
              </a:rPr>
              <a:t>，后宽</a:t>
            </a:r>
            <a:r>
              <a:rPr lang="en-US" altLang="zh-CN" sz="1600" b="1" i="0">
                <a:solidFill>
                  <a:srgbClr val="DC3545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600" b="1" i="0">
                <a:solidFill>
                  <a:srgbClr val="DC3545"/>
                </a:solidFill>
                <a:latin typeface="微软雅黑" panose="020B0503020204020204" charset="-122"/>
                <a:ea typeface="微软雅黑" panose="020B0503020204020204" charset="-122"/>
              </a:rPr>
              <a:t>列</a:t>
            </a:r>
            <a:r>
              <a:rPr lang="en-US" altLang="zh-CN" sz="1600" b="1" i="0">
                <a:solidFill>
                  <a:srgbClr val="DC3545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6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7625715" y="1847850"/>
            <a:ext cx="3050540" cy="203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H="1">
            <a:off x="7625715" y="1878330"/>
            <a:ext cx="10160" cy="27673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0170795" y="1191260"/>
            <a:ext cx="788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x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7383145" y="4958715"/>
            <a:ext cx="596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y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7322820" y="1372870"/>
            <a:ext cx="828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r>
              <a:rPr lang="zh-CN" altLang="en-US"/>
              <a:t>，</a:t>
            </a:r>
            <a:r>
              <a:rPr lang="en-US" altLang="zh-CN"/>
              <a:t>0</a:t>
            </a: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975292"/>
            <a:ext cx="5080000" cy="13836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28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如何通过简单的比例关系，让机器人精确地找到摄像头看到的物体？</a:t>
            </a:r>
            <a:endParaRPr lang="zh-CN" altLang="en-US" sz="28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6000" y="7356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900"/>
              </a:spcAft>
            </a:pP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最简易手眼</a:t>
            </a: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标定</a:t>
            </a:r>
            <a:endParaRPr lang="zh-CN" altLang="en-US" sz="1600" b="1" i="0">
              <a:solidFill>
                <a:srgbClr val="005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6000" y="7356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900"/>
              </a:spcAft>
            </a:pP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建立一个</a:t>
            </a:r>
            <a:r>
              <a:rPr lang="en-US" altLang="zh-CN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翻译器</a:t>
            </a:r>
            <a:r>
              <a:rPr lang="en-US" altLang="zh-CN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600" b="1" i="0">
              <a:solidFill>
                <a:srgbClr val="005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16000" y="2510155"/>
            <a:ext cx="5080000" cy="102997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600"/>
              </a:spcAft>
            </a:pPr>
            <a:r>
              <a:rPr lang="zh-CN" altLang="en-US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输入：相机视野</a:t>
            </a:r>
            <a:endParaRPr lang="zh-CN" altLang="en-US" sz="2000" b="1" i="0">
              <a:solidFill>
                <a:srgbClr val="17A2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/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我们能从图像中得到一个目标的像素坐标。</a:t>
            </a:r>
            <a:endParaRPr lang="zh-CN" altLang="en-US" sz="16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/>
            <a:r>
              <a:rPr lang="en-US" altLang="zh-CN" sz="20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(u, v) = (450, 320)</a:t>
            </a:r>
            <a:endParaRPr lang="en-US" altLang="zh-CN" sz="20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0" y="2510155"/>
            <a:ext cx="5080000" cy="102997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600"/>
              </a:spcAft>
            </a:pPr>
            <a:r>
              <a:rPr lang="zh-CN" altLang="en-US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输出：机器人工作空间</a:t>
            </a:r>
            <a:endParaRPr lang="zh-CN" altLang="en-US" sz="2000" b="1" i="0">
              <a:solidFill>
                <a:srgbClr val="17A2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/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我们需要把它转换成机器人能理解的物理坐标。</a:t>
            </a:r>
            <a:endParaRPr lang="zh-CN" altLang="en-US" sz="16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/>
            <a:r>
              <a:rPr lang="en-US" altLang="zh-CN" sz="20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(X, Y) = (152.5, 88.0) mm</a:t>
            </a:r>
            <a:endParaRPr lang="en-US" altLang="zh-CN" sz="20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6290" y="3910330"/>
            <a:ext cx="2979420" cy="20269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910" y="3841750"/>
            <a:ext cx="3116580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556000" y="80613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900"/>
              </a:spcAft>
            </a:pP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一个重要的前提：简化场景</a:t>
            </a:r>
            <a:endParaRPr lang="zh-CN" altLang="en-US" sz="1600" b="1" i="0">
              <a:solidFill>
                <a:srgbClr val="005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44875" y="1487487"/>
            <a:ext cx="5080000" cy="69151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本次讨论的所有方法，都基于一个关键的物理设置：</a:t>
            </a:r>
            <a:endParaRPr lang="zh-CN" altLang="en-US" sz="16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spcAft>
                <a:spcPts val="600"/>
              </a:spcAft>
            </a:pPr>
            <a:r>
              <a:rPr lang="zh-CN" altLang="en-US" sz="23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相机镜头</a:t>
            </a:r>
            <a:r>
              <a:rPr lang="zh-CN" altLang="en-US" sz="2300" b="1" i="0">
                <a:solidFill>
                  <a:srgbClr val="DC3545"/>
                </a:solidFill>
                <a:latin typeface="微软雅黑" panose="020B0503020204020204" charset="-122"/>
                <a:ea typeface="微软雅黑" panose="020B0503020204020204" charset="-122"/>
              </a:rPr>
              <a:t>垂直</a:t>
            </a:r>
            <a:r>
              <a:rPr lang="zh-CN" altLang="en-US" sz="23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于工作平面</a:t>
            </a:r>
            <a:endParaRPr lang="zh-CN" altLang="en-US" sz="2300" b="1" i="0">
              <a:solidFill>
                <a:srgbClr val="17A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8195" y="2521903"/>
            <a:ext cx="5080000" cy="96837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600"/>
              </a:spcAft>
            </a:pPr>
            <a:r>
              <a:rPr lang="zh-CN" altLang="en-US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我们的简化场景 </a:t>
            </a:r>
            <a:r>
              <a:rPr lang="en-US" altLang="zh-CN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简单</a:t>
            </a:r>
            <a:r>
              <a:rPr lang="en-US" altLang="zh-CN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2000" b="1" i="0">
              <a:solidFill>
                <a:srgbClr val="17A2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/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没有透视畸变，物体无论在视野中心还是边缘，看起来大小都一样。这就像在看一张地图。</a:t>
            </a:r>
            <a:endParaRPr lang="zh-CN" altLang="en-US" sz="16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06870" y="2521903"/>
            <a:ext cx="5080000" cy="96837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600"/>
              </a:spcAft>
            </a:pPr>
            <a:r>
              <a:rPr lang="zh-CN" altLang="en-US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复杂的通用场景 </a:t>
            </a:r>
            <a:r>
              <a:rPr lang="en-US" altLang="zh-CN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困难</a:t>
            </a:r>
            <a:r>
              <a:rPr lang="en-US" altLang="zh-CN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2000" b="1" i="0">
              <a:solidFill>
                <a:srgbClr val="17A2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/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相机倾斜，存在“近大远小”的透视效应。这需要复杂的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3D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数学和旋转矩阵来解决。</a:t>
            </a:r>
            <a:endParaRPr lang="zh-CN" altLang="en-US" sz="16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2455" y="3926840"/>
            <a:ext cx="2689860" cy="19735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065" y="3834130"/>
            <a:ext cx="3040380" cy="2026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6000" y="7356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900"/>
              </a:spcAft>
            </a:pP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计算</a:t>
            </a:r>
            <a:r>
              <a:rPr lang="en-US" altLang="zh-CN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像素</a:t>
            </a:r>
            <a:r>
              <a:rPr lang="en-US" altLang="zh-CN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物理</a:t>
            </a:r>
            <a:r>
              <a:rPr lang="en-US" altLang="zh-CN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比例尺</a:t>
            </a:r>
            <a:endParaRPr lang="zh-CN" altLang="en-US" sz="1600" b="1" i="0">
              <a:solidFill>
                <a:srgbClr val="005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12215" y="1524953"/>
            <a:ext cx="5080000" cy="96837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600"/>
              </a:spcAft>
            </a:pPr>
            <a:r>
              <a:rPr lang="zh-CN" altLang="en-US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核心思想：确定</a:t>
            </a:r>
            <a:r>
              <a:rPr lang="en-US" altLang="zh-CN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个像素代表多少毫米？</a:t>
            </a:r>
            <a:endParaRPr lang="zh-CN" altLang="en-US" sz="2000" b="1" i="0">
              <a:solidFill>
                <a:srgbClr val="17A2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/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就像地图上的比例尺一样，我们需要找到图像像素距离与真实物理距离的换算关系。</a:t>
            </a:r>
            <a:endParaRPr lang="zh-CN" altLang="en-US" sz="16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3335" y="2945765"/>
            <a:ext cx="8120380" cy="1537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Aft>
                <a:spcPts val="600"/>
              </a:spcAft>
            </a:pPr>
            <a:r>
              <a:rPr lang="zh-CN" altLang="en-US" sz="21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操作方法</a:t>
            </a:r>
            <a:r>
              <a:rPr lang="en-US" altLang="zh-CN" sz="21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:</a:t>
            </a:r>
            <a:endParaRPr lang="en-US" altLang="zh-CN" sz="2100" b="1" i="0">
              <a:solidFill>
                <a:srgbClr val="17A2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AutoNum type="arabicPeriod"/>
            </a:pP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在相机视野下放置一个已知尺寸的物体（如尺子、标定块）。</a:t>
            </a:r>
            <a:endParaRPr lang="zh-CN" altLang="en-US" sz="16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AutoNum type="arabicPeriod"/>
            </a:pP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在图像上测量这个物体的像素长度 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可以使用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OpenCV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的鼠标回调函数或图像处理软件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6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AutoNum type="arabicPeriod"/>
            </a:pP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计算比例尺。</a:t>
            </a:r>
            <a:endParaRPr lang="zh-CN" altLang="en-US" sz="16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/>
            <a:r>
              <a:rPr lang="en-US" altLang="zh-CN" sz="2000" b="1" i="0">
                <a:solidFill>
                  <a:srgbClr val="0056B3"/>
                </a:solidFill>
                <a:latin typeface="Courier New" panose="02070309020205020404"/>
                <a:ea typeface="Courier New" panose="02070309020205020404"/>
              </a:rPr>
              <a:t>Scale (mm/pixel) = </a:t>
            </a:r>
            <a:r>
              <a:rPr lang="zh-CN" altLang="en-US" sz="2000" b="1" i="0">
                <a:solidFill>
                  <a:srgbClr val="0056B3"/>
                </a:solidFill>
                <a:latin typeface="Courier New" panose="02070309020205020404"/>
                <a:ea typeface="Courier New" panose="02070309020205020404"/>
              </a:rPr>
              <a:t>真实长度 </a:t>
            </a:r>
            <a:r>
              <a:rPr lang="en-US" altLang="zh-CN" sz="2000" b="1" i="0">
                <a:solidFill>
                  <a:srgbClr val="0056B3"/>
                </a:solidFill>
                <a:latin typeface="Courier New" panose="02070309020205020404"/>
                <a:ea typeface="Courier New" panose="02070309020205020404"/>
              </a:rPr>
              <a:t>(mm) / </a:t>
            </a:r>
            <a:r>
              <a:rPr lang="zh-CN" altLang="en-US" sz="2000" b="1" i="0">
                <a:solidFill>
                  <a:srgbClr val="0056B3"/>
                </a:solidFill>
                <a:latin typeface="Courier New" panose="02070309020205020404"/>
                <a:ea typeface="Courier New" panose="02070309020205020404"/>
              </a:rPr>
              <a:t>像素长度 </a:t>
            </a:r>
            <a:r>
              <a:rPr lang="en-US" altLang="zh-CN" sz="2000" b="1" i="0">
                <a:solidFill>
                  <a:srgbClr val="0056B3"/>
                </a:solidFill>
                <a:latin typeface="Courier New" panose="02070309020205020404"/>
                <a:ea typeface="Courier New" panose="02070309020205020404"/>
              </a:rPr>
              <a:t>(pixel)</a:t>
            </a:r>
            <a:endParaRPr lang="en-US" altLang="zh-CN" sz="2000" b="1" i="0">
              <a:solidFill>
                <a:srgbClr val="0056B3"/>
              </a:solidFill>
              <a:latin typeface="Courier New" panose="02070309020205020404"/>
              <a:ea typeface="Courier New" panose="020703090202050204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64615" y="4935538"/>
            <a:ext cx="5080000" cy="96837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200"/>
              </a:spcBef>
              <a:spcAft>
                <a:spcPts val="600"/>
              </a:spcAft>
            </a:pPr>
            <a:r>
              <a:rPr lang="zh-CN" altLang="en-US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举例</a:t>
            </a:r>
            <a:r>
              <a:rPr lang="en-US" altLang="zh-CN" sz="2000" b="1" i="0">
                <a:solidFill>
                  <a:srgbClr val="17A2B8"/>
                </a:solidFill>
                <a:latin typeface="微软雅黑" panose="020B0503020204020204" charset="-122"/>
                <a:ea typeface="微软雅黑" panose="020B0503020204020204" charset="-122"/>
              </a:rPr>
              <a:t>:</a:t>
            </a:r>
            <a:endParaRPr lang="en-US" altLang="zh-CN" sz="2000" b="1" i="0">
              <a:solidFill>
                <a:srgbClr val="17A2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/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一个木块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10mm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的长度，在图像中测得为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85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个像素。</a:t>
            </a:r>
            <a:endParaRPr lang="zh-CN" altLang="en-US" sz="16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/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则比例尺为</a:t>
            </a:r>
            <a:r>
              <a:rPr lang="en-US" altLang="zh-CN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: </a:t>
            </a:r>
            <a:r>
              <a:rPr lang="en-US" altLang="zh-CN" sz="1600" b="1" i="0">
                <a:solidFill>
                  <a:srgbClr val="DC3545"/>
                </a:solidFill>
                <a:latin typeface="微软雅黑" panose="020B0503020204020204" charset="-122"/>
                <a:ea typeface="微软雅黑" panose="020B0503020204020204" charset="-122"/>
              </a:rPr>
              <a:t>Scale = 10 / 85 ≈ 0.1176 mm/pixel</a:t>
            </a:r>
            <a:r>
              <a:rPr lang="zh-CN" altLang="en-US" sz="1600" b="0" i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600" b="0" i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6000" y="7356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900"/>
              </a:spcAft>
            </a:pP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案例</a:t>
            </a:r>
            <a:r>
              <a:rPr lang="en-US" altLang="zh-CN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1600" b="1" i="0">
              <a:solidFill>
                <a:srgbClr val="005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6000" y="157480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形状分拣机</a:t>
            </a:r>
            <a:r>
              <a:rPr lang="en-US" altLang="zh-CN"/>
              <a:t> (Shape Sorter)</a:t>
            </a:r>
            <a:endParaRPr lang="en-US" altLang="zh-CN"/>
          </a:p>
          <a:p>
            <a:r>
              <a:rPr lang="zh-CN" altLang="en-US"/>
              <a:t>功能</a:t>
            </a:r>
            <a:r>
              <a:rPr lang="en-US" altLang="zh-CN"/>
              <a:t>: </a:t>
            </a:r>
            <a:r>
              <a:rPr lang="zh-CN" altLang="en-US"/>
              <a:t>识别不同形状的物体并输出其位置信息</a:t>
            </a:r>
            <a:endParaRPr lang="zh-CN" altLang="en-US"/>
          </a:p>
          <a:p>
            <a:r>
              <a:rPr lang="zh-CN" altLang="en-US"/>
              <a:t>输出格式</a:t>
            </a:r>
            <a:r>
              <a:rPr lang="en-US" altLang="zh-CN"/>
              <a:t>: [{"type": "shape", "value": "circle", "position_pixels": [x, y]}]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595745" y="1252220"/>
            <a:ext cx="5080000" cy="376809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核心技术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: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图像预处理（灰度化、二值化、模糊），轮廓逼近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cv2.approxPolyDP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ct val="60000"/>
              </a:spcAft>
            </a:pPr>
            <a:r>
              <a:rPr lang="zh-CN" altLang="en-US" sz="2400" b="1" i="0">
                <a:solidFill>
                  <a:srgbClr val="007BFF"/>
                </a:solidFill>
                <a:latin typeface="-apple-system"/>
                <a:ea typeface="-apple-system"/>
              </a:rPr>
              <a:t>技术原理：轮廓逼近</a:t>
            </a:r>
            <a:endParaRPr lang="zh-CN" altLang="en-US" sz="2400" b="1" i="0">
              <a:solidFill>
                <a:srgbClr val="007BFF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cv2.findContours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找到的轮廓可能包含大量点。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cv2.approxPolyDP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函数可以用更少的顶点来逼近一个轮廓，从而得到一个简化的多边形。通过检查这个多边形的顶点数量，我们就可以判断其基本形状：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3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个顶点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: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三角形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4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个顶点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: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矩形或正方形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超过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8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个顶点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: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通常可以近似为圆形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6000" y="7356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900"/>
              </a:spcAft>
            </a:pP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案例</a:t>
            </a:r>
            <a:r>
              <a:rPr lang="en-US" altLang="zh-CN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1600" b="1" i="0">
              <a:solidFill>
                <a:srgbClr val="005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1410" y="1454150"/>
            <a:ext cx="56292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"</a:t>
            </a:r>
            <a:r>
              <a:rPr lang="zh-CN" altLang="en-US"/>
              <a:t>清台高手</a:t>
            </a:r>
            <a:r>
              <a:rPr lang="en-US" altLang="zh-CN"/>
              <a:t>"——</a:t>
            </a:r>
            <a:r>
              <a:rPr lang="zh-CN" altLang="en-US"/>
              <a:t>清空桌面</a:t>
            </a:r>
            <a:r>
              <a:rPr lang="en-US" altLang="zh-CN"/>
              <a:t> (Table Cleaner)</a:t>
            </a:r>
            <a:endParaRPr lang="en-US" altLang="zh-CN"/>
          </a:p>
          <a:p>
            <a:r>
              <a:rPr lang="zh-CN" altLang="en-US"/>
              <a:t>功能</a:t>
            </a:r>
            <a:r>
              <a:rPr lang="en-US" altLang="zh-CN"/>
              <a:t>: </a:t>
            </a:r>
            <a:r>
              <a:rPr lang="zh-CN" altLang="en-US"/>
              <a:t>通过背景差分检测桌面上的物体</a:t>
            </a:r>
            <a:endParaRPr lang="zh-CN" altLang="en-US"/>
          </a:p>
          <a:p>
            <a:r>
              <a:rPr lang="zh-CN" altLang="en-US"/>
              <a:t>输出格式</a:t>
            </a:r>
            <a:r>
              <a:rPr lang="en-US" altLang="zh-CN"/>
              <a:t>: [{"type": "object", "position_pixels": [x, y]}]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626860" y="274320"/>
            <a:ext cx="5080000" cy="553783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核心技术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: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背景建模，背景差分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cv2.absdiff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，二值化。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ct val="60000"/>
              </a:spcAft>
            </a:pPr>
            <a:r>
              <a:rPr lang="zh-CN" altLang="en-US" sz="2400" b="1" i="0">
                <a:solidFill>
                  <a:srgbClr val="007BFF"/>
                </a:solidFill>
                <a:latin typeface="-apple-system"/>
                <a:ea typeface="-apple-system"/>
              </a:rPr>
              <a:t>技术原理：背景差分</a:t>
            </a:r>
            <a:endParaRPr lang="zh-CN" altLang="en-US" sz="2400" b="1" i="0">
              <a:solidFill>
                <a:srgbClr val="007BFF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最简单的运动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/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物体检测方法。其基本思想是：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AutoNum type="arabicPeriod"/>
            </a:pP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捕获背景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: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首先拍摄一张没有任何物体的纯净背景图像。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AutoNum type="arabicPeriod"/>
            </a:pP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计算差异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: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将当前的视频帧与背景图像逐像素相减，得到一个差异图像。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AutoNum type="arabicPeriod"/>
            </a:pP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阈值处理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: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在差异图像中，没有变化的地方（背景）像素值接近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0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，而有物体出现或移动的地方像素值较大。通过设定一个阈值，我们可以将这些变化的区域提取出来，形成一个二值的掩码。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AutoNum type="arabicPeriod"/>
            </a:pP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轮廓分析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: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对这个掩码进行轮廓分析，就能找到新出现的物体。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zh-CN" altLang="en-US" sz="2900" b="0" i="0">
                <a:solidFill>
                  <a:srgbClr val="333333"/>
                </a:solidFill>
                <a:latin typeface="-apple-system"/>
                <a:ea typeface="-apple-system"/>
              </a:rPr>
              <a:t>这种方法对光线变化非常敏感。</a:t>
            </a:r>
            <a:endParaRPr lang="zh-CN" altLang="en-US" sz="29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6000" y="7356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900"/>
              </a:spcAft>
            </a:pP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案例</a:t>
            </a:r>
            <a:r>
              <a:rPr lang="en-US" altLang="zh-CN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1600" b="1" i="0">
              <a:solidFill>
                <a:srgbClr val="005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02055" y="138303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实时目标跟随</a:t>
            </a:r>
            <a:r>
              <a:rPr lang="en-US" altLang="zh-CN"/>
              <a:t> (Real-time Target Follower)</a:t>
            </a:r>
            <a:endParaRPr lang="en-US" altLang="zh-CN"/>
          </a:p>
          <a:p>
            <a:r>
              <a:rPr lang="zh-CN" altLang="en-US"/>
              <a:t>功能</a:t>
            </a:r>
            <a:r>
              <a:rPr lang="en-US" altLang="zh-CN"/>
              <a:t>: </a:t>
            </a:r>
            <a:r>
              <a:rPr lang="zh-CN" altLang="en-US"/>
              <a:t>实时跟踪特定颜色的目标物体</a:t>
            </a:r>
            <a:endParaRPr lang="zh-CN" altLang="en-US"/>
          </a:p>
          <a:p>
            <a:r>
              <a:rPr lang="zh-CN" altLang="en-US"/>
              <a:t>输出格式</a:t>
            </a:r>
            <a:r>
              <a:rPr lang="en-US" altLang="zh-CN"/>
              <a:t>: {"type": "track_target", "position_pixels": [x, y]}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096000" y="1073150"/>
            <a:ext cx="5080000" cy="443738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核心技术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: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关键在于高效地处理每一帧，以实现“实时”效果。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ct val="60000"/>
              </a:spcAft>
            </a:pPr>
            <a:r>
              <a:rPr lang="zh-CN" altLang="en-US" sz="2000" b="1" i="0">
                <a:solidFill>
                  <a:srgbClr val="007BFF"/>
                </a:solidFill>
                <a:latin typeface="-apple-system"/>
                <a:ea typeface="-apple-system"/>
              </a:rPr>
              <a:t>实现思路</a:t>
            </a:r>
            <a:endParaRPr lang="zh-CN" altLang="en-US" sz="2000" b="1" i="0">
              <a:solidFill>
                <a:srgbClr val="007BFF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我们将重用案例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3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中的代码，但会进行一些优化和调整，使其更专注于跟踪单一、最大的目标。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AutoNum type="arabicPeriod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将图像从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BGR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转换为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HSV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色彩空间。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AutoNum type="arabicPeriod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使用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`cv2.inRange`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创建一个只包含目标颜色的掩码。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AutoNum type="arabicPeriod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（可选）对掩码进行形态学操作（如腐蚀和膨胀）以消除噪声。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AutoNum type="arabicPeriod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使用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`cv2.findContours`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找到掩码中的所有连通区域。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AutoNum type="arabicPeriod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找到其中</a:t>
            </a:r>
            <a:r>
              <a:rPr lang="zh-CN" altLang="en-US" sz="1600" b="1" i="0">
                <a:solidFill>
                  <a:srgbClr val="D9534F"/>
                </a:solidFill>
                <a:latin typeface="-apple-system"/>
                <a:ea typeface="-apple-system"/>
              </a:rPr>
              <a:t>面积最大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的轮廓，并将其视为我们的跟踪目标。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AutoNum type="arabicPeriod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计算该最大轮廓的中心点，并将其作为目标的实时位置输出。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6000" y="7356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900"/>
              </a:spcAft>
            </a:pP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案例</a:t>
            </a:r>
            <a:r>
              <a:rPr lang="en-US" altLang="zh-CN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1600" b="1" i="0">
              <a:solidFill>
                <a:srgbClr val="005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0935" y="158496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从倾斜视角到</a:t>
            </a:r>
            <a:r>
              <a:rPr lang="en-US" altLang="zh-CN"/>
              <a:t>"</a:t>
            </a:r>
            <a:r>
              <a:rPr lang="zh-CN" altLang="en-US"/>
              <a:t>上帝视角</a:t>
            </a:r>
            <a:r>
              <a:rPr lang="en-US" altLang="zh-CN"/>
              <a:t>"</a:t>
            </a:r>
            <a:endParaRPr lang="en-US" altLang="zh-CN"/>
          </a:p>
          <a:p>
            <a:r>
              <a:rPr lang="zh-CN" altLang="en-US"/>
              <a:t>去畸变</a:t>
            </a:r>
            <a:endParaRPr lang="en-US" altLang="zh-CN"/>
          </a:p>
          <a:p>
            <a:r>
              <a:rPr lang="zh-CN" altLang="en-US"/>
              <a:t>功能</a:t>
            </a:r>
            <a:r>
              <a:rPr lang="en-US" altLang="zh-CN"/>
              <a:t>: </a:t>
            </a:r>
            <a:r>
              <a:rPr lang="zh-CN" altLang="en-US"/>
              <a:t>用户通过鼠标点击矩形平面的四个顶点，生成无畸变的鸟瞰图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096000" y="344170"/>
            <a:ext cx="5080000" cy="616966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核心技术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: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透视变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换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cv2.getPerspectiveTransform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, 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cv2.warpPerspective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ct val="60000"/>
              </a:spcAft>
            </a:pPr>
            <a:r>
              <a:rPr lang="zh-CN" altLang="en-US" sz="2400" b="1" i="0">
                <a:solidFill>
                  <a:srgbClr val="007BFF"/>
                </a:solidFill>
                <a:latin typeface="-apple-system"/>
                <a:ea typeface="-apple-system"/>
              </a:rPr>
              <a:t>技术原理：透视变换</a:t>
            </a:r>
            <a:r>
              <a:rPr lang="en-US" altLang="zh-CN" sz="2400" b="1" i="0">
                <a:solidFill>
                  <a:srgbClr val="007BFF"/>
                </a:solidFill>
                <a:latin typeface="-apple-system"/>
                <a:ea typeface="-apple-system"/>
              </a:rPr>
              <a:t>(Homography)</a:t>
            </a:r>
            <a:endParaRPr lang="en-US" altLang="zh-CN" sz="2400" b="1" i="0">
              <a:solidFill>
                <a:srgbClr val="007BFF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透视变换可以将一个四边形区域映射到另一个四边形区域。在我们的案例中：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源四边形 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(Source):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用户在倾斜视图中点击的四个点。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目标四边形 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(Destination):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我们想要变换成的、一个标准的矩形（例如，一个宽度为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400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，高度为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300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的矩形，其四个顶点为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(0,0), (400,0), (400,300), (0,300)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）。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cv2.getPerspectiveTransform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函数接收这两组四个点，计算出一个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3x3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的变换矩阵。然后，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cv2.warpPerspective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函数使用这个矩阵来对原始图像进行“拉伸”和“扭曲”，最终得到我们想要的鸟瞰图。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6000" y="7356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900"/>
              </a:spcAft>
            </a:pP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案例</a:t>
            </a:r>
            <a:r>
              <a:rPr lang="en-US" altLang="zh-CN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1600" b="1" i="0">
              <a:solidFill>
                <a:srgbClr val="005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82370" y="141351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测量物体的姿态</a:t>
            </a:r>
            <a:endParaRPr lang="zh-CN" altLang="en-US"/>
          </a:p>
          <a:p>
            <a:r>
              <a:rPr lang="zh-CN" altLang="en-US"/>
              <a:t>功能</a:t>
            </a:r>
            <a:r>
              <a:rPr lang="en-US" altLang="zh-CN"/>
              <a:t>: </a:t>
            </a:r>
            <a:r>
              <a:rPr lang="zh-CN" altLang="en-US"/>
              <a:t>用最小矩形框包围物体，计算中心坐标、尺寸和旋转角度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232525" y="960120"/>
            <a:ext cx="5080000" cy="493776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核心技术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: 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cv2.minAreaRect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, 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cv2.boxPoints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ct val="60000"/>
              </a:spcAft>
            </a:pPr>
            <a:r>
              <a:rPr lang="zh-CN" altLang="en-US" sz="2400" b="1" i="0">
                <a:solidFill>
                  <a:srgbClr val="007BFF"/>
                </a:solidFill>
                <a:latin typeface="-apple-system"/>
                <a:ea typeface="-apple-system"/>
              </a:rPr>
              <a:t>技术原理：最小外接矩形</a:t>
            </a:r>
            <a:endParaRPr lang="zh-CN" altLang="en-US" sz="2400" b="1" i="0">
              <a:solidFill>
                <a:srgbClr val="007BFF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cv2.boundingRect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 (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如案例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5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所示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)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只能创建一个与坐标轴平行的矩形框，如果物体是倾斜的，这个框会包含很多不必要的背景。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cv2.minAreaRect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则不同，它会找到能包围轮廓的</a:t>
            </a:r>
            <a:r>
              <a:rPr lang="zh-CN" altLang="en-US" sz="1900" b="1" i="0">
                <a:solidFill>
                  <a:srgbClr val="D9534F"/>
                </a:solidFill>
                <a:latin typeface="-apple-system"/>
                <a:ea typeface="-apple-system"/>
              </a:rPr>
              <a:t>面积最小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的矩形，这个矩形可以是任意角度旋转的。它返回一个包含三个值的元组：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中心坐标 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(x, y)</a:t>
            </a:r>
            <a:endParaRPr lang="en-US" altLang="zh-CN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尺寸 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(width, height)</a:t>
            </a:r>
            <a:endParaRPr lang="en-US" altLang="zh-CN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旋转角度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为了绘制这个旋转的矩形，我们还需要用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cv2.boxPoints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将这个结果转换成矩形的四个顶点坐标。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6000" y="7356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900"/>
              </a:spcAft>
            </a:pP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案例</a:t>
            </a:r>
            <a:r>
              <a:rPr lang="en-US" altLang="zh-CN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1600" b="1" i="0">
              <a:solidFill>
                <a:srgbClr val="005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1570" y="1666240"/>
            <a:ext cx="40640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二维码</a:t>
            </a:r>
            <a:r>
              <a:rPr lang="zh-CN" altLang="en-US"/>
              <a:t>识别</a:t>
            </a:r>
            <a:endParaRPr lang="zh-CN" altLang="en-US"/>
          </a:p>
          <a:p>
            <a:r>
              <a:rPr lang="zh-CN" altLang="en-US"/>
              <a:t>功能</a:t>
            </a:r>
            <a:r>
              <a:rPr lang="en-US" altLang="zh-CN"/>
              <a:t>: </a:t>
            </a:r>
            <a:r>
              <a:rPr lang="zh-CN" altLang="en-US"/>
              <a:t>从摄像头视频流中自动检测和解码二维码和条形码</a:t>
            </a:r>
            <a:endParaRPr lang="zh-CN" altLang="en-US"/>
          </a:p>
          <a:p>
            <a:r>
              <a:rPr lang="zh-CN" altLang="en-US"/>
              <a:t>注意</a:t>
            </a:r>
            <a:r>
              <a:rPr lang="en-US" altLang="zh-CN"/>
              <a:t>: </a:t>
            </a:r>
            <a:r>
              <a:rPr lang="zh-CN" altLang="en-US"/>
              <a:t>需要安装</a:t>
            </a:r>
            <a:r>
              <a:rPr lang="en-US" altLang="zh-CN"/>
              <a:t> pyzbar </a:t>
            </a:r>
            <a:r>
              <a:rPr lang="zh-CN" altLang="en-US"/>
              <a:t>库</a:t>
            </a:r>
            <a:r>
              <a:rPr lang="en-US" altLang="zh-CN"/>
              <a:t>: pip install pyzbar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pip install pyzbar  -i https://mirrors.aliyun.com/pypi/simple/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565900" y="1073150"/>
            <a:ext cx="5080000" cy="268224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2100" b="0" i="0">
                <a:solidFill>
                  <a:srgbClr val="333333"/>
                </a:solidFill>
                <a:latin typeface="-apple-system"/>
                <a:ea typeface="-apple-system"/>
              </a:rPr>
              <a:t>核心技术</a:t>
            </a:r>
            <a:r>
              <a:rPr lang="en-US" altLang="zh-CN" sz="2100" b="0" i="0">
                <a:solidFill>
                  <a:srgbClr val="333333"/>
                </a:solidFill>
                <a:latin typeface="-apple-system"/>
                <a:ea typeface="-apple-system"/>
              </a:rPr>
              <a:t>: </a:t>
            </a:r>
            <a:r>
              <a:rPr lang="zh-CN" altLang="en-US" sz="2100" b="0" i="0">
                <a:solidFill>
                  <a:srgbClr val="333333"/>
                </a:solidFill>
                <a:latin typeface="-apple-system"/>
                <a:ea typeface="-apple-system"/>
              </a:rPr>
              <a:t>第三方库</a:t>
            </a:r>
            <a:r>
              <a:rPr lang="en-US" altLang="zh-CN" sz="21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pyzbar</a:t>
            </a:r>
            <a:r>
              <a:rPr lang="zh-CN" altLang="en-US" sz="21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21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ct val="60000"/>
              </a:spcAft>
            </a:pPr>
            <a:r>
              <a:rPr lang="zh-CN" altLang="en-US" sz="2700" b="1" i="0">
                <a:solidFill>
                  <a:srgbClr val="007BFF"/>
                </a:solidFill>
                <a:latin typeface="-apple-system"/>
                <a:ea typeface="-apple-system"/>
              </a:rPr>
              <a:t>准备工作</a:t>
            </a:r>
            <a:r>
              <a:rPr lang="en-US" altLang="zh-CN" sz="2700" b="1" i="0">
                <a:solidFill>
                  <a:srgbClr val="007BFF"/>
                </a:solidFill>
                <a:latin typeface="-apple-system"/>
                <a:ea typeface="-apple-system"/>
              </a:rPr>
              <a:t>: </a:t>
            </a:r>
            <a:r>
              <a:rPr lang="zh-CN" altLang="en-US" sz="2700" b="1" i="0">
                <a:solidFill>
                  <a:srgbClr val="007BFF"/>
                </a:solidFill>
                <a:latin typeface="-apple-system"/>
                <a:ea typeface="-apple-system"/>
              </a:rPr>
              <a:t>安装</a:t>
            </a:r>
            <a:r>
              <a:rPr lang="en-US" altLang="zh-CN" sz="2700" b="1" i="0">
                <a:solidFill>
                  <a:srgbClr val="007BFF"/>
                </a:solidFill>
                <a:latin typeface="-apple-system"/>
                <a:ea typeface="-apple-system"/>
              </a:rPr>
              <a:t>pyzbar</a:t>
            </a:r>
            <a:endParaRPr lang="en-US" altLang="zh-CN" sz="2700" b="1" i="0">
              <a:solidFill>
                <a:srgbClr val="007BFF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2100" b="0" i="0">
                <a:solidFill>
                  <a:srgbClr val="333333"/>
                </a:solidFill>
                <a:latin typeface="-apple-system"/>
                <a:ea typeface="-apple-system"/>
              </a:rPr>
              <a:t>OpenCV</a:t>
            </a:r>
            <a:r>
              <a:rPr lang="zh-CN" altLang="en-US" sz="2100" b="0" i="0">
                <a:solidFill>
                  <a:srgbClr val="333333"/>
                </a:solidFill>
                <a:latin typeface="-apple-system"/>
                <a:ea typeface="-apple-system"/>
              </a:rPr>
              <a:t>本身不直接提供二维码解码功能，但它可以与专门的库完美配合。</a:t>
            </a:r>
            <a:r>
              <a:rPr lang="en-US" altLang="zh-CN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pyzbar</a:t>
            </a:r>
            <a:r>
              <a:rPr lang="en-US" altLang="zh-CN" sz="21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2100" b="0" i="0">
                <a:solidFill>
                  <a:srgbClr val="333333"/>
                </a:solidFill>
                <a:latin typeface="-apple-system"/>
                <a:ea typeface="-apple-system"/>
              </a:rPr>
              <a:t>是一个流行的选择。首先需要安装它：</a:t>
            </a:r>
            <a:endParaRPr lang="zh-CN" altLang="en-US" sz="21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pip install pyzbar</a:t>
            </a:r>
            <a:endParaRPr lang="en-US" altLang="zh-CN" sz="1600" b="0" i="0">
              <a:solidFill>
                <a:srgbClr val="ABB2BF"/>
              </a:solidFill>
              <a:latin typeface="Fira Code"/>
              <a:ea typeface="Fira Cod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65900" y="4277677"/>
            <a:ext cx="5080000" cy="185991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200"/>
              </a:spcBef>
              <a:spcAft>
                <a:spcPct val="60000"/>
              </a:spcAft>
            </a:pPr>
            <a:r>
              <a:rPr lang="zh-CN" altLang="en-US" sz="2400" b="1" i="0">
                <a:solidFill>
                  <a:srgbClr val="007BFF"/>
                </a:solidFill>
                <a:latin typeface="-apple-system"/>
                <a:ea typeface="-apple-system"/>
              </a:rPr>
              <a:t>技术原理</a:t>
            </a:r>
            <a:endParaRPr lang="zh-CN" altLang="en-US" sz="2400" b="1" i="0">
              <a:solidFill>
                <a:srgbClr val="007BFF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pyzbar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库封装了强大的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ZBar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条码读取引擎。我们只需要将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OpenCV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捕获的图像帧（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NumPy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数组）传递给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pyzbar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的解码函数，它就会返回一个包含所有识别到的码及其信息的列表。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6000" y="7356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900"/>
              </a:spcAft>
            </a:pP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案例</a:t>
            </a:r>
            <a:r>
              <a:rPr lang="en-US" altLang="zh-CN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sz="1600" b="1" i="0">
                <a:solidFill>
                  <a:srgbClr val="0056B3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1600" b="1" i="0">
              <a:solidFill>
                <a:srgbClr val="005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02055" y="165608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人脸</a:t>
            </a:r>
            <a:r>
              <a:rPr lang="zh-CN" altLang="en-US"/>
              <a:t>识别视觉初体验</a:t>
            </a:r>
            <a:endParaRPr lang="zh-CN" altLang="en-US"/>
          </a:p>
          <a:p>
            <a:r>
              <a:rPr lang="zh-CN" altLang="en-US"/>
              <a:t>功能</a:t>
            </a:r>
            <a:r>
              <a:rPr lang="en-US" altLang="zh-CN"/>
              <a:t>: </a:t>
            </a:r>
            <a:r>
              <a:rPr lang="zh-CN" altLang="en-US"/>
              <a:t>使用</a:t>
            </a:r>
            <a:r>
              <a:rPr lang="en-US" altLang="zh-CN"/>
              <a:t>OpenCV</a:t>
            </a:r>
            <a:r>
              <a:rPr lang="zh-CN" altLang="en-US"/>
              <a:t>预训练的</a:t>
            </a:r>
            <a:r>
              <a:rPr lang="en-US" altLang="zh-CN"/>
              <a:t>Haar</a:t>
            </a:r>
            <a:r>
              <a:rPr lang="zh-CN" altLang="en-US"/>
              <a:t>模型检测人脸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303645" y="1196340"/>
            <a:ext cx="5080000" cy="470789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核心技术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: 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cv2.CascadeClassifier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, Haar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特征。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ct val="60000"/>
              </a:spcAft>
            </a:pPr>
            <a:r>
              <a:rPr lang="zh-CN" altLang="en-US" sz="2400" b="1" i="0">
                <a:solidFill>
                  <a:srgbClr val="007BFF"/>
                </a:solidFill>
                <a:latin typeface="-apple-system"/>
                <a:ea typeface="-apple-system"/>
              </a:rPr>
              <a:t>技术原理：</a:t>
            </a:r>
            <a:r>
              <a:rPr lang="en-US" altLang="zh-CN" sz="2400" b="1" i="0">
                <a:solidFill>
                  <a:srgbClr val="007BFF"/>
                </a:solidFill>
                <a:latin typeface="-apple-system"/>
                <a:ea typeface="-apple-system"/>
              </a:rPr>
              <a:t>Haar</a:t>
            </a:r>
            <a:r>
              <a:rPr lang="zh-CN" altLang="en-US" sz="2400" b="1" i="0">
                <a:solidFill>
                  <a:srgbClr val="007BFF"/>
                </a:solidFill>
                <a:latin typeface="-apple-system"/>
                <a:ea typeface="-apple-system"/>
              </a:rPr>
              <a:t>级联分类器</a:t>
            </a:r>
            <a:endParaRPr lang="zh-CN" altLang="en-US" sz="2400" b="1" i="0">
              <a:solidFill>
                <a:srgbClr val="007BFF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这是一种经典的、非常快速的目标检测方法，尤其适用于检测人脸、眼睛等刚性物体。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Haar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特征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: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一些简单的黑白矩形模板。将这些模板放在图像上，用白色区域像素和减去黑色区域像素和，得到一个特征值。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级联 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(Cascade):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检测过程分很多阶段。图像区域需要通过所有阶段的检测，才被认为是一个人脸。这大大提高了效率，因为大部分非人脸区域在早期阶段就会被排除。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OpenCV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自带了许多预训练好的模型文件（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XML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格式），我们只需要加载它们即可使用。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65525" y="28174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传统机器视觉</a:t>
            </a:r>
            <a:r>
              <a:rPr lang="en-US" altLang="zh-CN"/>
              <a:t>opencv</a:t>
            </a:r>
            <a:r>
              <a:rPr lang="zh-CN" altLang="en-US"/>
              <a:t>的</a:t>
            </a:r>
            <a:r>
              <a:rPr lang="zh-CN" altLang="en-US"/>
              <a:t>挑战</a:t>
            </a: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626745" y="1153795"/>
            <a:ext cx="5588000" cy="27559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586220" y="15738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ct val="60000"/>
              </a:spcAft>
            </a:pPr>
            <a:r>
              <a:rPr lang="zh-CN" altLang="en-US" sz="1600" b="0" i="0">
                <a:latin typeface="Roboto"/>
                <a:ea typeface="Roboto"/>
              </a:rPr>
              <a:t>视角变化</a:t>
            </a:r>
            <a:endParaRPr lang="zh-CN" altLang="en-US" sz="1600" b="0" i="0">
              <a:latin typeface="Roboto"/>
              <a:ea typeface="Roboto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115" y="3909695"/>
            <a:ext cx="6667500" cy="27203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16000" y="525938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ct val="60000"/>
              </a:spcAft>
            </a:pPr>
            <a:r>
              <a:rPr lang="zh-CN" altLang="en-US" sz="1600" b="0" i="0">
                <a:latin typeface="Roboto"/>
                <a:ea typeface="Roboto"/>
              </a:rPr>
              <a:t>光照变化</a:t>
            </a:r>
            <a:endParaRPr lang="en-US" altLang="zh-CN" sz="1600" b="0" i="0">
              <a:latin typeface="Roboto"/>
              <a:ea typeface="Roboto"/>
              <a:hlinkClick r:id="rId3" tooltip="Permanent link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360" y="240030"/>
            <a:ext cx="5050155" cy="33547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71285" y="121697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ct val="60000"/>
              </a:spcAft>
            </a:pPr>
            <a:r>
              <a:rPr lang="zh-CN" altLang="en-US" sz="1600" b="0" i="0">
                <a:latin typeface="Roboto"/>
                <a:ea typeface="Roboto"/>
              </a:rPr>
              <a:t>尺寸变化</a:t>
            </a:r>
            <a:endParaRPr lang="zh-CN" altLang="en-US" sz="1600" b="0" i="0">
              <a:latin typeface="Roboto"/>
              <a:ea typeface="Roboto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0795" y="488346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ct val="60000"/>
              </a:spcAft>
            </a:pPr>
            <a:r>
              <a:rPr lang="zh-CN" altLang="en-US" sz="1600" b="0" i="0">
                <a:latin typeface="Roboto"/>
                <a:ea typeface="Roboto"/>
              </a:rPr>
              <a:t>形态变化</a:t>
            </a:r>
            <a:endParaRPr lang="zh-CN" altLang="en-US" sz="1600" b="0" i="0">
              <a:latin typeface="Roboto"/>
              <a:ea typeface="Roboto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810" y="3645535"/>
            <a:ext cx="4122420" cy="29527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28980" y="67659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ct val="60000"/>
              </a:spcAft>
            </a:pPr>
            <a:r>
              <a:rPr lang="zh-CN" altLang="en-US" sz="1600" b="0" i="0">
                <a:latin typeface="Roboto"/>
                <a:ea typeface="Roboto"/>
              </a:rPr>
              <a:t>背景混淆</a:t>
            </a:r>
            <a:endParaRPr lang="en-US" altLang="zh-CN" sz="1600" b="0" i="0">
              <a:latin typeface="Roboto"/>
              <a:ea typeface="Roboto"/>
              <a:hlinkClick r:id="rId1" tooltip="Permanent link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555" y="1323975"/>
            <a:ext cx="3665220" cy="4762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710" y="457835"/>
            <a:ext cx="3878580" cy="48387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537960" y="584422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ct val="60000"/>
              </a:spcAft>
            </a:pPr>
            <a:r>
              <a:rPr lang="zh-CN" altLang="en-US" sz="1600" b="0" i="0">
                <a:latin typeface="Roboto"/>
                <a:ea typeface="Roboto"/>
              </a:rPr>
              <a:t>遮挡</a:t>
            </a:r>
            <a:endParaRPr lang="zh-CN" altLang="en-US" sz="1600" b="0" i="0">
              <a:latin typeface="Roboto"/>
              <a:ea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95020" y="47720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ct val="60000"/>
              </a:spcAft>
            </a:pPr>
            <a:r>
              <a:rPr lang="zh-CN" altLang="en-US" sz="1600" b="0" i="0">
                <a:latin typeface="Roboto"/>
                <a:ea typeface="Roboto"/>
              </a:rPr>
              <a:t>类内物体的外观差异</a:t>
            </a:r>
            <a:endParaRPr lang="zh-CN" altLang="en-US" sz="1600" b="0" i="0">
              <a:latin typeface="Roboto"/>
              <a:ea typeface="Roboto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0" y="2042160"/>
            <a:ext cx="6477000" cy="27736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334135"/>
            <a:ext cx="5080000" cy="418973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Aft>
                <a:spcPts val="1500"/>
              </a:spcAft>
            </a:pPr>
            <a:r>
              <a:rPr lang="en-US" altLang="zh-CN" sz="2200" b="1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"</a:t>
            </a:r>
            <a:r>
              <a:rPr lang="zh-CN" altLang="en-US" sz="2200" b="1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手工设计特征 </a:t>
            </a:r>
            <a:r>
              <a:rPr lang="en-US" altLang="zh-CN" sz="2200" b="1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+ </a:t>
            </a:r>
            <a:r>
              <a:rPr lang="zh-CN" altLang="en-US" sz="2200" b="1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简单分类器</a:t>
            </a:r>
            <a:r>
              <a:rPr lang="en-US" altLang="zh-CN" sz="2200" b="1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"</a:t>
            </a:r>
            <a:endParaRPr lang="en-US" altLang="zh-CN" sz="2200" b="1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ts val="700"/>
              </a:spcBef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核心流程：</a:t>
            </a:r>
            <a:r>
              <a:rPr lang="en-US" altLang="zh-CN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图像预处理 </a:t>
            </a:r>
            <a:r>
              <a:rPr lang="en-US" altLang="zh-CN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-&gt; </a:t>
            </a:r>
            <a:r>
              <a:rPr lang="zh-CN" altLang="en-US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手动设计特征提取</a:t>
            </a:r>
            <a:r>
              <a:rPr lang="en-US" altLang="zh-CN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-&gt; </a:t>
            </a:r>
            <a:r>
              <a:rPr lang="zh-CN" altLang="en-US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特征编码 </a:t>
            </a:r>
            <a:r>
              <a:rPr lang="en-US" altLang="zh-CN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-&gt; </a:t>
            </a:r>
            <a:r>
              <a:rPr lang="zh-CN" altLang="en-US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分类</a:t>
            </a:r>
            <a:r>
              <a:rPr lang="en-US" altLang="zh-CN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/</a:t>
            </a:r>
            <a:r>
              <a:rPr lang="zh-CN" altLang="en-US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识别。</a:t>
            </a:r>
            <a:endParaRPr lang="zh-CN" altLang="en-US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ts val="700"/>
              </a:spcBef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关键步骤：</a:t>
            </a:r>
            <a:r>
              <a:rPr lang="en-US" altLang="zh-CN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特征工程 </a:t>
            </a:r>
            <a:r>
              <a:rPr lang="en-US" altLang="zh-CN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(Feature Engineering)</a:t>
            </a:r>
            <a:r>
              <a:rPr lang="zh-CN" altLang="en-US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。</a:t>
            </a:r>
            <a:endParaRPr lang="zh-CN" altLang="en-US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ts val="700"/>
              </a:spcBef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典型特征：</a:t>
            </a:r>
            <a:endParaRPr lang="zh-CN" altLang="en-US" b="0" i="0">
              <a:solidFill>
                <a:srgbClr val="C62828"/>
              </a:solidFill>
              <a:latin typeface="Segoe UI" panose="020B0502040204020203"/>
              <a:ea typeface="Segoe UI" panose="020B0502040204020203"/>
            </a:endParaRPr>
          </a:p>
          <a:p>
            <a:pPr marL="0" lvl="1" indent="0" algn="l">
              <a:spcBef>
                <a:spcPts val="700"/>
              </a:spcBef>
              <a:spcAft>
                <a:spcPts val="700"/>
              </a:spcAft>
              <a:buFont typeface="Arial" panose="020B0604020202020204"/>
              <a:buChar char="◦"/>
            </a:pP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边缘、角点 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(e.g., Harris)</a:t>
            </a:r>
            <a:endParaRPr lang="en-US" altLang="zh-CN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lvl="1" indent="0" algn="l">
              <a:spcBef>
                <a:spcPts val="700"/>
              </a:spcBef>
              <a:spcAft>
                <a:spcPts val="700"/>
              </a:spcAft>
              <a:buFont typeface="Arial" panose="020B0604020202020204"/>
              <a:buChar char="◦"/>
            </a:pP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梯度方向直方图 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(e.g., HOG for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行人检测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lvl="1" indent="0" algn="l">
              <a:spcBef>
                <a:spcPts val="700"/>
              </a:spcBef>
              <a:spcAft>
                <a:spcPts val="700"/>
              </a:spcAft>
              <a:buFont typeface="Arial" panose="020B0604020202020204"/>
              <a:buChar char="◦"/>
            </a:pP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尺度不变特征变换 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(e.g., SIFT, SURF for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物体匹配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ts val="700"/>
              </a:spcBef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优点：</a:t>
            </a:r>
            <a:r>
              <a:rPr lang="en-US" altLang="zh-CN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对特定任务高效、可解释性强、计算资源要求低。</a:t>
            </a:r>
            <a:endParaRPr lang="zh-CN" altLang="en-US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83385" y="7505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经典</a:t>
            </a:r>
            <a:r>
              <a:rPr lang="en-US" altLang="zh-CN"/>
              <a:t>CV</a:t>
            </a:r>
            <a:r>
              <a:rPr lang="zh-CN" altLang="en-US"/>
              <a:t>的核心思想</a:t>
            </a:r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327910"/>
            <a:ext cx="5080000" cy="220218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Aft>
                <a:spcPts val="1500"/>
              </a:spcAft>
            </a:pPr>
            <a:r>
              <a:rPr lang="zh-CN" altLang="en-US" sz="2000" b="1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我们试图用有限的规则，去描述无限的世界</a:t>
            </a:r>
            <a:endParaRPr lang="zh-CN" altLang="en-US" sz="2000" b="1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ts val="700"/>
              </a:spcBef>
              <a:spcAft>
                <a:spcPts val="7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传统方法在受控环境下表现出色，但在真实世界的复杂场景中，很快就遇到了难以逾越的瓶颈。这些瓶颈的核心都指向同一个问题：</a:t>
            </a:r>
            <a:endParaRPr lang="zh-CN" altLang="en-US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ts val="3000"/>
              </a:spcBef>
              <a:spcAft>
                <a:spcPts val="700"/>
              </a:spcAft>
            </a:pPr>
            <a:r>
              <a:rPr lang="zh-CN" altLang="en-US" sz="20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手工设计的特征，鲁棒性不足！</a:t>
            </a:r>
            <a:endParaRPr lang="zh-CN" altLang="en-US" sz="2000" b="0" i="0">
              <a:solidFill>
                <a:srgbClr val="C62828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576388"/>
            <a:ext cx="5080000" cy="370522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ts val="700"/>
              </a:spcBef>
              <a:spcAft>
                <a:spcPts val="7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传统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CV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方法试图通过人类的智慧，为每一个视觉问题“量身定做”一套特征提取规则。</a:t>
            </a:r>
            <a:endParaRPr lang="zh-CN" altLang="en-US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Aft>
                <a:spcPts val="1500"/>
              </a:spcAft>
            </a:pPr>
            <a:r>
              <a:rPr lang="zh-CN" altLang="en-US" sz="2000" b="1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这是一种</a:t>
            </a:r>
            <a:r>
              <a:rPr lang="en-US" altLang="zh-CN" sz="2000" b="1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20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“授人以鱼”</a:t>
            </a:r>
            <a:r>
              <a:rPr lang="en-US" altLang="zh-CN" sz="2000" b="1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2000" b="1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的模式。</a:t>
            </a:r>
            <a:endParaRPr lang="zh-CN" altLang="en-US" sz="2000" b="1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ts val="700"/>
              </a:spcBef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光照变化：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需要光照不变性。</a:t>
            </a:r>
            <a:endParaRPr lang="zh-CN" altLang="en-US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ts val="700"/>
              </a:spcBef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姿态视角：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需要几何不变性。</a:t>
            </a:r>
            <a:endParaRPr lang="zh-CN" altLang="en-US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ts val="700"/>
              </a:spcBef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类内差异：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需要高度的抽象和泛化能力。</a:t>
            </a:r>
            <a:endParaRPr lang="zh-CN" altLang="en-US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ts val="700"/>
              </a:spcBef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背景干扰：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需要强大的上下文理解能力。</a:t>
            </a:r>
            <a:endParaRPr lang="zh-CN" altLang="en-US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ts val="700"/>
              </a:spcBef>
              <a:spcAft>
                <a:spcPts val="700"/>
              </a:spcAft>
            </a:pPr>
            <a:r>
              <a:rPr lang="zh-CN" altLang="en-US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结论：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手工设计一个能同时解决以上所有问题的“万能特征”是极其困难的，甚至是不可能的。我们需要一种新的范式。</a:t>
            </a:r>
            <a:endParaRPr lang="zh-CN" altLang="en-US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860675" y="2478405"/>
            <a:ext cx="6293485" cy="15938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2200"/>
              </a:spcAft>
            </a:pPr>
            <a:r>
              <a:rPr lang="zh-CN" altLang="en-US" sz="2500" b="1" i="0">
                <a:solidFill>
                  <a:srgbClr val="004D40"/>
                </a:solidFill>
                <a:latin typeface="Segoe UI" panose="020B0502040204020203"/>
                <a:ea typeface="Segoe UI" panose="020B0502040204020203"/>
              </a:rPr>
              <a:t>引入机器学习 </a:t>
            </a:r>
            <a:r>
              <a:rPr lang="en-US" altLang="zh-CN" sz="2500" b="1" i="0">
                <a:solidFill>
                  <a:srgbClr val="004D40"/>
                </a:solidFill>
                <a:latin typeface="Segoe UI" panose="020B0502040204020203"/>
                <a:ea typeface="Segoe UI" panose="020B0502040204020203"/>
              </a:rPr>
              <a:t>(Machine Learning)</a:t>
            </a:r>
            <a:endParaRPr lang="en-US" altLang="zh-CN" sz="2500" b="1" i="0">
              <a:solidFill>
                <a:srgbClr val="004D40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Aft>
                <a:spcPts val="1500"/>
              </a:spcAft>
            </a:pPr>
            <a:r>
              <a:rPr lang="zh-CN" altLang="en-US" sz="2000" b="1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“我不再告诉你规则，我给你看例子，你自己学”</a:t>
            </a:r>
            <a:endParaRPr lang="zh-CN" altLang="en-US" sz="2000" b="1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ts val="700"/>
              </a:spcBef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思想转变：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从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“设计规则”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转向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“从数据中学习规律”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313940"/>
            <a:ext cx="5080000" cy="223012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ts val="700"/>
              </a:spcBef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核心思想：</a:t>
            </a:r>
            <a:r>
              <a:rPr lang="en-US" altLang="zh-CN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端到端学习 </a:t>
            </a:r>
            <a:r>
              <a:rPr lang="en-US" altLang="zh-CN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(End-to-End Learning)</a:t>
            </a:r>
            <a:r>
              <a:rPr lang="zh-CN" altLang="en-US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。</a:t>
            </a:r>
            <a:endParaRPr lang="zh-CN" altLang="en-US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ts val="700"/>
              </a:spcBef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代表模型：</a:t>
            </a:r>
            <a:r>
              <a:rPr lang="en-US" altLang="zh-CN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深度神经网络（</a:t>
            </a:r>
            <a:r>
              <a:rPr lang="en-US" altLang="zh-CN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DNN</a:t>
            </a:r>
            <a:r>
              <a:rPr lang="zh-CN" altLang="en-US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），卷积神经网络 </a:t>
            </a:r>
            <a:r>
              <a:rPr lang="en-US" altLang="zh-CN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(Convolutional Neural Networks, CNN)</a:t>
            </a:r>
            <a:r>
              <a:rPr lang="zh-CN" altLang="en-US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。</a:t>
            </a:r>
            <a:endParaRPr lang="zh-CN" altLang="en-US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ts val="700"/>
              </a:spcBef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全新的流程：</a:t>
            </a:r>
            <a:endParaRPr lang="zh-CN" altLang="en-US" b="0" i="0">
              <a:solidFill>
                <a:srgbClr val="C62828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ts val="700"/>
              </a:spcBef>
              <a:spcAft>
                <a:spcPts val="7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输入图像 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-&gt; </a:t>
            </a:r>
            <a:r>
              <a:rPr lang="en-US" altLang="zh-CN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[ </a:t>
            </a:r>
            <a:r>
              <a:rPr lang="zh-CN" altLang="en-US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神经网络自动学习特征提取 </a:t>
            </a:r>
            <a:r>
              <a:rPr lang="en-US" altLang="zh-CN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+ </a:t>
            </a:r>
            <a:r>
              <a:rPr lang="zh-CN" altLang="en-US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分类 </a:t>
            </a:r>
            <a:r>
              <a:rPr lang="en-US" altLang="zh-CN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]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-&gt; 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输出结果</a:t>
            </a:r>
            <a:endParaRPr lang="zh-CN" altLang="en-US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78530" y="89693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2200"/>
              </a:spcAft>
            </a:pPr>
            <a:r>
              <a:rPr lang="zh-CN" altLang="en-US" sz="1600" b="1" i="0">
                <a:solidFill>
                  <a:srgbClr val="004D40"/>
                </a:solidFill>
                <a:latin typeface="Segoe UI" panose="020B0502040204020203"/>
                <a:ea typeface="Segoe UI" panose="020B0502040204020203"/>
              </a:rPr>
              <a:t>质的飞跃：</a:t>
            </a:r>
            <a:r>
              <a:rPr lang="en-US" altLang="zh-CN" sz="1600" b="1" i="0">
                <a:solidFill>
                  <a:srgbClr val="004D40"/>
                </a:solidFill>
                <a:latin typeface="Segoe UI" panose="020B0502040204020203"/>
                <a:ea typeface="Segoe UI" panose="020B0502040204020203"/>
              </a:rPr>
              <a:t>ImageNet</a:t>
            </a:r>
            <a:r>
              <a:rPr lang="zh-CN" altLang="en-US" sz="1600" b="1" i="0">
                <a:solidFill>
                  <a:srgbClr val="004D40"/>
                </a:solidFill>
                <a:latin typeface="Segoe UI" panose="020B0502040204020203"/>
                <a:ea typeface="Segoe UI" panose="020B0502040204020203"/>
              </a:rPr>
              <a:t>竞赛的启示</a:t>
            </a:r>
            <a:endParaRPr lang="zh-CN" altLang="en-US" sz="1600" b="1" i="0">
              <a:solidFill>
                <a:srgbClr val="004D40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33245" y="1793240"/>
            <a:ext cx="7950200" cy="22866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ts val="700"/>
              </a:spcBef>
              <a:spcAft>
                <a:spcPts val="700"/>
              </a:spcAft>
            </a:pP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ImageNet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大规模视觉识别挑战赛 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(ILSVRC) 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是检验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CV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模型能力的“试金石”。</a:t>
            </a:r>
            <a:endParaRPr lang="zh-CN" altLang="en-US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ts val="700"/>
              </a:spcBef>
              <a:spcAft>
                <a:spcPts val="70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2010-2011</a:t>
            </a:r>
            <a:r>
              <a:rPr lang="zh-CN" altLang="en-US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年：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冠军方案均基于</a:t>
            </a:r>
            <a:r>
              <a:rPr lang="zh-CN" altLang="en-US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传统方法 </a:t>
            </a:r>
            <a:r>
              <a:rPr lang="en-US" altLang="zh-CN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+ </a:t>
            </a:r>
            <a:r>
              <a:rPr lang="zh-CN" altLang="en-US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机器学习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。错误率在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en-US" altLang="zh-CN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26%-28%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之间徘徊。</a:t>
            </a:r>
            <a:endParaRPr lang="zh-CN" altLang="en-US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ts val="700"/>
              </a:spcBef>
              <a:spcAft>
                <a:spcPts val="70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2012</a:t>
            </a:r>
            <a:r>
              <a:rPr lang="zh-CN" altLang="en-US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年 </a:t>
            </a:r>
            <a:r>
              <a:rPr lang="en-US" altLang="zh-CN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(</a:t>
            </a:r>
            <a:r>
              <a:rPr lang="zh-CN" altLang="en-US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转折点</a:t>
            </a:r>
            <a:r>
              <a:rPr lang="en-US" altLang="zh-CN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)</a:t>
            </a:r>
            <a:r>
              <a:rPr lang="zh-CN" altLang="en-US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：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AlexNet (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一个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CNN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模型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) 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横空出世，将错误率大幅降低到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en-US" altLang="zh-CN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15.3%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ts val="700"/>
              </a:spcBef>
              <a:spcAft>
                <a:spcPts val="70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2012</a:t>
            </a:r>
            <a:r>
              <a:rPr lang="zh-CN" altLang="en-US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年之后：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所有冠军方案均被深度学习模型包揽，错误率逐年下降，并在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2015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年首次</a:t>
            </a:r>
            <a:r>
              <a:rPr lang="zh-CN" altLang="en-US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超越人类水平 </a:t>
            </a:r>
            <a:r>
              <a:rPr lang="en-US" altLang="zh-CN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(</a:t>
            </a:r>
            <a:r>
              <a:rPr lang="zh-CN" altLang="en-US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约</a:t>
            </a:r>
            <a:r>
              <a:rPr lang="en-US" altLang="zh-CN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5%)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ts val="700"/>
              </a:spcBef>
              <a:spcAft>
                <a:spcPts val="700"/>
              </a:spcAft>
            </a:pPr>
            <a:r>
              <a:rPr lang="zh-CN" altLang="en-US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结论：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深度学习带来的不是量变，而是</a:t>
            </a:r>
            <a:r>
              <a:rPr lang="zh-CN" altLang="en-US" sz="16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质变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87550" y="1193165"/>
            <a:ext cx="8293735" cy="38284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Aft>
                <a:spcPts val="1500"/>
              </a:spcAft>
            </a:pPr>
            <a:r>
              <a:rPr lang="zh-CN" altLang="en-US" sz="2400" b="1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从“授人以鱼”到“授人以渔”</a:t>
            </a:r>
            <a:endParaRPr lang="zh-CN" altLang="en-US" sz="2400" b="1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>
              <a:spcBef>
                <a:spcPts val="700"/>
              </a:spcBef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经典</a:t>
            </a:r>
            <a:r>
              <a:rPr lang="en-US" altLang="zh-CN" sz="19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CV</a:t>
            </a:r>
            <a:r>
              <a:rPr lang="zh-CN" altLang="en-US" sz="19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：</a:t>
            </a:r>
            <a:r>
              <a:rPr lang="en-US" altLang="zh-CN" sz="19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试图</a:t>
            </a:r>
            <a:r>
              <a:rPr lang="zh-CN" altLang="en-US" sz="19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设计</a:t>
            </a:r>
            <a:r>
              <a:rPr lang="zh-CN" altLang="en-US" sz="19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普适规则 </a:t>
            </a:r>
            <a:r>
              <a:rPr lang="en-US" altLang="zh-CN" sz="19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(</a:t>
            </a:r>
            <a:r>
              <a:rPr lang="zh-CN" altLang="en-US" sz="19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授人以鱼</a:t>
            </a:r>
            <a:r>
              <a:rPr lang="en-US" altLang="zh-CN" sz="19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)</a:t>
            </a:r>
            <a:r>
              <a:rPr lang="zh-CN" altLang="en-US" sz="19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。因现实世界的无限复杂性而受限。</a:t>
            </a:r>
            <a:endParaRPr lang="zh-CN" altLang="en-US" sz="19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>
              <a:spcBef>
                <a:spcPts val="700"/>
              </a:spcBef>
              <a:spcAft>
                <a:spcPts val="700"/>
              </a:spcAft>
            </a:pPr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(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人告诉机器怎么做</a:t>
            </a:r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)</a:t>
            </a:r>
            <a:endParaRPr lang="en-US" altLang="zh-CN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>
              <a:spcBef>
                <a:spcPts val="700"/>
              </a:spcBef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机器学习：</a:t>
            </a:r>
            <a:r>
              <a:rPr lang="en-US" altLang="zh-CN" sz="19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实现了</a:t>
            </a:r>
            <a:r>
              <a:rPr lang="zh-CN" altLang="en-US" sz="19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特征和分类的端到端学习</a:t>
            </a:r>
            <a:r>
              <a:rPr lang="zh-CN" altLang="en-US" sz="19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，让模型自己探索解决问题的最佳路径。</a:t>
            </a:r>
            <a:endParaRPr lang="zh-CN" altLang="en-US" sz="19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>
              <a:spcBef>
                <a:spcPts val="700"/>
              </a:spcBef>
              <a:spcAft>
                <a:spcPts val="700"/>
              </a:spcAft>
            </a:pPr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(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人给机器足够数据，机器自己学所有事</a:t>
            </a:r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)</a:t>
            </a:r>
            <a:endParaRPr lang="en-US" altLang="zh-CN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>
              <a:spcBef>
                <a:spcPts val="700"/>
              </a:spcBef>
              <a:spcAft>
                <a:spcPts val="700"/>
              </a:spcAft>
            </a:pPr>
            <a:r>
              <a:rPr lang="zh-CN" altLang="en-US" sz="19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面对日益复杂的现实世界视觉任务，这种从“人工设计”到“自动学习”的范式转移，是</a:t>
            </a:r>
            <a:r>
              <a:rPr lang="zh-CN" altLang="en-US" sz="1900" b="0" i="0">
                <a:solidFill>
                  <a:srgbClr val="C62828"/>
                </a:solidFill>
                <a:latin typeface="Segoe UI" panose="020B0502040204020203"/>
                <a:ea typeface="Segoe UI" panose="020B0502040204020203"/>
              </a:rPr>
              <a:t>技术发展的必然趋势</a:t>
            </a:r>
            <a:r>
              <a:rPr lang="zh-CN" altLang="en-US" sz="19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。</a:t>
            </a:r>
            <a:endParaRPr lang="zh-CN" altLang="en-US" sz="19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/>
            <a:endParaRPr lang="en-US" altLang="zh-CN" sz="2100" b="0" i="0">
              <a:solidFill>
                <a:srgbClr val="000000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6450</Words>
  <Application>WPS 演示</Application>
  <PresentationFormat>宽屏</PresentationFormat>
  <Paragraphs>329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9" baseType="lpstr">
      <vt:lpstr>Arial</vt:lpstr>
      <vt:lpstr>宋体</vt:lpstr>
      <vt:lpstr>Wingdings</vt:lpstr>
      <vt:lpstr>微软雅黑</vt:lpstr>
      <vt:lpstr>-apple-system</vt:lpstr>
      <vt:lpstr>JetBrains Mono</vt:lpstr>
      <vt:lpstr>Arial</vt:lpstr>
      <vt:lpstr>Courier New</vt:lpstr>
      <vt:lpstr>Arial Unicode MS</vt:lpstr>
      <vt:lpstr>Calibri</vt:lpstr>
      <vt:lpstr>Fira Code</vt:lpstr>
      <vt:lpstr>Roboto</vt:lpstr>
      <vt:lpstr>Times New Roman</vt:lpstr>
      <vt:lpstr>Segoe UI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 z</dc:creator>
  <cp:lastModifiedBy>欢乐马</cp:lastModifiedBy>
  <cp:revision>94</cp:revision>
  <dcterms:created xsi:type="dcterms:W3CDTF">2023-08-09T12:44:00Z</dcterms:created>
  <dcterms:modified xsi:type="dcterms:W3CDTF">2025-09-27T08:30:07Z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DDFA41BA275D4F78A9E5367061F86CF9_12</vt:lpwstr>
  </property>
</Properties>
</file>