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556000" y="1994535"/>
            <a:ext cx="5080000" cy="2868930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800"/>
              </a:spcAft>
            </a:pPr>
            <a:r>
              <a:rPr lang="zh-CN" altLang="en-US" sz="3000" b="1" i="0">
                <a:solidFill>
                  <a:srgbClr val="003D7A"/>
                </a:solidFill>
                <a:latin typeface="-apple-system"/>
                <a:ea typeface="-apple-system"/>
              </a:rPr>
              <a:t>一个更聪明的控制器</a:t>
            </a:r>
            <a:endParaRPr lang="zh-CN" altLang="en-US" sz="3000" b="1" i="0">
              <a:solidFill>
                <a:srgbClr val="003D7A"/>
              </a:solidFill>
              <a:latin typeface="-apple-system"/>
              <a:ea typeface="-apple-system"/>
            </a:endParaRPr>
          </a:p>
          <a:p>
            <a:pPr marL="0" indent="0" algn="ctr">
              <a:spcBef>
                <a:spcPts val="1200"/>
              </a:spcBef>
              <a:spcAft>
                <a:spcPts val="900"/>
              </a:spcAft>
            </a:pPr>
            <a:r>
              <a:rPr lang="zh-CN" altLang="en-US" sz="2200" b="1" i="0">
                <a:solidFill>
                  <a:srgbClr val="D9534F"/>
                </a:solidFill>
                <a:latin typeface="-apple-system"/>
                <a:ea typeface="-apple-system"/>
              </a:rPr>
              <a:t>回顾：闭环控制的核心</a:t>
            </a:r>
            <a:endParaRPr lang="zh-CN" altLang="en-US" sz="2200" b="1" i="0">
              <a:solidFill>
                <a:srgbClr val="D9534F"/>
              </a:solidFill>
              <a:latin typeface="-apple-system"/>
              <a:ea typeface="-apple-system"/>
            </a:endParaRPr>
          </a:p>
          <a:p>
            <a:pPr marL="0" indent="0" algn="l"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上一课我们确立了闭环控制的核心思想：</a:t>
            </a:r>
            <a:r>
              <a:rPr lang="zh-CN" altLang="en-US" sz="1600" b="0" i="0">
                <a:solidFill>
                  <a:srgbClr val="0056B3"/>
                </a:solidFill>
                <a:latin typeface="-apple-system"/>
                <a:ea typeface="-apple-system"/>
              </a:rPr>
              <a:t>基于误差</a:t>
            </a:r>
            <a:r>
              <a:rPr lang="en-US" altLang="zh-CN" sz="1600" b="0" i="0">
                <a:solidFill>
                  <a:srgbClr val="0056B3"/>
                </a:solidFill>
                <a:latin typeface="-apple-system"/>
                <a:ea typeface="-apple-system"/>
              </a:rPr>
              <a:t>(Error)</a:t>
            </a:r>
            <a:r>
              <a:rPr lang="zh-CN" altLang="en-US" sz="1600" b="0" i="0">
                <a:solidFill>
                  <a:srgbClr val="0056B3"/>
                </a:solidFill>
                <a:latin typeface="-apple-system"/>
                <a:ea typeface="-apple-system"/>
              </a:rPr>
              <a:t>进行控制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公式：</a:t>
            </a:r>
            <a:r>
              <a:rPr lang="en-US" altLang="zh-CN" sz="1600" b="1" i="0">
                <a:solidFill>
                  <a:srgbClr val="0056B3"/>
                </a:solidFill>
                <a:latin typeface="-apple-system"/>
                <a:ea typeface="-apple-system"/>
              </a:rPr>
              <a:t>Error = </a:t>
            </a:r>
            <a:r>
              <a:rPr lang="zh-CN" altLang="en-US" sz="1600" b="1" i="0">
                <a:solidFill>
                  <a:srgbClr val="0056B3"/>
                </a:solidFill>
                <a:latin typeface="-apple-system"/>
                <a:ea typeface="-apple-system"/>
              </a:rPr>
              <a:t>期望值 </a:t>
            </a:r>
            <a:r>
              <a:rPr lang="en-US" altLang="zh-CN" sz="1600" b="1" i="0">
                <a:solidFill>
                  <a:srgbClr val="0056B3"/>
                </a:solidFill>
                <a:latin typeface="-apple-system"/>
                <a:ea typeface="-apple-system"/>
              </a:rPr>
              <a:t>(Setpoint) - </a:t>
            </a:r>
            <a:r>
              <a:rPr lang="zh-CN" altLang="en-US" sz="1600" b="1" i="0">
                <a:solidFill>
                  <a:srgbClr val="0056B3"/>
                </a:solidFill>
                <a:latin typeface="-apple-system"/>
                <a:ea typeface="-apple-system"/>
              </a:rPr>
              <a:t>实际值 </a:t>
            </a:r>
            <a:r>
              <a:rPr lang="en-US" altLang="zh-CN" sz="1600" b="1" i="0">
                <a:solidFill>
                  <a:srgbClr val="0056B3"/>
                </a:solidFill>
                <a:latin typeface="-apple-system"/>
                <a:ea typeface="-apple-system"/>
              </a:rPr>
              <a:t>(Actual)</a:t>
            </a:r>
            <a:endParaRPr lang="en-US" altLang="zh-CN" sz="1600" b="1" i="0">
              <a:solidFill>
                <a:srgbClr val="0056B3"/>
              </a:solidFill>
              <a:latin typeface="-apple-system"/>
              <a:ea typeface="-apple-system"/>
            </a:endParaRPr>
          </a:p>
          <a:p>
            <a:pPr marL="0" indent="0" algn="l"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我们的控制器，就像一个时刻紧盯</a:t>
            </a:r>
            <a:r>
              <a:rPr lang="zh-CN" altLang="en-US" sz="1600" b="0" i="0">
                <a:solidFill>
                  <a:srgbClr val="0056B3"/>
                </a:solidFill>
                <a:latin typeface="-apple-system"/>
                <a:ea typeface="-apple-system"/>
              </a:rPr>
              <a:t>“业绩缺口”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（误差）的经理。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2010092"/>
            <a:ext cx="5080000" cy="283781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800"/>
              </a:spcAft>
            </a:pPr>
            <a:r>
              <a:rPr lang="zh-CN" altLang="en-US" sz="3000" b="1" i="0">
                <a:solidFill>
                  <a:srgbClr val="003D7A"/>
                </a:solidFill>
                <a:latin typeface="-apple-system"/>
                <a:ea typeface="-apple-system"/>
              </a:rPr>
              <a:t>一个“简单粗暴”的经理</a:t>
            </a:r>
            <a:endParaRPr lang="zh-CN" altLang="en-US" sz="3000" b="1" i="0">
              <a:solidFill>
                <a:srgbClr val="003D7A"/>
              </a:solidFill>
              <a:latin typeface="-apple-system"/>
              <a:ea typeface="-apple-system"/>
            </a:endParaRPr>
          </a:p>
          <a:p>
            <a:pPr marL="0" indent="0" algn="ctr">
              <a:spcBef>
                <a:spcPts val="1200"/>
              </a:spcBef>
              <a:spcAft>
                <a:spcPts val="900"/>
              </a:spcAft>
            </a:pPr>
            <a:r>
              <a:rPr lang="en-US" altLang="zh-CN" sz="2200" b="1" i="0">
                <a:solidFill>
                  <a:srgbClr val="D9534F"/>
                </a:solidFill>
                <a:latin typeface="-apple-system"/>
                <a:ea typeface="-apple-system"/>
              </a:rPr>
              <a:t>Bang-Bang </a:t>
            </a:r>
            <a:r>
              <a:rPr lang="zh-CN" altLang="en-US" sz="2200" b="1" i="0">
                <a:solidFill>
                  <a:srgbClr val="D9534F"/>
                </a:solidFill>
                <a:latin typeface="-apple-system"/>
                <a:ea typeface="-apple-system"/>
              </a:rPr>
              <a:t>控制 </a:t>
            </a:r>
            <a:r>
              <a:rPr lang="en-US" altLang="zh-CN" sz="2200" b="1" i="0">
                <a:solidFill>
                  <a:srgbClr val="D9534F"/>
                </a:solidFill>
                <a:latin typeface="-apple-system"/>
                <a:ea typeface="-apple-system"/>
              </a:rPr>
              <a:t>(</a:t>
            </a:r>
            <a:r>
              <a:rPr lang="zh-CN" altLang="en-US" sz="2200" b="1" i="0">
                <a:solidFill>
                  <a:srgbClr val="D9534F"/>
                </a:solidFill>
                <a:latin typeface="-apple-system"/>
                <a:ea typeface="-apple-system"/>
              </a:rPr>
              <a:t>开关控制</a:t>
            </a:r>
            <a:r>
              <a:rPr lang="en-US" altLang="zh-CN" sz="2200" b="1" i="0">
                <a:solidFill>
                  <a:srgbClr val="D9534F"/>
                </a:solidFill>
                <a:latin typeface="-apple-system"/>
                <a:ea typeface="-apple-system"/>
              </a:rPr>
              <a:t>)</a:t>
            </a:r>
            <a:endParaRPr lang="en-US" altLang="zh-CN" sz="2200" b="1" i="0">
              <a:solidFill>
                <a:srgbClr val="D9534F"/>
              </a:solidFill>
              <a:latin typeface="-apple-system"/>
              <a:ea typeface="-apple-system"/>
            </a:endParaRPr>
          </a:p>
          <a:p>
            <a:pPr marL="0" indent="0" algn="l"/>
            <a:r>
              <a:rPr lang="zh-CN" altLang="en-US" sz="1600" b="0" i="0">
                <a:solidFill>
                  <a:srgbClr val="0056B3"/>
                </a:solidFill>
                <a:latin typeface="-apple-system"/>
                <a:ea typeface="-apple-system"/>
              </a:rPr>
              <a:t>例子：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控制室温在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26°C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温度低于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26°C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，暖气</a:t>
            </a:r>
            <a:r>
              <a:rPr lang="zh-CN" altLang="en-US" sz="1600" b="0" i="0">
                <a:solidFill>
                  <a:srgbClr val="0056B3"/>
                </a:solidFill>
                <a:latin typeface="-apple-system"/>
                <a:ea typeface="-apple-system"/>
              </a:rPr>
              <a:t>开到最大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温度高于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26°C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，暖气</a:t>
            </a:r>
            <a:r>
              <a:rPr lang="zh-CN" altLang="en-US" sz="1600" b="0" i="0">
                <a:solidFill>
                  <a:srgbClr val="0056B3"/>
                </a:solidFill>
                <a:latin typeface="-apple-system"/>
                <a:ea typeface="-apple-system"/>
              </a:rPr>
              <a:t>完全关闭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ctr">
              <a:spcBef>
                <a:spcPts val="1200"/>
              </a:spcBef>
            </a:pPr>
            <a:r>
              <a:rPr lang="zh-CN" altLang="en-US" b="0" i="0">
                <a:solidFill>
                  <a:srgbClr val="333333"/>
                </a:solidFill>
                <a:latin typeface="-apple-system"/>
                <a:ea typeface="-apple-system"/>
              </a:rPr>
              <a:t>结果：室温像</a:t>
            </a:r>
            <a:r>
              <a:rPr lang="zh-CN" altLang="en-US" b="0" i="0">
                <a:solidFill>
                  <a:srgbClr val="0056B3"/>
                </a:solidFill>
                <a:latin typeface="-apple-system"/>
                <a:ea typeface="-apple-system"/>
              </a:rPr>
              <a:t>过山车</a:t>
            </a:r>
            <a:r>
              <a:rPr lang="zh-CN" altLang="en-US" b="0" i="0">
                <a:solidFill>
                  <a:srgbClr val="333333"/>
                </a:solidFill>
                <a:latin typeface="-apple-system"/>
                <a:ea typeface="-apple-system"/>
              </a:rPr>
              <a:t>一样剧烈波动，永远无法稳定。我们需要一个更聪明的控制器！</a:t>
            </a:r>
            <a:endParaRPr lang="zh-CN" altLang="en-US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1990725"/>
            <a:ext cx="5080000" cy="2876550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800"/>
              </a:spcAft>
            </a:pPr>
            <a:r>
              <a:rPr lang="zh-CN" altLang="en-US" sz="3000" b="1" i="0">
                <a:solidFill>
                  <a:srgbClr val="003D7A"/>
                </a:solidFill>
                <a:latin typeface="-apple-system"/>
                <a:ea typeface="-apple-system"/>
              </a:rPr>
              <a:t>我们需要一个</a:t>
            </a:r>
            <a:r>
              <a:rPr lang="en-US" altLang="zh-CN" sz="3000" b="1" i="0">
                <a:solidFill>
                  <a:srgbClr val="003D7A"/>
                </a:solidFill>
                <a:latin typeface="-apple-system"/>
                <a:ea typeface="-apple-system"/>
              </a:rPr>
              <a:t>...</a:t>
            </a:r>
            <a:endParaRPr lang="en-US" altLang="zh-CN" sz="3000" b="1" i="0">
              <a:solidFill>
                <a:srgbClr val="003D7A"/>
              </a:solidFill>
              <a:latin typeface="-apple-system"/>
              <a:ea typeface="-apple-system"/>
            </a:endParaRPr>
          </a:p>
          <a:p>
            <a:pPr marL="0" indent="0" algn="ctr">
              <a:spcAft>
                <a:spcPts val="1800"/>
              </a:spcAft>
            </a:pPr>
            <a:r>
              <a:rPr lang="zh-CN" altLang="en-US" sz="3700" b="1" i="0">
                <a:solidFill>
                  <a:srgbClr val="5BC0DE"/>
                </a:solidFill>
                <a:latin typeface="-apple-system"/>
                <a:ea typeface="-apple-system"/>
              </a:rPr>
              <a:t>更聪明、更优雅、</a:t>
            </a:r>
            <a:endParaRPr lang="zh-CN" altLang="en-US" sz="3700" b="1" i="0">
              <a:solidFill>
                <a:srgbClr val="5BC0DE"/>
              </a:solidFill>
              <a:latin typeface="-apple-system"/>
              <a:ea typeface="-apple-system"/>
            </a:endParaRPr>
          </a:p>
          <a:p>
            <a:pPr marL="0" indent="0" algn="ctr">
              <a:spcAft>
                <a:spcPts val="1800"/>
              </a:spcAft>
            </a:pPr>
            <a:r>
              <a:rPr lang="zh-CN" altLang="en-US" sz="3700" b="1" i="0">
                <a:solidFill>
                  <a:srgbClr val="5BC0DE"/>
                </a:solidFill>
                <a:latin typeface="-apple-system"/>
                <a:ea typeface="-apple-system"/>
              </a:rPr>
              <a:t>更懂得“分寸”的控制器</a:t>
            </a:r>
            <a:endParaRPr lang="zh-CN" altLang="en-US" sz="3700" b="1" i="0">
              <a:solidFill>
                <a:srgbClr val="5BC0DE"/>
              </a:solidFill>
              <a:latin typeface="-apple-system"/>
              <a:ea typeface="-apple-system"/>
            </a:endParaRPr>
          </a:p>
          <a:p>
            <a:pPr marL="0" indent="0" algn="l"/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它不应该只是简单粗暴地应对，而应该能根据误差的情况，做出细腻、有前瞻性的决策。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669925"/>
            <a:ext cx="5080000" cy="1276350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800"/>
              </a:spcAft>
            </a:pPr>
            <a:r>
              <a:rPr lang="en-US" altLang="zh-CN" sz="3000" b="1" i="0">
                <a:solidFill>
                  <a:srgbClr val="003D7A"/>
                </a:solidFill>
                <a:latin typeface="-apple-system"/>
                <a:ea typeface="-apple-system"/>
              </a:rPr>
              <a:t>PID </a:t>
            </a:r>
            <a:r>
              <a:rPr lang="zh-CN" altLang="en-US" sz="3000" b="1" i="0">
                <a:solidFill>
                  <a:srgbClr val="003D7A"/>
                </a:solidFill>
                <a:latin typeface="-apple-system"/>
                <a:ea typeface="-apple-system"/>
              </a:rPr>
              <a:t>控制器</a:t>
            </a:r>
            <a:endParaRPr lang="zh-CN" altLang="en-US" sz="3000" b="1" i="0">
              <a:solidFill>
                <a:srgbClr val="003D7A"/>
              </a:solidFill>
              <a:latin typeface="-apple-system"/>
              <a:ea typeface="-apple-system"/>
            </a:endParaRPr>
          </a:p>
          <a:p>
            <a:pPr marL="0" indent="0" algn="l"/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控制理论中最经典、应用最广泛的“智慧大脑”。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/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PID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代表了它制定决策时所依赖的三种“智慧”：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15620" y="3072130"/>
            <a:ext cx="4090035" cy="103759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>
              <a:spcBef>
                <a:spcPts val="1200"/>
              </a:spcBef>
              <a:spcAft>
                <a:spcPts val="900"/>
              </a:spcAft>
            </a:pPr>
            <a:r>
              <a:rPr lang="en-US" altLang="zh-CN" sz="2200" b="1" i="0">
                <a:solidFill>
                  <a:srgbClr val="D9534F"/>
                </a:solidFill>
                <a:latin typeface="-apple-system"/>
                <a:ea typeface="-apple-system"/>
              </a:rPr>
              <a:t>P (Proportional) - </a:t>
            </a:r>
            <a:r>
              <a:rPr lang="zh-CN" altLang="en-US" sz="2200" b="1" i="0">
                <a:solidFill>
                  <a:srgbClr val="D9534F"/>
                </a:solidFill>
                <a:latin typeface="-apple-system"/>
                <a:ea typeface="-apple-system"/>
              </a:rPr>
              <a:t>比例</a:t>
            </a:r>
            <a:endParaRPr lang="zh-CN" altLang="en-US" sz="2200" b="1" i="0">
              <a:solidFill>
                <a:srgbClr val="D9534F"/>
              </a:solidFill>
              <a:latin typeface="-apple-system"/>
              <a:ea typeface="-apple-system"/>
            </a:endParaRPr>
          </a:p>
          <a:p>
            <a:pPr marL="0" indent="0" algn="l"/>
            <a:r>
              <a:rPr lang="zh-CN" altLang="en-US" sz="1600" b="0" i="0">
                <a:solidFill>
                  <a:srgbClr val="0056B3"/>
                </a:solidFill>
                <a:latin typeface="-apple-system"/>
                <a:ea typeface="-apple-system"/>
              </a:rPr>
              <a:t>关注“现在”的智慧</a:t>
            </a:r>
            <a:endParaRPr lang="zh-CN" altLang="en-US" sz="1600" b="0" i="0">
              <a:solidFill>
                <a:srgbClr val="0056B3"/>
              </a:solidFill>
              <a:latin typeface="-apple-system"/>
              <a:ea typeface="-apple-system"/>
            </a:endParaRPr>
          </a:p>
          <a:p>
            <a:pPr marL="0" indent="0" algn="l"/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误差有多大？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605655" y="3072130"/>
            <a:ext cx="3394075" cy="103759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>
              <a:spcBef>
                <a:spcPts val="1200"/>
              </a:spcBef>
              <a:spcAft>
                <a:spcPts val="900"/>
              </a:spcAft>
            </a:pPr>
            <a:r>
              <a:rPr lang="en-US" altLang="zh-CN" sz="2200" b="1" i="0">
                <a:solidFill>
                  <a:srgbClr val="5CB85C"/>
                </a:solidFill>
                <a:latin typeface="-apple-system"/>
                <a:ea typeface="-apple-system"/>
              </a:rPr>
              <a:t>I (Integral) - </a:t>
            </a:r>
            <a:r>
              <a:rPr lang="zh-CN" altLang="en-US" sz="2200" b="1" i="0">
                <a:solidFill>
                  <a:srgbClr val="5CB85C"/>
                </a:solidFill>
                <a:latin typeface="-apple-system"/>
                <a:ea typeface="-apple-system"/>
              </a:rPr>
              <a:t>积分</a:t>
            </a:r>
            <a:endParaRPr lang="zh-CN" altLang="en-US" sz="2200" b="1" i="0">
              <a:solidFill>
                <a:srgbClr val="5CB85C"/>
              </a:solidFill>
              <a:latin typeface="-apple-system"/>
              <a:ea typeface="-apple-system"/>
            </a:endParaRPr>
          </a:p>
          <a:p>
            <a:pPr marL="0" indent="0" algn="l"/>
            <a:r>
              <a:rPr lang="zh-CN" altLang="en-US" sz="1600" b="0" i="0">
                <a:solidFill>
                  <a:srgbClr val="0056B3"/>
                </a:solidFill>
                <a:latin typeface="-apple-system"/>
                <a:ea typeface="-apple-system"/>
              </a:rPr>
              <a:t>总结“过去”的智慧</a:t>
            </a:r>
            <a:endParaRPr lang="zh-CN" altLang="en-US" sz="1600" b="0" i="0">
              <a:solidFill>
                <a:srgbClr val="0056B3"/>
              </a:solidFill>
              <a:latin typeface="-apple-system"/>
              <a:ea typeface="-apple-system"/>
            </a:endParaRPr>
          </a:p>
          <a:p>
            <a:pPr marL="0" indent="0" algn="l"/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误差累积了多久？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212455" y="2910205"/>
            <a:ext cx="3746500" cy="103759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>
              <a:spcBef>
                <a:spcPts val="1200"/>
              </a:spcBef>
              <a:spcAft>
                <a:spcPts val="900"/>
              </a:spcAft>
            </a:pPr>
            <a:r>
              <a:rPr lang="en-US" altLang="zh-CN" sz="2200" b="1" i="0">
                <a:solidFill>
                  <a:srgbClr val="F0AD4E"/>
                </a:solidFill>
                <a:latin typeface="-apple-system"/>
                <a:ea typeface="-apple-system"/>
              </a:rPr>
              <a:t>D (Derivative) - </a:t>
            </a:r>
            <a:r>
              <a:rPr lang="zh-CN" altLang="en-US" sz="2200" b="1" i="0">
                <a:solidFill>
                  <a:srgbClr val="F0AD4E"/>
                </a:solidFill>
                <a:latin typeface="-apple-system"/>
                <a:ea typeface="-apple-system"/>
              </a:rPr>
              <a:t>微分</a:t>
            </a:r>
            <a:endParaRPr lang="zh-CN" altLang="en-US" sz="2200" b="1" i="0">
              <a:solidFill>
                <a:srgbClr val="F0AD4E"/>
              </a:solidFill>
              <a:latin typeface="-apple-system"/>
              <a:ea typeface="-apple-system"/>
            </a:endParaRPr>
          </a:p>
          <a:p>
            <a:pPr marL="0" indent="0" algn="l"/>
            <a:r>
              <a:rPr lang="zh-CN" altLang="en-US" sz="1600" b="0" i="0">
                <a:solidFill>
                  <a:srgbClr val="0056B3"/>
                </a:solidFill>
                <a:latin typeface="-apple-system"/>
                <a:ea typeface="-apple-system"/>
              </a:rPr>
              <a:t>预测“未来”的智慧</a:t>
            </a:r>
            <a:endParaRPr lang="zh-CN" altLang="en-US" sz="1600" b="0" i="0">
              <a:solidFill>
                <a:srgbClr val="0056B3"/>
              </a:solidFill>
              <a:latin typeface="-apple-system"/>
              <a:ea typeface="-apple-system"/>
            </a:endParaRPr>
          </a:p>
          <a:p>
            <a:pPr marL="0" indent="0" algn="l"/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误差在如何变化？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778510" y="2385378"/>
            <a:ext cx="5080000" cy="226885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Bef>
                <a:spcPts val="1200"/>
              </a:spcBef>
              <a:spcAft>
                <a:spcPts val="900"/>
              </a:spcAft>
            </a:pPr>
            <a:r>
              <a:rPr lang="zh-CN" altLang="en-US" sz="2200" b="1" i="0">
                <a:solidFill>
                  <a:srgbClr val="D9534F"/>
                </a:solidFill>
                <a:latin typeface="-apple-system"/>
                <a:ea typeface="-apple-system"/>
              </a:rPr>
              <a:t>无人机快递员的精准降落</a:t>
            </a:r>
            <a:endParaRPr lang="zh-CN" altLang="en-US" sz="2200" b="1" i="0">
              <a:solidFill>
                <a:srgbClr val="D9534F"/>
              </a:solidFill>
              <a:latin typeface="-apple-system"/>
              <a:ea typeface="-apple-system"/>
            </a:endParaRPr>
          </a:p>
          <a:p>
            <a:pPr marL="0" indent="0" algn="l"/>
            <a:r>
              <a:rPr lang="zh-CN" altLang="en-US" sz="1600" b="0" i="0">
                <a:solidFill>
                  <a:srgbClr val="0056B3"/>
                </a:solidFill>
                <a:latin typeface="-apple-system"/>
                <a:ea typeface="-apple-system"/>
              </a:rPr>
              <a:t>任务</a:t>
            </a:r>
            <a:r>
              <a:rPr lang="en-US" altLang="zh-CN" sz="1600" b="0" i="0">
                <a:solidFill>
                  <a:srgbClr val="0056B3"/>
                </a:solidFill>
                <a:latin typeface="-apple-system"/>
                <a:ea typeface="-apple-system"/>
              </a:rPr>
              <a:t>:</a:t>
            </a:r>
            <a:endParaRPr lang="en-US" altLang="zh-CN" sz="1600" b="0" i="0">
              <a:solidFill>
                <a:srgbClr val="0056B3"/>
              </a:solidFill>
              <a:latin typeface="-apple-system"/>
              <a:ea typeface="-apple-system"/>
            </a:endParaRPr>
          </a:p>
          <a:p>
            <a:pPr marL="0" indent="0" algn="l"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一架无人机从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100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米高空出发。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0056B3"/>
                </a:solidFill>
                <a:latin typeface="-apple-system"/>
                <a:ea typeface="-apple-system"/>
              </a:rPr>
              <a:t>目标</a:t>
            </a:r>
            <a:r>
              <a:rPr lang="en-US" altLang="zh-CN" sz="1600" b="0" i="0">
                <a:solidFill>
                  <a:srgbClr val="0056B3"/>
                </a:solidFill>
                <a:latin typeface="-apple-system"/>
                <a:ea typeface="-apple-system"/>
              </a:rPr>
              <a:t>(Setpoint):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在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50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米高的平台上实现精准、平稳地悬停。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/>
            <a:r>
              <a:rPr lang="zh-CN" altLang="en-US" sz="1600" b="0" i="0">
                <a:solidFill>
                  <a:srgbClr val="0056B3"/>
                </a:solidFill>
                <a:latin typeface="-apple-system"/>
                <a:ea typeface="-apple-system"/>
              </a:rPr>
              <a:t>关键变量</a:t>
            </a:r>
            <a:r>
              <a:rPr lang="en-US" altLang="zh-CN" sz="1600" b="0" i="0">
                <a:solidFill>
                  <a:srgbClr val="0056B3"/>
                </a:solidFill>
                <a:latin typeface="-apple-system"/>
                <a:ea typeface="-apple-system"/>
              </a:rPr>
              <a:t>:</a:t>
            </a:r>
            <a:endParaRPr lang="en-US" altLang="zh-CN" sz="1600" b="0" i="0">
              <a:solidFill>
                <a:srgbClr val="0056B3"/>
              </a:solidFill>
              <a:latin typeface="-apple-system"/>
              <a:ea typeface="-apple-system"/>
            </a:endParaRPr>
          </a:p>
          <a:p>
            <a:pPr marL="0" indent="0" algn="l">
              <a:buFont typeface="Arial" panose="020B0604020202020204"/>
              <a:buChar char="•"/>
            </a:pPr>
            <a:r>
              <a:rPr lang="zh-CN" altLang="en-US" sz="1600" b="1" i="0">
                <a:solidFill>
                  <a:srgbClr val="0056B3"/>
                </a:solidFill>
                <a:latin typeface="-apple-system"/>
                <a:ea typeface="-apple-system"/>
              </a:rPr>
              <a:t>误差</a:t>
            </a:r>
            <a:r>
              <a:rPr lang="en-US" altLang="zh-CN" sz="1600" b="1" i="0">
                <a:solidFill>
                  <a:srgbClr val="0056B3"/>
                </a:solidFill>
                <a:latin typeface="-apple-system"/>
                <a:ea typeface="-apple-system"/>
              </a:rPr>
              <a:t>(Error)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 = 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目标高度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(50m) - 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当前高度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0056B3"/>
                </a:solidFill>
                <a:latin typeface="-apple-system"/>
                <a:ea typeface="-apple-system"/>
              </a:rPr>
              <a:t>控制输出</a:t>
            </a:r>
            <a:r>
              <a:rPr lang="en-US" altLang="zh-CN" sz="1600" b="0" i="0">
                <a:solidFill>
                  <a:srgbClr val="0056B3"/>
                </a:solidFill>
                <a:latin typeface="-apple-system"/>
                <a:ea typeface="-apple-system"/>
              </a:rPr>
              <a:t>(Output)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 = 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螺旋桨转速 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(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调节升力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)</a:t>
            </a:r>
            <a:endParaRPr lang="en-US" altLang="zh-CN" sz="16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2730" y="1188085"/>
            <a:ext cx="512826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3556000" y="866458"/>
            <a:ext cx="5080000" cy="95313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800"/>
              </a:spcAft>
            </a:pPr>
            <a:r>
              <a:rPr lang="en-US" altLang="zh-CN" sz="2800" b="1" i="0">
                <a:solidFill>
                  <a:srgbClr val="D9534F"/>
                </a:solidFill>
                <a:latin typeface="-apple-system"/>
                <a:ea typeface="-apple-system"/>
              </a:rPr>
              <a:t>P</a:t>
            </a:r>
            <a:r>
              <a:rPr lang="zh-CN" altLang="en-US" sz="2800" b="1" i="0">
                <a:solidFill>
                  <a:srgbClr val="D9534F"/>
                </a:solidFill>
                <a:latin typeface="-apple-system"/>
                <a:ea typeface="-apple-system"/>
              </a:rPr>
              <a:t>顾问 </a:t>
            </a:r>
            <a:r>
              <a:rPr lang="en-US" altLang="zh-CN" sz="2800" b="1" i="0">
                <a:solidFill>
                  <a:srgbClr val="D9534F"/>
                </a:solidFill>
                <a:latin typeface="-apple-system"/>
                <a:ea typeface="-apple-system"/>
              </a:rPr>
              <a:t>(</a:t>
            </a:r>
            <a:r>
              <a:rPr lang="zh-CN" altLang="en-US" sz="2800" b="1" i="0">
                <a:solidFill>
                  <a:srgbClr val="D9534F"/>
                </a:solidFill>
                <a:latin typeface="-apple-system"/>
                <a:ea typeface="-apple-system"/>
              </a:rPr>
              <a:t>比例</a:t>
            </a:r>
            <a:r>
              <a:rPr lang="en-US" altLang="zh-CN" sz="2800" b="1" i="0">
                <a:solidFill>
                  <a:srgbClr val="D9534F"/>
                </a:solidFill>
                <a:latin typeface="-apple-system"/>
                <a:ea typeface="-apple-system"/>
              </a:rPr>
              <a:t>)</a:t>
            </a:r>
            <a:r>
              <a:rPr lang="zh-CN" altLang="en-US" sz="2800" b="1" i="0">
                <a:solidFill>
                  <a:srgbClr val="003D7A"/>
                </a:solidFill>
                <a:latin typeface="-apple-system"/>
                <a:ea typeface="-apple-system"/>
              </a:rPr>
              <a:t>：简单直接的行动派</a:t>
            </a:r>
            <a:endParaRPr lang="zh-CN" altLang="en-US" sz="2800" b="1" i="0">
              <a:solidFill>
                <a:srgbClr val="003D7A"/>
              </a:solidFill>
              <a:latin typeface="-apple-system"/>
              <a:ea typeface="-apple-system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95095" y="2785110"/>
            <a:ext cx="3545205" cy="13531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/>
            <a:r>
              <a:rPr lang="zh-CN" altLang="en-US" sz="1600" b="0" i="0">
                <a:solidFill>
                  <a:srgbClr val="0056B3"/>
                </a:solidFill>
                <a:latin typeface="-apple-system"/>
                <a:ea typeface="-apple-system"/>
              </a:rPr>
              <a:t>性格</a:t>
            </a:r>
            <a:r>
              <a:rPr lang="en-US" altLang="zh-CN" sz="1600" b="0" i="0">
                <a:solidFill>
                  <a:srgbClr val="0056B3"/>
                </a:solidFill>
                <a:latin typeface="-apple-system"/>
                <a:ea typeface="-apple-system"/>
              </a:rPr>
              <a:t>: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急性子，行动力极强。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/>
            <a:r>
              <a:rPr lang="zh-CN" altLang="en-US" sz="1600" b="0" i="0">
                <a:solidFill>
                  <a:srgbClr val="0056B3"/>
                </a:solidFill>
                <a:latin typeface="-apple-system"/>
                <a:ea typeface="-apple-system"/>
              </a:rPr>
              <a:t>决策逻辑</a:t>
            </a:r>
            <a:r>
              <a:rPr lang="en-US" altLang="zh-CN" sz="1600" b="0" i="0">
                <a:solidFill>
                  <a:srgbClr val="0056B3"/>
                </a:solidFill>
                <a:latin typeface="-apple-system"/>
                <a:ea typeface="-apple-system"/>
              </a:rPr>
              <a:t>:</a:t>
            </a:r>
            <a:endParaRPr lang="en-US" altLang="zh-CN" sz="1600" b="0" i="0">
              <a:solidFill>
                <a:srgbClr val="0056B3"/>
              </a:solidFill>
              <a:latin typeface="-apple-system"/>
              <a:ea typeface="-apple-system"/>
            </a:endParaRPr>
          </a:p>
          <a:p>
            <a:pPr marL="0" indent="0" algn="ctr"/>
            <a:r>
              <a:rPr lang="zh-CN" altLang="en-US" b="0" i="0">
                <a:solidFill>
                  <a:srgbClr val="333333"/>
                </a:solidFill>
                <a:latin typeface="-apple-system"/>
                <a:ea typeface="-apple-system"/>
              </a:rPr>
              <a:t>输出 </a:t>
            </a:r>
            <a:r>
              <a:rPr lang="en-US" altLang="zh-CN" b="0" i="0">
                <a:solidFill>
                  <a:srgbClr val="333333"/>
                </a:solidFill>
                <a:latin typeface="-apple-system"/>
                <a:ea typeface="-apple-system"/>
              </a:rPr>
              <a:t>= </a:t>
            </a:r>
            <a:r>
              <a:rPr lang="en-US" altLang="zh-CN" b="1" i="0">
                <a:solidFill>
                  <a:srgbClr val="D9534F"/>
                </a:solidFill>
                <a:latin typeface="-apple-system"/>
                <a:ea typeface="-apple-system"/>
              </a:rPr>
              <a:t>Kp</a:t>
            </a:r>
            <a:r>
              <a:rPr lang="en-US" altLang="zh-CN" b="0" i="0">
                <a:solidFill>
                  <a:srgbClr val="333333"/>
                </a:solidFill>
                <a:latin typeface="-apple-system"/>
                <a:ea typeface="-apple-system"/>
              </a:rPr>
              <a:t> * </a:t>
            </a:r>
            <a:r>
              <a:rPr lang="en-US" altLang="zh-CN" b="1" i="0">
                <a:solidFill>
                  <a:srgbClr val="0056B3"/>
                </a:solidFill>
                <a:latin typeface="-apple-system"/>
                <a:ea typeface="-apple-system"/>
              </a:rPr>
              <a:t>Error</a:t>
            </a:r>
            <a:endParaRPr lang="en-US" altLang="zh-CN" b="1" i="0">
              <a:solidFill>
                <a:srgbClr val="0056B3"/>
              </a:solidFill>
              <a:latin typeface="-apple-system"/>
              <a:ea typeface="-apple-system"/>
            </a:endParaRPr>
          </a:p>
          <a:p>
            <a:pPr marL="0" indent="0" algn="l"/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(Kp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是比例系数，代表他的“暴脾气”程度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)</a:t>
            </a:r>
            <a:endParaRPr lang="en-US" altLang="zh-CN" sz="16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96000" y="2445385"/>
            <a:ext cx="5080000" cy="1814830"/>
          </a:xfrm>
          <a:prstGeom prst="rect">
            <a:avLst/>
          </a:prstGeom>
        </p:spPr>
        <p:txBody>
          <a:bodyPr>
            <a:spAutoFit/>
          </a:bodyPr>
          <a:p>
            <a:pPr marL="0" indent="0" algn="l"/>
            <a:r>
              <a:rPr lang="zh-CN" altLang="en-US" sz="1600" b="0" i="0">
                <a:solidFill>
                  <a:srgbClr val="0056B3"/>
                </a:solidFill>
                <a:latin typeface="-apple-system"/>
                <a:ea typeface="-apple-system"/>
              </a:rPr>
              <a:t>在无人机场景中的表现</a:t>
            </a:r>
            <a:r>
              <a:rPr lang="en-US" altLang="zh-CN" sz="1600" b="0" i="0">
                <a:solidFill>
                  <a:srgbClr val="0056B3"/>
                </a:solidFill>
                <a:latin typeface="-apple-system"/>
                <a:ea typeface="-apple-system"/>
              </a:rPr>
              <a:t>:</a:t>
            </a:r>
            <a:endParaRPr lang="en-US" altLang="zh-CN" sz="1600" b="0" i="0">
              <a:solidFill>
                <a:srgbClr val="0056B3"/>
              </a:solidFill>
              <a:latin typeface="-apple-system"/>
              <a:ea typeface="-apple-system"/>
            </a:endParaRPr>
          </a:p>
          <a:p>
            <a:pPr marL="0" indent="0" algn="l">
              <a:buFont typeface="Arial" panose="020B0604020202020204"/>
              <a:buChar char="•"/>
            </a:pPr>
            <a:r>
              <a:rPr lang="en-US" altLang="zh-CN" sz="1600" b="0" i="0">
                <a:solidFill>
                  <a:srgbClr val="0056B3"/>
                </a:solidFill>
                <a:latin typeface="-apple-system"/>
                <a:ea typeface="-apple-system"/>
              </a:rPr>
              <a:t>100m</a:t>
            </a:r>
            <a:r>
              <a:rPr lang="zh-CN" altLang="en-US" sz="1600" b="0" i="0">
                <a:solidFill>
                  <a:srgbClr val="0056B3"/>
                </a:solidFill>
                <a:latin typeface="-apple-system"/>
                <a:ea typeface="-apple-system"/>
              </a:rPr>
              <a:t>高空 </a:t>
            </a:r>
            <a:r>
              <a:rPr lang="en-US" altLang="zh-CN" sz="1600" b="0" i="0">
                <a:solidFill>
                  <a:srgbClr val="0056B3"/>
                </a:solidFill>
                <a:latin typeface="-apple-system"/>
                <a:ea typeface="-apple-system"/>
              </a:rPr>
              <a:t>(Error = -50m):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 P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顾问大喊：“反向误差巨大，快减小升力，全速下降！”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buFont typeface="Arial" panose="020B0604020202020204"/>
              <a:buChar char="•"/>
            </a:pPr>
            <a:r>
              <a:rPr lang="en-US" altLang="zh-CN" sz="1600" b="0" i="0">
                <a:solidFill>
                  <a:srgbClr val="0056B3"/>
                </a:solidFill>
                <a:latin typeface="-apple-system"/>
                <a:ea typeface="-apple-system"/>
              </a:rPr>
              <a:t>60m</a:t>
            </a:r>
            <a:r>
              <a:rPr lang="zh-CN" altLang="en-US" sz="1600" b="0" i="0">
                <a:solidFill>
                  <a:srgbClr val="0056B3"/>
                </a:solidFill>
                <a:latin typeface="-apple-system"/>
                <a:ea typeface="-apple-system"/>
              </a:rPr>
              <a:t>高空 </a:t>
            </a:r>
            <a:r>
              <a:rPr lang="en-US" altLang="zh-CN" sz="1600" b="0" i="0">
                <a:solidFill>
                  <a:srgbClr val="0056B3"/>
                </a:solidFill>
                <a:latin typeface="-apple-system"/>
                <a:ea typeface="-apple-system"/>
              </a:rPr>
              <a:t>(Error = -10m):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 P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顾问说：“误差小多了，下降力度也减小一点。”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0056B3"/>
                </a:solidFill>
                <a:latin typeface="-apple-system"/>
                <a:ea typeface="-apple-system"/>
              </a:rPr>
              <a:t>到达</a:t>
            </a:r>
            <a:r>
              <a:rPr lang="en-US" altLang="zh-CN" sz="1600" b="0" i="0">
                <a:solidFill>
                  <a:srgbClr val="0056B3"/>
                </a:solidFill>
                <a:latin typeface="-apple-system"/>
                <a:ea typeface="-apple-system"/>
              </a:rPr>
              <a:t>50m (Error = 0):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 P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顾问说：“没有误差了，停止下降！”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1270635"/>
            <a:ext cx="5080000" cy="2868930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800"/>
              </a:spcAft>
            </a:pPr>
            <a:r>
              <a:rPr lang="en-US" altLang="zh-CN" sz="3000" b="1" i="0">
                <a:solidFill>
                  <a:srgbClr val="003D7A"/>
                </a:solidFill>
                <a:latin typeface="-apple-system"/>
                <a:ea typeface="-apple-system"/>
              </a:rPr>
              <a:t>P</a:t>
            </a:r>
            <a:r>
              <a:rPr lang="zh-CN" altLang="en-US" sz="3000" b="1" i="0">
                <a:solidFill>
                  <a:srgbClr val="003D7A"/>
                </a:solidFill>
                <a:latin typeface="-apple-system"/>
                <a:ea typeface="-apple-system"/>
              </a:rPr>
              <a:t>控制的致命缺陷：</a:t>
            </a:r>
            <a:r>
              <a:rPr lang="zh-CN" altLang="en-US" sz="3000" b="1" i="0">
                <a:solidFill>
                  <a:srgbClr val="D9534F"/>
                </a:solidFill>
                <a:latin typeface="-apple-system"/>
                <a:ea typeface="-apple-system"/>
              </a:rPr>
              <a:t>稳态误差</a:t>
            </a:r>
            <a:endParaRPr lang="zh-CN" altLang="en-US" sz="3000" b="1" i="0">
              <a:solidFill>
                <a:srgbClr val="D9534F"/>
              </a:solidFill>
              <a:latin typeface="-apple-system"/>
              <a:ea typeface="-apple-system"/>
            </a:endParaRPr>
          </a:p>
          <a:p>
            <a:pPr marL="0" indent="0" algn="ctr">
              <a:spcBef>
                <a:spcPts val="1200"/>
              </a:spcBef>
              <a:spcAft>
                <a:spcPts val="900"/>
              </a:spcAft>
            </a:pPr>
            <a:r>
              <a:rPr lang="zh-CN" altLang="en-US" sz="2200" b="1" i="0">
                <a:solidFill>
                  <a:srgbClr val="D9534F"/>
                </a:solidFill>
                <a:latin typeface="-apple-system"/>
                <a:ea typeface="-apple-system"/>
              </a:rPr>
              <a:t>思想实验：悬停的悖论</a:t>
            </a:r>
            <a:endParaRPr lang="zh-CN" altLang="en-US" sz="2200" b="1" i="0">
              <a:solidFill>
                <a:srgbClr val="D9534F"/>
              </a:solidFill>
              <a:latin typeface="-apple-system"/>
              <a:ea typeface="-apple-system"/>
            </a:endParaRPr>
          </a:p>
          <a:p>
            <a:pPr marL="0" indent="0" algn="l"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要悬停在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50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米，无人机需要一个</a:t>
            </a:r>
            <a:r>
              <a:rPr lang="zh-CN" altLang="en-US" sz="1600" b="0" i="0">
                <a:solidFill>
                  <a:srgbClr val="0056B3"/>
                </a:solidFill>
                <a:latin typeface="-apple-system"/>
                <a:ea typeface="-apple-system"/>
              </a:rPr>
              <a:t>基础升力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来抵消自身的</a:t>
            </a:r>
            <a:r>
              <a:rPr lang="zh-CN" altLang="en-US" sz="1600" b="0" i="0">
                <a:solidFill>
                  <a:srgbClr val="0056B3"/>
                </a:solidFill>
                <a:latin typeface="-apple-system"/>
                <a:ea typeface="-apple-system"/>
              </a:rPr>
              <a:t>重力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当无人机真的到达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50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米时，</a:t>
            </a:r>
            <a:r>
              <a:rPr lang="en-US" altLang="zh-CN" sz="1600" b="1" i="0">
                <a:solidFill>
                  <a:srgbClr val="0056B3"/>
                </a:solidFill>
                <a:latin typeface="-apple-system"/>
                <a:ea typeface="-apple-system"/>
              </a:rPr>
              <a:t>Error = 0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根据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P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的逻辑，输出 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= Kp * 0 = </a:t>
            </a:r>
            <a:r>
              <a:rPr lang="en-US" altLang="zh-CN" sz="1600" b="0" i="0">
                <a:solidFill>
                  <a:srgbClr val="0056B3"/>
                </a:solidFill>
                <a:latin typeface="-apple-system"/>
                <a:ea typeface="-apple-system"/>
              </a:rPr>
              <a:t>0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！它会输出零升力！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无人机就会往下掉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...</a:t>
            </a:r>
            <a:endParaRPr lang="en-US" altLang="zh-CN" sz="16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655060" y="4429125"/>
            <a:ext cx="5080000" cy="1322070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Bef>
                <a:spcPts val="1200"/>
              </a:spcBef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最终，它会稳定在一个略低于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50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米的位置（比如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48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米），此时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P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产生的升力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(Kp * 2) 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恰好等于重力。系统达到了一个新的、</a:t>
            </a:r>
            <a:r>
              <a:rPr lang="zh-CN" altLang="en-US" sz="1600" b="0" i="0">
                <a:solidFill>
                  <a:srgbClr val="0056B3"/>
                </a:solidFill>
                <a:latin typeface="-apple-system"/>
                <a:ea typeface="-apple-system"/>
              </a:rPr>
              <a:t>有误差的平衡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ctr">
              <a:spcBef>
                <a:spcPts val="1200"/>
              </a:spcBef>
              <a:spcAft>
                <a:spcPts val="900"/>
              </a:spcAft>
            </a:pPr>
            <a:r>
              <a:rPr lang="en-US" altLang="zh-CN" sz="2200" b="1" i="0">
                <a:solidFill>
                  <a:srgbClr val="D9534F"/>
                </a:solidFill>
                <a:latin typeface="-apple-system"/>
                <a:ea typeface="-apple-system"/>
              </a:rPr>
              <a:t>P</a:t>
            </a:r>
            <a:r>
              <a:rPr lang="zh-CN" altLang="en-US" sz="2200" b="1" i="0">
                <a:solidFill>
                  <a:srgbClr val="D9534F"/>
                </a:solidFill>
                <a:latin typeface="-apple-system"/>
                <a:ea typeface="-apple-system"/>
              </a:rPr>
              <a:t>的特点：“差小力微”</a:t>
            </a:r>
            <a:endParaRPr lang="zh-CN" altLang="en-US" sz="2200" b="1" i="0">
              <a:solidFill>
                <a:srgbClr val="D9534F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138588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800"/>
              </a:spcAft>
            </a:pPr>
            <a:r>
              <a:rPr lang="en-US" altLang="zh-CN" sz="1600" b="1" i="0">
                <a:solidFill>
                  <a:srgbClr val="5CB85C"/>
                </a:solidFill>
                <a:latin typeface="-apple-system"/>
                <a:ea typeface="-apple-system"/>
              </a:rPr>
              <a:t>I</a:t>
            </a:r>
            <a:r>
              <a:rPr lang="zh-CN" altLang="en-US" sz="1600" b="1" i="0">
                <a:solidFill>
                  <a:srgbClr val="5CB85C"/>
                </a:solidFill>
                <a:latin typeface="-apple-system"/>
                <a:ea typeface="-apple-system"/>
              </a:rPr>
              <a:t>顾问 </a:t>
            </a:r>
            <a:r>
              <a:rPr lang="en-US" altLang="zh-CN" sz="1600" b="1" i="0">
                <a:solidFill>
                  <a:srgbClr val="5CB85C"/>
                </a:solidFill>
                <a:latin typeface="-apple-system"/>
                <a:ea typeface="-apple-system"/>
              </a:rPr>
              <a:t>(</a:t>
            </a:r>
            <a:r>
              <a:rPr lang="zh-CN" altLang="en-US" sz="1600" b="1" i="0">
                <a:solidFill>
                  <a:srgbClr val="5CB85C"/>
                </a:solidFill>
                <a:latin typeface="-apple-system"/>
                <a:ea typeface="-apple-system"/>
              </a:rPr>
              <a:t>积分</a:t>
            </a:r>
            <a:r>
              <a:rPr lang="en-US" altLang="zh-CN" sz="1600" b="1" i="0">
                <a:solidFill>
                  <a:srgbClr val="5CB85C"/>
                </a:solidFill>
                <a:latin typeface="-apple-system"/>
                <a:ea typeface="-apple-system"/>
              </a:rPr>
              <a:t>)</a:t>
            </a:r>
            <a:r>
              <a:rPr lang="zh-CN" altLang="en-US" sz="1600" b="1" i="0">
                <a:solidFill>
                  <a:srgbClr val="003D7A"/>
                </a:solidFill>
                <a:latin typeface="-apple-system"/>
                <a:ea typeface="-apple-system"/>
              </a:rPr>
              <a:t>：执着于历史的“老会计”</a:t>
            </a:r>
            <a:endParaRPr lang="zh-CN" altLang="en-US" sz="1600" b="1" i="0">
              <a:solidFill>
                <a:srgbClr val="003D7A"/>
              </a:solidFill>
              <a:latin typeface="-apple-system"/>
              <a:ea typeface="-apple-system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635760" y="2822575"/>
            <a:ext cx="4165600" cy="110680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/>
            <a:r>
              <a:rPr lang="zh-CN" altLang="en-US" sz="1600" b="0" i="0">
                <a:solidFill>
                  <a:srgbClr val="0056B3"/>
                </a:solidFill>
                <a:latin typeface="-apple-system"/>
                <a:ea typeface="-apple-system"/>
              </a:rPr>
              <a:t>性格</a:t>
            </a:r>
            <a:r>
              <a:rPr lang="en-US" altLang="zh-CN" sz="1600" b="0" i="0">
                <a:solidFill>
                  <a:srgbClr val="0056B3"/>
                </a:solidFill>
                <a:latin typeface="-apple-system"/>
                <a:ea typeface="-apple-system"/>
              </a:rPr>
              <a:t>: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极有耐心，爱“翻旧账”。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/>
            <a:r>
              <a:rPr lang="zh-CN" altLang="en-US" sz="1600" b="0" i="0">
                <a:solidFill>
                  <a:srgbClr val="0056B3"/>
                </a:solidFill>
                <a:latin typeface="-apple-system"/>
                <a:ea typeface="-apple-system"/>
              </a:rPr>
              <a:t>决策逻辑</a:t>
            </a:r>
            <a:r>
              <a:rPr lang="en-US" altLang="zh-CN" sz="1600" b="0" i="0">
                <a:solidFill>
                  <a:srgbClr val="0056B3"/>
                </a:solidFill>
                <a:latin typeface="-apple-system"/>
                <a:ea typeface="-apple-system"/>
              </a:rPr>
              <a:t>:</a:t>
            </a:r>
            <a:endParaRPr lang="en-US" altLang="zh-CN" sz="1600" b="0" i="0">
              <a:solidFill>
                <a:srgbClr val="0056B3"/>
              </a:solidFill>
              <a:latin typeface="-apple-system"/>
              <a:ea typeface="-apple-system"/>
            </a:endParaRPr>
          </a:p>
          <a:p>
            <a:pPr marL="0" indent="0" algn="ctr"/>
            <a:r>
              <a:rPr lang="zh-CN" altLang="en-US" b="0" i="0">
                <a:solidFill>
                  <a:srgbClr val="333333"/>
                </a:solidFill>
                <a:latin typeface="-apple-system"/>
                <a:ea typeface="-apple-system"/>
              </a:rPr>
              <a:t>输出 </a:t>
            </a:r>
            <a:r>
              <a:rPr lang="en-US" altLang="zh-CN" b="0" i="0">
                <a:solidFill>
                  <a:srgbClr val="333333"/>
                </a:solidFill>
                <a:latin typeface="-apple-system"/>
                <a:ea typeface="-apple-system"/>
              </a:rPr>
              <a:t>= </a:t>
            </a:r>
            <a:r>
              <a:rPr lang="en-US" altLang="zh-CN" b="1" i="0">
                <a:solidFill>
                  <a:srgbClr val="5CB85C"/>
                </a:solidFill>
                <a:latin typeface="-apple-system"/>
                <a:ea typeface="-apple-system"/>
              </a:rPr>
              <a:t>Ki</a:t>
            </a:r>
            <a:r>
              <a:rPr lang="en-US" altLang="zh-CN" b="0" i="0">
                <a:solidFill>
                  <a:srgbClr val="333333"/>
                </a:solidFill>
                <a:latin typeface="-apple-system"/>
                <a:ea typeface="-apple-system"/>
              </a:rPr>
              <a:t> * ∫ </a:t>
            </a:r>
            <a:r>
              <a:rPr lang="en-US" altLang="zh-CN" b="1" i="0">
                <a:solidFill>
                  <a:srgbClr val="0056B3"/>
                </a:solidFill>
                <a:latin typeface="-apple-system"/>
                <a:ea typeface="-apple-system"/>
              </a:rPr>
              <a:t>Error</a:t>
            </a:r>
            <a:r>
              <a:rPr lang="en-US" altLang="zh-CN" b="0" i="0">
                <a:solidFill>
                  <a:srgbClr val="333333"/>
                </a:solidFill>
                <a:latin typeface="-apple-system"/>
                <a:ea typeface="-apple-system"/>
              </a:rPr>
              <a:t> dt</a:t>
            </a:r>
            <a:endParaRPr lang="en-US" altLang="zh-CN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/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(Ki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是积分系数，代表他的“执着”程度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)</a:t>
            </a:r>
            <a:endParaRPr lang="en-US" altLang="zh-CN" sz="16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76340" y="2345055"/>
            <a:ext cx="5080000" cy="2061210"/>
          </a:xfrm>
          <a:prstGeom prst="rect">
            <a:avLst/>
          </a:prstGeom>
        </p:spPr>
        <p:txBody>
          <a:bodyPr>
            <a:spAutoFit/>
          </a:bodyPr>
          <a:p>
            <a:pPr marL="0" indent="0" algn="l"/>
            <a:r>
              <a:rPr lang="zh-CN" altLang="en-US" sz="1600" b="0" i="0">
                <a:solidFill>
                  <a:srgbClr val="0056B3"/>
                </a:solidFill>
                <a:latin typeface="-apple-system"/>
                <a:ea typeface="-apple-system"/>
              </a:rPr>
              <a:t>作用 </a:t>
            </a:r>
            <a:r>
              <a:rPr lang="en-US" altLang="zh-CN" sz="1600" b="0" i="0">
                <a:solidFill>
                  <a:srgbClr val="0056B3"/>
                </a:solidFill>
                <a:latin typeface="-apple-system"/>
                <a:ea typeface="-apple-system"/>
              </a:rPr>
              <a:t>(</a:t>
            </a:r>
            <a:r>
              <a:rPr lang="zh-CN" altLang="en-US" sz="1600" b="0" i="0">
                <a:solidFill>
                  <a:srgbClr val="0056B3"/>
                </a:solidFill>
                <a:latin typeface="-apple-system"/>
                <a:ea typeface="-apple-system"/>
              </a:rPr>
              <a:t>与</a:t>
            </a:r>
            <a:r>
              <a:rPr lang="en-US" altLang="zh-CN" sz="1600" b="0" i="0">
                <a:solidFill>
                  <a:srgbClr val="0056B3"/>
                </a:solidFill>
                <a:latin typeface="-apple-system"/>
                <a:ea typeface="-apple-system"/>
              </a:rPr>
              <a:t>P</a:t>
            </a:r>
            <a:r>
              <a:rPr lang="zh-CN" altLang="en-US" sz="1600" b="0" i="0">
                <a:solidFill>
                  <a:srgbClr val="0056B3"/>
                </a:solidFill>
                <a:latin typeface="-apple-system"/>
                <a:ea typeface="-apple-system"/>
              </a:rPr>
              <a:t>协同工作</a:t>
            </a:r>
            <a:r>
              <a:rPr lang="en-US" altLang="zh-CN" sz="1600" b="0" i="0">
                <a:solidFill>
                  <a:srgbClr val="0056B3"/>
                </a:solidFill>
                <a:latin typeface="-apple-system"/>
                <a:ea typeface="-apple-system"/>
              </a:rPr>
              <a:t>):</a:t>
            </a:r>
            <a:endParaRPr lang="en-US" altLang="zh-CN" sz="1600" b="0" i="0">
              <a:solidFill>
                <a:srgbClr val="0056B3"/>
              </a:solidFill>
              <a:latin typeface="-apple-system"/>
              <a:ea typeface="-apple-system"/>
            </a:endParaRPr>
          </a:p>
          <a:p>
            <a:pPr marL="0" indent="0" algn="l"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无人机稳定在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48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米，存在持续的</a:t>
            </a:r>
            <a:r>
              <a:rPr lang="en-US" altLang="zh-CN" sz="1600" b="0" i="0">
                <a:solidFill>
                  <a:srgbClr val="0056B3"/>
                </a:solidFill>
                <a:latin typeface="-apple-system"/>
                <a:ea typeface="-apple-system"/>
              </a:rPr>
              <a:t>2m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误差。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buFont typeface="Arial" panose="020B0604020202020204"/>
              <a:buChar char="•"/>
            </a:pP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I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顾问拿出账本开始记录：第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1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秒，误差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2m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；第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2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秒，误差还是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2m... </a:t>
            </a:r>
            <a:r>
              <a:rPr lang="zh-CN" altLang="en-US" sz="1600" b="0" i="0">
                <a:solidFill>
                  <a:srgbClr val="0056B3"/>
                </a:solidFill>
                <a:latin typeface="-apple-system"/>
                <a:ea typeface="-apple-system"/>
              </a:rPr>
              <a:t>累积的总误差越来越大！</a:t>
            </a:r>
            <a:endParaRPr lang="zh-CN" altLang="en-US" sz="1600" b="0" i="0">
              <a:solidFill>
                <a:srgbClr val="0056B3"/>
              </a:solidFill>
              <a:latin typeface="-apple-system"/>
              <a:ea typeface="-apple-system"/>
            </a:endParaRPr>
          </a:p>
          <a:p>
            <a:pPr marL="0" indent="0" algn="l"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随着累积误差增长，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I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顾问输出的力也越来越大，这个力被叠加到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P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的输出上。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只要误差还存在，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I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顾问就</a:t>
            </a:r>
            <a:r>
              <a:rPr lang="zh-CN" altLang="en-US" sz="1600" b="0" i="0">
                <a:solidFill>
                  <a:srgbClr val="0056B3"/>
                </a:solidFill>
                <a:latin typeface="-apple-system"/>
                <a:ea typeface="-apple-system"/>
              </a:rPr>
              <a:t>不依不饶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，直到把无人机精准推回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50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米，误差彻底为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0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！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1243648"/>
            <a:ext cx="5080000" cy="213042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800"/>
              </a:spcAft>
            </a:pPr>
            <a:r>
              <a:rPr lang="en-US" altLang="zh-CN" sz="3000" b="1" i="0">
                <a:solidFill>
                  <a:srgbClr val="003D7A"/>
                </a:solidFill>
                <a:latin typeface="-apple-system"/>
                <a:ea typeface="-apple-system"/>
              </a:rPr>
              <a:t>I</a:t>
            </a:r>
            <a:r>
              <a:rPr lang="zh-CN" altLang="en-US" sz="3000" b="1" i="0">
                <a:solidFill>
                  <a:srgbClr val="003D7A"/>
                </a:solidFill>
                <a:latin typeface="-apple-system"/>
                <a:ea typeface="-apple-system"/>
              </a:rPr>
              <a:t>控制的优点与缺点</a:t>
            </a:r>
            <a:endParaRPr lang="zh-CN" altLang="en-US" sz="3000" b="1" i="0">
              <a:solidFill>
                <a:srgbClr val="003D7A"/>
              </a:solidFill>
              <a:latin typeface="-apple-system"/>
              <a:ea typeface="-apple-system"/>
            </a:endParaRPr>
          </a:p>
          <a:p>
            <a:pPr marL="0" indent="0" algn="ctr">
              <a:spcBef>
                <a:spcPts val="1200"/>
              </a:spcBef>
              <a:spcAft>
                <a:spcPts val="900"/>
              </a:spcAft>
            </a:pPr>
            <a:r>
              <a:rPr lang="zh-CN" altLang="en-US" sz="2200" b="1" i="0">
                <a:solidFill>
                  <a:srgbClr val="D9534F"/>
                </a:solidFill>
                <a:latin typeface="-apple-system"/>
                <a:ea typeface="-apple-system"/>
              </a:rPr>
              <a:t>优点：能够完全消除稳态误差！</a:t>
            </a:r>
            <a:endParaRPr lang="zh-CN" altLang="en-US" sz="2200" b="1" i="0">
              <a:solidFill>
                <a:srgbClr val="D9534F"/>
              </a:solidFill>
              <a:latin typeface="-apple-system"/>
              <a:ea typeface="-apple-system"/>
            </a:endParaRPr>
          </a:p>
          <a:p>
            <a:pPr marL="0" indent="0" algn="l"/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是实现系统</a:t>
            </a:r>
            <a:r>
              <a:rPr lang="zh-CN" altLang="en-US" sz="1600" b="0" i="0">
                <a:solidFill>
                  <a:srgbClr val="0056B3"/>
                </a:solidFill>
                <a:latin typeface="-apple-system"/>
                <a:ea typeface="-apple-system"/>
              </a:rPr>
              <a:t>高精度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的关键先生。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ctr">
              <a:spcBef>
                <a:spcPts val="1200"/>
              </a:spcBef>
              <a:spcAft>
                <a:spcPts val="900"/>
              </a:spcAft>
            </a:pPr>
            <a:r>
              <a:rPr lang="zh-CN" altLang="en-US" sz="2200" b="1" i="0">
                <a:solidFill>
                  <a:srgbClr val="D9534F"/>
                </a:solidFill>
                <a:latin typeface="-apple-system"/>
                <a:ea typeface="-apple-system"/>
              </a:rPr>
              <a:t>缺点：积分饱和与响应迟缓</a:t>
            </a:r>
            <a:endParaRPr lang="zh-CN" altLang="en-US" sz="2200" b="1" i="0">
              <a:solidFill>
                <a:srgbClr val="D9534F"/>
              </a:solidFill>
              <a:latin typeface="-apple-system"/>
              <a:ea typeface="-apple-system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556000" y="3771265"/>
            <a:ext cx="5080000" cy="1568450"/>
          </a:xfrm>
          <a:prstGeom prst="rect">
            <a:avLst/>
          </a:prstGeom>
        </p:spPr>
        <p:txBody>
          <a:bodyPr>
            <a:spAutoFit/>
          </a:bodyPr>
          <a:p>
            <a:pPr marL="0" indent="0" algn="l"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0056B3"/>
                </a:solidFill>
                <a:latin typeface="-apple-system"/>
                <a:ea typeface="-apple-system"/>
              </a:rPr>
              <a:t>反应慢</a:t>
            </a:r>
            <a:r>
              <a:rPr lang="en-US" altLang="zh-CN" sz="1600" b="0" i="0">
                <a:solidFill>
                  <a:srgbClr val="0056B3"/>
                </a:solidFill>
                <a:latin typeface="-apple-system"/>
                <a:ea typeface="-apple-system"/>
              </a:rPr>
              <a:t>: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需要时间来累积误差才能产生作用。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0056B3"/>
                </a:solidFill>
                <a:latin typeface="-apple-system"/>
                <a:ea typeface="-apple-system"/>
              </a:rPr>
              <a:t>积分饱和 </a:t>
            </a:r>
            <a:r>
              <a:rPr lang="en-US" altLang="zh-CN" sz="1600" b="0" i="0">
                <a:solidFill>
                  <a:srgbClr val="0056B3"/>
                </a:solidFill>
                <a:latin typeface="-apple-system"/>
                <a:ea typeface="-apple-system"/>
              </a:rPr>
              <a:t>(Integral Windup):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如果误差存在时间太长，他累积的“怨气”（积分项）会过大。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0056B3"/>
                </a:solidFill>
                <a:latin typeface="-apple-system"/>
                <a:ea typeface="-apple-system"/>
              </a:rPr>
              <a:t>导致后果</a:t>
            </a:r>
            <a:r>
              <a:rPr lang="en-US" altLang="zh-CN" sz="1600" b="0" i="0">
                <a:solidFill>
                  <a:srgbClr val="0056B3"/>
                </a:solidFill>
                <a:latin typeface="-apple-system"/>
                <a:ea typeface="-apple-system"/>
              </a:rPr>
              <a:t>: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系统到达目标后，由于这个巨大的“历史惯性”，会一下子</a:t>
            </a:r>
            <a:r>
              <a:rPr lang="zh-CN" altLang="en-US" sz="1600" b="0" i="0">
                <a:solidFill>
                  <a:srgbClr val="0056B3"/>
                </a:solidFill>
                <a:latin typeface="-apple-system"/>
                <a:ea typeface="-apple-system"/>
              </a:rPr>
              <a:t>冲过头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，产生严重的</a:t>
            </a:r>
            <a:r>
              <a:rPr lang="zh-CN" altLang="en-US" sz="1600" b="0" i="0">
                <a:solidFill>
                  <a:srgbClr val="0056B3"/>
                </a:solidFill>
                <a:latin typeface="-apple-system"/>
                <a:ea typeface="-apple-system"/>
              </a:rPr>
              <a:t>超调</a:t>
            </a:r>
            <a:r>
              <a:rPr lang="en-US" altLang="zh-CN" sz="1600" b="0" i="0">
                <a:solidFill>
                  <a:srgbClr val="0056B3"/>
                </a:solidFill>
                <a:latin typeface="-apple-system"/>
                <a:ea typeface="-apple-system"/>
              </a:rPr>
              <a:t>(Overshoot)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142398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800"/>
              </a:spcAft>
            </a:pPr>
            <a:r>
              <a:rPr lang="en-US" altLang="zh-CN" sz="1600" b="1" i="0">
                <a:solidFill>
                  <a:srgbClr val="F0AD4E"/>
                </a:solidFill>
                <a:latin typeface="-apple-system"/>
                <a:ea typeface="-apple-system"/>
              </a:rPr>
              <a:t>D</a:t>
            </a:r>
            <a:r>
              <a:rPr lang="zh-CN" altLang="en-US" sz="1600" b="1" i="0">
                <a:solidFill>
                  <a:srgbClr val="F0AD4E"/>
                </a:solidFill>
                <a:latin typeface="-apple-system"/>
                <a:ea typeface="-apple-system"/>
              </a:rPr>
              <a:t>顾问 </a:t>
            </a:r>
            <a:r>
              <a:rPr lang="en-US" altLang="zh-CN" sz="1600" b="1" i="0">
                <a:solidFill>
                  <a:srgbClr val="F0AD4E"/>
                </a:solidFill>
                <a:latin typeface="-apple-system"/>
                <a:ea typeface="-apple-system"/>
              </a:rPr>
              <a:t>(</a:t>
            </a:r>
            <a:r>
              <a:rPr lang="zh-CN" altLang="en-US" sz="1600" b="1" i="0">
                <a:solidFill>
                  <a:srgbClr val="F0AD4E"/>
                </a:solidFill>
                <a:latin typeface="-apple-system"/>
                <a:ea typeface="-apple-system"/>
              </a:rPr>
              <a:t>微分</a:t>
            </a:r>
            <a:r>
              <a:rPr lang="en-US" altLang="zh-CN" sz="1600" b="1" i="0">
                <a:solidFill>
                  <a:srgbClr val="F0AD4E"/>
                </a:solidFill>
                <a:latin typeface="-apple-system"/>
                <a:ea typeface="-apple-system"/>
              </a:rPr>
              <a:t>)</a:t>
            </a:r>
            <a:r>
              <a:rPr lang="zh-CN" altLang="en-US" sz="1600" b="1" i="0">
                <a:solidFill>
                  <a:srgbClr val="003D7A"/>
                </a:solidFill>
                <a:latin typeface="-apple-system"/>
                <a:ea typeface="-apple-system"/>
              </a:rPr>
              <a:t>：敏锐的“未来预言家”</a:t>
            </a:r>
            <a:endParaRPr lang="zh-CN" altLang="en-US" sz="1600" b="1" i="0">
              <a:solidFill>
                <a:srgbClr val="003D7A"/>
              </a:solidFill>
              <a:latin typeface="-apple-system"/>
              <a:ea typeface="-apple-system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14780" y="2746375"/>
            <a:ext cx="4318000" cy="110680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/>
            <a:r>
              <a:rPr lang="zh-CN" altLang="en-US" sz="1600" b="0" i="0">
                <a:solidFill>
                  <a:srgbClr val="0056B3"/>
                </a:solidFill>
                <a:latin typeface="-apple-system"/>
                <a:ea typeface="-apple-system"/>
              </a:rPr>
              <a:t>性格</a:t>
            </a:r>
            <a:r>
              <a:rPr lang="en-US" altLang="zh-CN" sz="1600" b="0" i="0">
                <a:solidFill>
                  <a:srgbClr val="0056B3"/>
                </a:solidFill>
                <a:latin typeface="-apple-system"/>
                <a:ea typeface="-apple-system"/>
              </a:rPr>
              <a:t>: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敏锐，有远见。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/>
            <a:r>
              <a:rPr lang="zh-CN" altLang="en-US" sz="1600" b="0" i="0">
                <a:solidFill>
                  <a:srgbClr val="0056B3"/>
                </a:solidFill>
                <a:latin typeface="-apple-system"/>
                <a:ea typeface="-apple-system"/>
              </a:rPr>
              <a:t>决策逻辑</a:t>
            </a:r>
            <a:r>
              <a:rPr lang="en-US" altLang="zh-CN" sz="1600" b="0" i="0">
                <a:solidFill>
                  <a:srgbClr val="0056B3"/>
                </a:solidFill>
                <a:latin typeface="-apple-system"/>
                <a:ea typeface="-apple-system"/>
              </a:rPr>
              <a:t>:</a:t>
            </a:r>
            <a:endParaRPr lang="en-US" altLang="zh-CN" sz="1600" b="0" i="0">
              <a:solidFill>
                <a:srgbClr val="0056B3"/>
              </a:solidFill>
              <a:latin typeface="-apple-system"/>
              <a:ea typeface="-apple-system"/>
            </a:endParaRPr>
          </a:p>
          <a:p>
            <a:pPr marL="0" indent="0" algn="ctr"/>
            <a:r>
              <a:rPr lang="zh-CN" altLang="en-US" b="0" i="0">
                <a:solidFill>
                  <a:srgbClr val="333333"/>
                </a:solidFill>
                <a:latin typeface="-apple-system"/>
                <a:ea typeface="-apple-system"/>
              </a:rPr>
              <a:t>输出 </a:t>
            </a:r>
            <a:r>
              <a:rPr lang="en-US" altLang="zh-CN" b="0" i="0">
                <a:solidFill>
                  <a:srgbClr val="333333"/>
                </a:solidFill>
                <a:latin typeface="-apple-system"/>
                <a:ea typeface="-apple-system"/>
              </a:rPr>
              <a:t>= </a:t>
            </a:r>
            <a:r>
              <a:rPr lang="en-US" altLang="zh-CN" b="1" i="0">
                <a:solidFill>
                  <a:srgbClr val="F0AD4E"/>
                </a:solidFill>
                <a:latin typeface="-apple-system"/>
                <a:ea typeface="-apple-system"/>
              </a:rPr>
              <a:t>Kd</a:t>
            </a:r>
            <a:r>
              <a:rPr lang="en-US" altLang="zh-CN" b="0" i="0">
                <a:solidFill>
                  <a:srgbClr val="333333"/>
                </a:solidFill>
                <a:latin typeface="-apple-system"/>
                <a:ea typeface="-apple-system"/>
              </a:rPr>
              <a:t> * d(</a:t>
            </a:r>
            <a:r>
              <a:rPr lang="en-US" altLang="zh-CN" b="1" i="0">
                <a:solidFill>
                  <a:srgbClr val="0056B3"/>
                </a:solidFill>
                <a:latin typeface="-apple-system"/>
                <a:ea typeface="-apple-system"/>
              </a:rPr>
              <a:t>Error</a:t>
            </a:r>
            <a:r>
              <a:rPr lang="en-US" altLang="zh-CN" b="0" i="0">
                <a:solidFill>
                  <a:srgbClr val="333333"/>
                </a:solidFill>
                <a:latin typeface="-apple-system"/>
                <a:ea typeface="-apple-system"/>
              </a:rPr>
              <a:t>)/dt</a:t>
            </a:r>
            <a:endParaRPr lang="en-US" altLang="zh-CN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/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(Kd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是微分系数，代表他的“敏感”程度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)</a:t>
            </a:r>
            <a:endParaRPr lang="en-US" altLang="zh-CN" sz="16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314440" y="2329815"/>
            <a:ext cx="5080000" cy="2061210"/>
          </a:xfrm>
          <a:prstGeom prst="rect">
            <a:avLst/>
          </a:prstGeom>
        </p:spPr>
        <p:txBody>
          <a:bodyPr>
            <a:spAutoFit/>
          </a:bodyPr>
          <a:p>
            <a:pPr marL="0" indent="0" algn="l"/>
            <a:r>
              <a:rPr lang="zh-CN" altLang="en-US" sz="1600" b="0" i="0">
                <a:solidFill>
                  <a:srgbClr val="0056B3"/>
                </a:solidFill>
                <a:latin typeface="-apple-system"/>
                <a:ea typeface="-apple-system"/>
              </a:rPr>
              <a:t>作用 </a:t>
            </a:r>
            <a:r>
              <a:rPr lang="en-US" altLang="zh-CN" sz="1600" b="0" i="0">
                <a:solidFill>
                  <a:srgbClr val="0056B3"/>
                </a:solidFill>
                <a:latin typeface="-apple-system"/>
                <a:ea typeface="-apple-system"/>
              </a:rPr>
              <a:t>(</a:t>
            </a:r>
            <a:r>
              <a:rPr lang="zh-CN" altLang="en-US" sz="1600" b="0" i="0">
                <a:solidFill>
                  <a:srgbClr val="0056B3"/>
                </a:solidFill>
                <a:latin typeface="-apple-system"/>
                <a:ea typeface="-apple-system"/>
              </a:rPr>
              <a:t>提供阻尼</a:t>
            </a:r>
            <a:r>
              <a:rPr lang="en-US" altLang="zh-CN" sz="1600" b="0" i="0">
                <a:solidFill>
                  <a:srgbClr val="0056B3"/>
                </a:solidFill>
                <a:latin typeface="-apple-system"/>
                <a:ea typeface="-apple-system"/>
              </a:rPr>
              <a:t>):</a:t>
            </a:r>
            <a:endParaRPr lang="en-US" altLang="zh-CN" sz="1600" b="0" i="0">
              <a:solidFill>
                <a:srgbClr val="0056B3"/>
              </a:solidFill>
              <a:latin typeface="-apple-system"/>
              <a:ea typeface="-apple-system"/>
            </a:endParaRPr>
          </a:p>
          <a:p>
            <a:pPr marL="0" indent="0" algn="l"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0056B3"/>
                </a:solidFill>
                <a:latin typeface="-apple-system"/>
                <a:ea typeface="-apple-system"/>
              </a:rPr>
              <a:t>场景一 </a:t>
            </a:r>
            <a:r>
              <a:rPr lang="en-US" altLang="zh-CN" sz="1600" b="0" i="0">
                <a:solidFill>
                  <a:srgbClr val="0056B3"/>
                </a:solidFill>
                <a:latin typeface="-apple-system"/>
                <a:ea typeface="-apple-system"/>
              </a:rPr>
              <a:t>(</a:t>
            </a:r>
            <a:r>
              <a:rPr lang="zh-CN" altLang="en-US" sz="1600" b="0" i="0">
                <a:solidFill>
                  <a:srgbClr val="0056B3"/>
                </a:solidFill>
                <a:latin typeface="-apple-system"/>
                <a:ea typeface="-apple-system"/>
              </a:rPr>
              <a:t>高速下降</a:t>
            </a:r>
            <a:r>
              <a:rPr lang="en-US" altLang="zh-CN" sz="1600" b="0" i="0">
                <a:solidFill>
                  <a:srgbClr val="0056B3"/>
                </a:solidFill>
                <a:latin typeface="-apple-system"/>
                <a:ea typeface="-apple-system"/>
              </a:rPr>
              <a:t>):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 D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顾问看到“误差正以极快速度减小”，他会大喊：</a:t>
            </a:r>
            <a:r>
              <a:rPr lang="zh-CN" altLang="en-US" sz="1600" b="0" i="0">
                <a:solidFill>
                  <a:srgbClr val="0056B3"/>
                </a:solidFill>
                <a:latin typeface="-apple-system"/>
                <a:ea typeface="-apple-system"/>
              </a:rPr>
              <a:t>“刹车！要冲过头了！”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于是他产生一个与运动方向相反的力，提前给系统“踩刹车”，</a:t>
            </a:r>
            <a:r>
              <a:rPr lang="zh-CN" altLang="en-US" sz="1600" b="0" i="0">
                <a:solidFill>
                  <a:srgbClr val="0056B3"/>
                </a:solidFill>
                <a:latin typeface="-apple-system"/>
                <a:ea typeface="-apple-system"/>
              </a:rPr>
              <a:t>防止超调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0056B3"/>
                </a:solidFill>
                <a:latin typeface="-apple-system"/>
                <a:ea typeface="-apple-system"/>
              </a:rPr>
              <a:t>场景二 </a:t>
            </a:r>
            <a:r>
              <a:rPr lang="en-US" altLang="zh-CN" sz="1600" b="0" i="0">
                <a:solidFill>
                  <a:srgbClr val="0056B3"/>
                </a:solidFill>
                <a:latin typeface="-apple-system"/>
                <a:ea typeface="-apple-system"/>
              </a:rPr>
              <a:t>(</a:t>
            </a:r>
            <a:r>
              <a:rPr lang="zh-CN" altLang="en-US" sz="1600" b="0" i="0">
                <a:solidFill>
                  <a:srgbClr val="0056B3"/>
                </a:solidFill>
                <a:latin typeface="-apple-system"/>
                <a:ea typeface="-apple-system"/>
              </a:rPr>
              <a:t>轻微振荡</a:t>
            </a:r>
            <a:r>
              <a:rPr lang="en-US" altLang="zh-CN" sz="1600" b="0" i="0">
                <a:solidFill>
                  <a:srgbClr val="0056B3"/>
                </a:solidFill>
                <a:latin typeface="-apple-system"/>
                <a:ea typeface="-apple-system"/>
              </a:rPr>
              <a:t>):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当无人机上下振荡时，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D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顾问就像一个</a:t>
            </a:r>
            <a:r>
              <a:rPr lang="zh-CN" altLang="en-US" sz="1600" b="0" i="0">
                <a:solidFill>
                  <a:srgbClr val="0056B3"/>
                </a:solidFill>
                <a:latin typeface="-apple-system"/>
                <a:ea typeface="-apple-system"/>
              </a:rPr>
              <a:t>弹簧减震器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，不断地抑制系统的任何振荡趋势，让系统快速稳定。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1189355"/>
            <a:ext cx="5080000" cy="2376170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800"/>
              </a:spcAft>
            </a:pPr>
            <a:r>
              <a:rPr lang="en-US" altLang="zh-CN" sz="3000" b="1" i="0">
                <a:solidFill>
                  <a:srgbClr val="003D7A"/>
                </a:solidFill>
                <a:latin typeface="-apple-system"/>
                <a:ea typeface="-apple-system"/>
              </a:rPr>
              <a:t>D</a:t>
            </a:r>
            <a:r>
              <a:rPr lang="zh-CN" altLang="en-US" sz="3000" b="1" i="0">
                <a:solidFill>
                  <a:srgbClr val="003D7A"/>
                </a:solidFill>
                <a:latin typeface="-apple-system"/>
                <a:ea typeface="-apple-system"/>
              </a:rPr>
              <a:t>控制的优点与缺点</a:t>
            </a:r>
            <a:endParaRPr lang="zh-CN" altLang="en-US" sz="3000" b="1" i="0">
              <a:solidFill>
                <a:srgbClr val="003D7A"/>
              </a:solidFill>
              <a:latin typeface="-apple-system"/>
              <a:ea typeface="-apple-system"/>
            </a:endParaRPr>
          </a:p>
          <a:p>
            <a:pPr marL="0" indent="0" algn="ctr">
              <a:spcBef>
                <a:spcPts val="1200"/>
              </a:spcBef>
              <a:spcAft>
                <a:spcPts val="900"/>
              </a:spcAft>
            </a:pPr>
            <a:r>
              <a:rPr lang="zh-CN" altLang="en-US" sz="2200" b="1" i="0">
                <a:solidFill>
                  <a:srgbClr val="D9534F"/>
                </a:solidFill>
                <a:latin typeface="-apple-system"/>
                <a:ea typeface="-apple-system"/>
              </a:rPr>
              <a:t>优点：提供阻尼，让系统更“稳”</a:t>
            </a:r>
            <a:endParaRPr lang="zh-CN" altLang="en-US" sz="2200" b="1" i="0">
              <a:solidFill>
                <a:srgbClr val="D9534F"/>
              </a:solidFill>
              <a:latin typeface="-apple-system"/>
              <a:ea typeface="-apple-system"/>
            </a:endParaRPr>
          </a:p>
          <a:p>
            <a:pPr marL="0" indent="0" algn="l"/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能有效抑制超调和振荡，让系统响应更平稳、更快速地稳定下来。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ctr">
              <a:spcBef>
                <a:spcPts val="1200"/>
              </a:spcBef>
              <a:spcAft>
                <a:spcPts val="900"/>
              </a:spcAft>
            </a:pPr>
            <a:r>
              <a:rPr lang="zh-CN" altLang="en-US" sz="2200" b="1" i="0">
                <a:solidFill>
                  <a:srgbClr val="D9534F"/>
                </a:solidFill>
                <a:latin typeface="-apple-system"/>
                <a:ea typeface="-apple-system"/>
              </a:rPr>
              <a:t>缺点：对噪声</a:t>
            </a:r>
            <a:r>
              <a:rPr lang="en-US" altLang="zh-CN" sz="2200" b="1" i="0">
                <a:solidFill>
                  <a:srgbClr val="D9534F"/>
                </a:solidFill>
                <a:latin typeface="-apple-system"/>
                <a:ea typeface="-apple-system"/>
              </a:rPr>
              <a:t>(Noise)</a:t>
            </a:r>
            <a:r>
              <a:rPr lang="zh-CN" altLang="en-US" sz="2200" b="1" i="0">
                <a:solidFill>
                  <a:srgbClr val="D9534F"/>
                </a:solidFill>
                <a:latin typeface="-apple-system"/>
                <a:ea typeface="-apple-system"/>
              </a:rPr>
              <a:t>极其敏感</a:t>
            </a:r>
            <a:endParaRPr lang="zh-CN" altLang="en-US" sz="2200" b="1" i="0">
              <a:solidFill>
                <a:srgbClr val="D9534F"/>
              </a:solidFill>
              <a:latin typeface="-apple-system"/>
              <a:ea typeface="-apple-system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632200" y="4215765"/>
            <a:ext cx="5080000" cy="1322070"/>
          </a:xfrm>
          <a:prstGeom prst="rect">
            <a:avLst/>
          </a:prstGeom>
        </p:spPr>
        <p:txBody>
          <a:bodyPr>
            <a:spAutoFit/>
          </a:bodyPr>
          <a:p>
            <a:pPr marL="0" indent="0" algn="l">
              <a:buFont typeface="Arial" panose="020B0604020202020204"/>
              <a:buChar char="•"/>
            </a:pP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D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顾问对任何“变化”都极其敏感。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如果传感器数据有高频噪声（数值快速小范围跳动），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D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顾问会以为误差在剧烈变化。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0056B3"/>
                </a:solidFill>
                <a:latin typeface="-apple-system"/>
                <a:ea typeface="-apple-system"/>
              </a:rPr>
              <a:t>导致后果</a:t>
            </a:r>
            <a:r>
              <a:rPr lang="en-US" altLang="zh-CN" sz="1600" b="0" i="0">
                <a:solidFill>
                  <a:srgbClr val="0056B3"/>
                </a:solidFill>
                <a:latin typeface="-apple-system"/>
                <a:ea typeface="-apple-system"/>
              </a:rPr>
              <a:t>: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输出剧烈抖动的控制信号，让执行器（如电机）“发疯”。因此，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D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部分通常需要对信号进行</a:t>
            </a:r>
            <a:r>
              <a:rPr lang="zh-CN" altLang="en-US" sz="1600" b="0" i="0">
                <a:solidFill>
                  <a:srgbClr val="0056B3"/>
                </a:solidFill>
                <a:latin typeface="-apple-system"/>
                <a:ea typeface="-apple-system"/>
              </a:rPr>
              <a:t>滤波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131730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800"/>
              </a:spcAft>
            </a:pPr>
            <a:r>
              <a:rPr lang="zh-CN" altLang="en-US" sz="1600" b="1" i="0">
                <a:solidFill>
                  <a:srgbClr val="003D7A"/>
                </a:solidFill>
                <a:latin typeface="-apple-system"/>
                <a:ea typeface="-apple-system"/>
              </a:rPr>
              <a:t>团队协作的威力</a:t>
            </a:r>
            <a:endParaRPr lang="zh-CN" altLang="en-US" sz="1600" b="1" i="0">
              <a:solidFill>
                <a:srgbClr val="003D7A"/>
              </a:solidFill>
              <a:latin typeface="-apple-system"/>
              <a:ea typeface="-apple-system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556000" y="182022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Bef>
                <a:spcPts val="1200"/>
              </a:spcBef>
              <a:spcAft>
                <a:spcPts val="900"/>
              </a:spcAft>
            </a:pPr>
            <a:r>
              <a:rPr lang="zh-CN" altLang="en-US" sz="1600" b="1" i="0">
                <a:solidFill>
                  <a:srgbClr val="D9534F"/>
                </a:solidFill>
                <a:latin typeface="-apple-system"/>
                <a:ea typeface="-apple-system"/>
              </a:rPr>
              <a:t>三位顾问的圆桌会议</a:t>
            </a:r>
            <a:endParaRPr lang="zh-CN" altLang="en-US" sz="1600" b="1" i="0">
              <a:solidFill>
                <a:srgbClr val="D9534F"/>
              </a:solidFill>
              <a:latin typeface="-apple-system"/>
              <a:ea typeface="-apple-system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61440" y="2803525"/>
            <a:ext cx="3060700" cy="128397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>
              <a:spcBef>
                <a:spcPts val="1200"/>
              </a:spcBef>
              <a:spcAft>
                <a:spcPts val="900"/>
              </a:spcAft>
            </a:pPr>
            <a:r>
              <a:rPr lang="en-US" altLang="zh-CN" sz="2200" b="1" i="0">
                <a:solidFill>
                  <a:srgbClr val="D9534F"/>
                </a:solidFill>
                <a:latin typeface="-apple-system"/>
                <a:ea typeface="-apple-system"/>
              </a:rPr>
              <a:t>P (</a:t>
            </a:r>
            <a:r>
              <a:rPr lang="zh-CN" altLang="en-US" sz="2200" b="1" i="0">
                <a:solidFill>
                  <a:srgbClr val="D9534F"/>
                </a:solidFill>
                <a:latin typeface="-apple-system"/>
                <a:ea typeface="-apple-system"/>
              </a:rPr>
              <a:t>比例</a:t>
            </a:r>
            <a:r>
              <a:rPr lang="en-US" altLang="zh-CN" sz="2200" b="1" i="0">
                <a:solidFill>
                  <a:srgbClr val="D9534F"/>
                </a:solidFill>
                <a:latin typeface="-apple-system"/>
                <a:ea typeface="-apple-system"/>
              </a:rPr>
              <a:t>)</a:t>
            </a:r>
            <a:endParaRPr lang="en-US" altLang="zh-CN" sz="2200" b="1" i="0">
              <a:solidFill>
                <a:srgbClr val="D9534F"/>
              </a:solidFill>
              <a:latin typeface="-apple-system"/>
              <a:ea typeface="-apple-system"/>
            </a:endParaRPr>
          </a:p>
          <a:p>
            <a:pPr marL="0" indent="0" algn="l"/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“我负责主力输出！误差一大，我第一个冲上去！我保证</a:t>
            </a:r>
            <a:r>
              <a:rPr lang="zh-CN" altLang="en-US" sz="1600" b="0" i="0">
                <a:solidFill>
                  <a:srgbClr val="0056B3"/>
                </a:solidFill>
                <a:latin typeface="-apple-system"/>
                <a:ea typeface="-apple-system"/>
              </a:rPr>
              <a:t>快速响应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！”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942840" y="2673985"/>
            <a:ext cx="3106420" cy="128397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>
              <a:spcBef>
                <a:spcPts val="1200"/>
              </a:spcBef>
              <a:spcAft>
                <a:spcPts val="900"/>
              </a:spcAft>
            </a:pPr>
            <a:r>
              <a:rPr lang="en-US" altLang="zh-CN" sz="2200" b="1" i="0">
                <a:solidFill>
                  <a:srgbClr val="D9534F"/>
                </a:solidFill>
                <a:latin typeface="-apple-system"/>
                <a:ea typeface="-apple-system"/>
              </a:rPr>
              <a:t>I (</a:t>
            </a:r>
            <a:r>
              <a:rPr lang="zh-CN" altLang="en-US" sz="2200" b="1" i="0">
                <a:solidFill>
                  <a:srgbClr val="D9534F"/>
                </a:solidFill>
                <a:latin typeface="-apple-system"/>
                <a:ea typeface="-apple-system"/>
              </a:rPr>
              <a:t>积分</a:t>
            </a:r>
            <a:r>
              <a:rPr lang="en-US" altLang="zh-CN" sz="2200" b="1" i="0">
                <a:solidFill>
                  <a:srgbClr val="D9534F"/>
                </a:solidFill>
                <a:latin typeface="-apple-system"/>
                <a:ea typeface="-apple-system"/>
              </a:rPr>
              <a:t>)</a:t>
            </a:r>
            <a:endParaRPr lang="en-US" altLang="zh-CN" sz="2200" b="1" i="0">
              <a:solidFill>
                <a:srgbClr val="D9534F"/>
              </a:solidFill>
              <a:latin typeface="-apple-system"/>
              <a:ea typeface="-apple-system"/>
            </a:endParaRPr>
          </a:p>
          <a:p>
            <a:pPr marL="0" indent="0" algn="l"/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“你们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P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搞不定的那点‘残余误差’，交给我来磨平。我保证</a:t>
            </a:r>
            <a:r>
              <a:rPr lang="zh-CN" altLang="en-US" sz="1600" b="0" i="0">
                <a:solidFill>
                  <a:srgbClr val="0056B3"/>
                </a:solidFill>
                <a:latin typeface="-apple-system"/>
                <a:ea typeface="-apple-system"/>
              </a:rPr>
              <a:t>精准无差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！”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219440" y="2673985"/>
            <a:ext cx="3319780" cy="128397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>
              <a:spcBef>
                <a:spcPts val="1200"/>
              </a:spcBef>
              <a:spcAft>
                <a:spcPts val="900"/>
              </a:spcAft>
            </a:pPr>
            <a:r>
              <a:rPr lang="en-US" altLang="zh-CN" sz="2200" b="1" i="0">
                <a:solidFill>
                  <a:srgbClr val="D9534F"/>
                </a:solidFill>
                <a:latin typeface="-apple-system"/>
                <a:ea typeface="-apple-system"/>
              </a:rPr>
              <a:t>D (</a:t>
            </a:r>
            <a:r>
              <a:rPr lang="zh-CN" altLang="en-US" sz="2200" b="1" i="0">
                <a:solidFill>
                  <a:srgbClr val="D9534F"/>
                </a:solidFill>
                <a:latin typeface="-apple-system"/>
                <a:ea typeface="-apple-system"/>
              </a:rPr>
              <a:t>微分</a:t>
            </a:r>
            <a:r>
              <a:rPr lang="en-US" altLang="zh-CN" sz="2200" b="1" i="0">
                <a:solidFill>
                  <a:srgbClr val="D9534F"/>
                </a:solidFill>
                <a:latin typeface="-apple-system"/>
                <a:ea typeface="-apple-system"/>
              </a:rPr>
              <a:t>)</a:t>
            </a:r>
            <a:endParaRPr lang="en-US" altLang="zh-CN" sz="2200" b="1" i="0">
              <a:solidFill>
                <a:srgbClr val="D9534F"/>
              </a:solidFill>
              <a:latin typeface="-apple-system"/>
              <a:ea typeface="-apple-system"/>
            </a:endParaRPr>
          </a:p>
          <a:p>
            <a:pPr marL="0" indent="0" algn="l"/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“你们俩都冷静点！我来看着趋势，防止冲过头、来回抖。我保证过程</a:t>
            </a:r>
            <a:r>
              <a:rPr lang="zh-CN" altLang="en-US" sz="1600" b="0" i="0">
                <a:solidFill>
                  <a:srgbClr val="0056B3"/>
                </a:solidFill>
                <a:latin typeface="-apple-system"/>
                <a:ea typeface="-apple-system"/>
              </a:rPr>
              <a:t>平稳顺滑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！”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1191895"/>
            <a:ext cx="5080000" cy="1029970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800"/>
              </a:spcAft>
            </a:pPr>
            <a:r>
              <a:rPr lang="zh-CN" altLang="en-US" sz="3000" b="1" i="0">
                <a:solidFill>
                  <a:srgbClr val="003D7A"/>
                </a:solidFill>
                <a:latin typeface="-apple-system"/>
                <a:ea typeface="-apple-system"/>
              </a:rPr>
              <a:t>最终控制输出：团队协作</a:t>
            </a:r>
            <a:endParaRPr lang="zh-CN" altLang="en-US" sz="3000" b="1" i="0">
              <a:solidFill>
                <a:srgbClr val="003D7A"/>
              </a:solidFill>
              <a:latin typeface="-apple-system"/>
              <a:ea typeface="-apple-system"/>
            </a:endParaRPr>
          </a:p>
          <a:p>
            <a:pPr marL="0" indent="0" algn="l"/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三位顾问的建议被加在一起，形成最终的控制决策。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75660" y="2236470"/>
            <a:ext cx="5440680" cy="238506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647440" y="4560887"/>
            <a:ext cx="5080000" cy="829945"/>
          </a:xfrm>
          <a:prstGeom prst="rect">
            <a:avLst/>
          </a:prstGeom>
        </p:spPr>
        <p:txBody>
          <a:bodyPr>
            <a:spAutoFit/>
          </a:bodyPr>
          <a:p>
            <a:pPr marL="0" indent="0" algn="l"/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正是这三位‘性格’迥异的顾问，基于对误差的</a:t>
            </a:r>
            <a:r>
              <a:rPr lang="zh-CN" altLang="en-US" sz="1600" i="0">
                <a:solidFill>
                  <a:srgbClr val="0056B3"/>
                </a:solidFill>
                <a:latin typeface="-apple-system"/>
                <a:ea typeface="-apple-system"/>
              </a:rPr>
              <a:t>现在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、</a:t>
            </a:r>
            <a:r>
              <a:rPr lang="zh-CN" altLang="en-US" sz="1600" i="0">
                <a:solidFill>
                  <a:srgbClr val="0056B3"/>
                </a:solidFill>
                <a:latin typeface="-apple-system"/>
                <a:ea typeface="-apple-system"/>
              </a:rPr>
              <a:t>过去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、</a:t>
            </a:r>
            <a:r>
              <a:rPr lang="zh-CN" altLang="en-US" sz="1600" i="0">
                <a:solidFill>
                  <a:srgbClr val="0056B3"/>
                </a:solidFill>
                <a:latin typeface="-apple-system"/>
                <a:ea typeface="-apple-system"/>
              </a:rPr>
              <a:t>未来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的全面考量，协同工作，才构成了强大而鲁棒的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PID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控制器。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1210628"/>
            <a:ext cx="5080000" cy="521970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800"/>
              </a:spcAft>
            </a:pPr>
            <a:r>
              <a:rPr lang="zh-CN" altLang="en-US" sz="2800" b="1" i="0">
                <a:solidFill>
                  <a:srgbClr val="003D7A"/>
                </a:solidFill>
                <a:latin typeface="-apple-system"/>
                <a:ea typeface="-apple-system"/>
              </a:rPr>
              <a:t>不同组合的对比</a:t>
            </a:r>
            <a:endParaRPr lang="zh-CN" altLang="en-US" sz="2800" b="1" i="0">
              <a:solidFill>
                <a:srgbClr val="003D7A"/>
              </a:solidFill>
              <a:latin typeface="-apple-system"/>
              <a:ea typeface="-apple-system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14780" y="2767965"/>
            <a:ext cx="4340860" cy="132207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/>
            <a:r>
              <a:rPr lang="en-US" altLang="zh-CN" sz="1600" b="0" i="0">
                <a:solidFill>
                  <a:srgbClr val="0056B3"/>
                </a:solidFill>
                <a:latin typeface="-apple-system"/>
                <a:ea typeface="-apple-system"/>
              </a:rPr>
              <a:t>P </a:t>
            </a:r>
            <a:r>
              <a:rPr lang="zh-CN" altLang="en-US" sz="1600" b="0" i="0">
                <a:solidFill>
                  <a:srgbClr val="0056B3"/>
                </a:solidFill>
                <a:latin typeface="-apple-system"/>
                <a:ea typeface="-apple-system"/>
              </a:rPr>
              <a:t>控制</a:t>
            </a:r>
            <a:r>
              <a:rPr lang="en-US" altLang="zh-CN" sz="1600" b="0" i="0">
                <a:solidFill>
                  <a:srgbClr val="0056B3"/>
                </a:solidFill>
                <a:latin typeface="-apple-system"/>
                <a:ea typeface="-apple-system"/>
              </a:rPr>
              <a:t>:</a:t>
            </a:r>
            <a:endParaRPr lang="en-US" altLang="zh-CN" sz="1600" b="0" i="0">
              <a:solidFill>
                <a:srgbClr val="0056B3"/>
              </a:solidFill>
              <a:latin typeface="-apple-system"/>
              <a:ea typeface="-apple-system"/>
            </a:endParaRPr>
          </a:p>
          <a:p>
            <a:pPr marL="0" indent="0" algn="l"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简单快速，但有稳态误差。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/>
            <a:r>
              <a:rPr lang="en-US" altLang="zh-CN" sz="1600" b="0" i="0">
                <a:solidFill>
                  <a:srgbClr val="0056B3"/>
                </a:solidFill>
                <a:latin typeface="-apple-system"/>
                <a:ea typeface="-apple-system"/>
              </a:rPr>
              <a:t>PI </a:t>
            </a:r>
            <a:r>
              <a:rPr lang="zh-CN" altLang="en-US" sz="1600" b="0" i="0">
                <a:solidFill>
                  <a:srgbClr val="0056B3"/>
                </a:solidFill>
                <a:latin typeface="-apple-system"/>
                <a:ea typeface="-apple-system"/>
              </a:rPr>
              <a:t>控制</a:t>
            </a:r>
            <a:r>
              <a:rPr lang="en-US" altLang="zh-CN" sz="1600" b="0" i="0">
                <a:solidFill>
                  <a:srgbClr val="0056B3"/>
                </a:solidFill>
                <a:latin typeface="-apple-system"/>
                <a:ea typeface="-apple-system"/>
              </a:rPr>
              <a:t>:</a:t>
            </a:r>
            <a:endParaRPr lang="en-US" altLang="zh-CN" sz="1600" b="0" i="0">
              <a:solidFill>
                <a:srgbClr val="0056B3"/>
              </a:solidFill>
              <a:latin typeface="-apple-system"/>
              <a:ea typeface="-apple-system"/>
            </a:endParaRPr>
          </a:p>
          <a:p>
            <a:pPr marL="0" indent="0" algn="l"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消除了稳态误差，但可能响应变慢，超调变大。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(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工业应用最广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)</a:t>
            </a:r>
            <a:endParaRPr lang="en-US" altLang="zh-CN" sz="16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710680" y="2690495"/>
            <a:ext cx="4493260" cy="156845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/>
            <a:r>
              <a:rPr lang="en-US" altLang="zh-CN" sz="1600" b="0" i="0">
                <a:solidFill>
                  <a:srgbClr val="0056B3"/>
                </a:solidFill>
                <a:latin typeface="-apple-system"/>
                <a:ea typeface="-apple-system"/>
              </a:rPr>
              <a:t>PD </a:t>
            </a:r>
            <a:r>
              <a:rPr lang="zh-CN" altLang="en-US" sz="1600" b="0" i="0">
                <a:solidFill>
                  <a:srgbClr val="0056B3"/>
                </a:solidFill>
                <a:latin typeface="-apple-system"/>
                <a:ea typeface="-apple-system"/>
              </a:rPr>
              <a:t>控制</a:t>
            </a:r>
            <a:r>
              <a:rPr lang="en-US" altLang="zh-CN" sz="1600" b="0" i="0">
                <a:solidFill>
                  <a:srgbClr val="0056B3"/>
                </a:solidFill>
                <a:latin typeface="-apple-system"/>
                <a:ea typeface="-apple-system"/>
              </a:rPr>
              <a:t>:</a:t>
            </a:r>
            <a:endParaRPr lang="en-US" altLang="zh-CN" sz="1600" b="0" i="0">
              <a:solidFill>
                <a:srgbClr val="0056B3"/>
              </a:solidFill>
              <a:latin typeface="-apple-system"/>
              <a:ea typeface="-apple-system"/>
            </a:endParaRPr>
          </a:p>
          <a:p>
            <a:pPr marL="0" indent="0" algn="l"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响应快，超调小，但无法消除稳态误差。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(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用于快速稳定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)</a:t>
            </a:r>
            <a:endParaRPr lang="en-US" altLang="zh-CN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/>
            <a:r>
              <a:rPr lang="en-US" altLang="zh-CN" sz="1600" b="0" i="0">
                <a:solidFill>
                  <a:srgbClr val="0056B3"/>
                </a:solidFill>
                <a:latin typeface="-apple-system"/>
                <a:ea typeface="-apple-system"/>
              </a:rPr>
              <a:t>PID </a:t>
            </a:r>
            <a:r>
              <a:rPr lang="zh-CN" altLang="en-US" sz="1600" b="0" i="0">
                <a:solidFill>
                  <a:srgbClr val="0056B3"/>
                </a:solidFill>
                <a:latin typeface="-apple-system"/>
                <a:ea typeface="-apple-system"/>
              </a:rPr>
              <a:t>控制</a:t>
            </a:r>
            <a:r>
              <a:rPr lang="en-US" altLang="zh-CN" sz="1600" b="0" i="0">
                <a:solidFill>
                  <a:srgbClr val="0056B3"/>
                </a:solidFill>
                <a:latin typeface="-apple-system"/>
                <a:ea typeface="-apple-system"/>
              </a:rPr>
              <a:t>:</a:t>
            </a:r>
            <a:endParaRPr lang="en-US" altLang="zh-CN" sz="1600" b="0" i="0">
              <a:solidFill>
                <a:srgbClr val="0056B3"/>
              </a:solidFill>
              <a:latin typeface="-apple-system"/>
              <a:ea typeface="-apple-system"/>
            </a:endParaRPr>
          </a:p>
          <a:p>
            <a:pPr marL="0" indent="0" algn="l"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集大成者，兼具三者优点，实现</a:t>
            </a:r>
            <a:r>
              <a:rPr lang="zh-CN" altLang="en-US" sz="1600" b="0" i="0">
                <a:solidFill>
                  <a:srgbClr val="0056B3"/>
                </a:solidFill>
                <a:latin typeface="-apple-system"/>
                <a:ea typeface="-apple-system"/>
              </a:rPr>
              <a:t>稳、准、快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的完美平衡。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2147</Words>
  <Application>WPS 演示</Application>
  <PresentationFormat>宽屏</PresentationFormat>
  <Paragraphs>136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Arial</vt:lpstr>
      <vt:lpstr>宋体</vt:lpstr>
      <vt:lpstr>Wingdings</vt:lpstr>
      <vt:lpstr>Arial Unicode MS</vt:lpstr>
      <vt:lpstr>Calibri</vt:lpstr>
      <vt:lpstr>微软雅黑</vt:lpstr>
      <vt:lpstr>-apple-system</vt:lpstr>
      <vt:lpstr>Arial</vt:lpstr>
      <vt:lpstr>JetBrains Mono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 z</dc:creator>
  <cp:lastModifiedBy>欢乐马</cp:lastModifiedBy>
  <cp:revision>25</cp:revision>
  <dcterms:created xsi:type="dcterms:W3CDTF">2023-08-09T12:44:00Z</dcterms:created>
  <dcterms:modified xsi:type="dcterms:W3CDTF">2025-07-25T14:52:49Z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B68419E813E14EC6931D48F5B54F2E3C_12</vt:lpwstr>
  </property>
</Properties>
</file>