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看论文，看视频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388995" y="2968625"/>
            <a:ext cx="56686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模仿学习（离线强化学习）与行为克隆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1188720"/>
            <a:ext cx="94030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6865" y="1805305"/>
            <a:ext cx="4655820" cy="34899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74725" y="1242060"/>
            <a:ext cx="406400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行为克隆</a:t>
            </a:r>
            <a:endParaRPr lang="zh-CN" altLang="en-US"/>
          </a:p>
          <a:p>
            <a:r>
              <a:rPr lang="zh-CN" altLang="en-US"/>
              <a:t>通过监督学习，机械臂学习人类操作的映射关系。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关键步骤</a:t>
            </a:r>
            <a:endParaRPr lang="zh-CN" altLang="en-US"/>
          </a:p>
          <a:p>
            <a:r>
              <a:rPr lang="zh-CN" altLang="en-US"/>
              <a:t>从手动控制（教师端）到自动模仿（机械臂执行）的过程。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应用场景</a:t>
            </a:r>
            <a:endParaRPr lang="zh-CN" altLang="en-US"/>
          </a:p>
          <a:p>
            <a:r>
              <a:rPr lang="zh-CN" altLang="en-US"/>
              <a:t>机械臂如何通过模仿学习完成复杂的抓取任务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模仿学习，行为克隆可以作为强化学习的</a:t>
            </a:r>
            <a:r>
              <a:rPr lang="zh-CN" altLang="en-US"/>
              <a:t>预训练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11885" y="1370012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b-title)"/>
                <a:ea typeface="var(--s-fb-title)"/>
              </a:rPr>
              <a:t>行为克隆的自动驾驶策略</a:t>
            </a:r>
            <a:endParaRPr lang="zh-CN" altLang="en-US" sz="1600" b="0" i="0">
              <a:solidFill>
                <a:srgbClr val="000000"/>
              </a:solidFill>
              <a:latin typeface="var(--s-fb-title)"/>
              <a:ea typeface="var(--s-fb-title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subtitle)"/>
                <a:ea typeface="var(--s-f-subtitle)"/>
              </a:rPr>
              <a:t>从模仿驾驶员到自主驾驶</a:t>
            </a:r>
            <a:endParaRPr lang="zh-CN" altLang="en-US" sz="1600" b="0" i="0">
              <a:solidFill>
                <a:srgbClr val="000000"/>
              </a:solidFill>
              <a:latin typeface="var(--s-f-subtitle)"/>
              <a:ea typeface="var(--s-f-subtitle)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11885" y="2945765"/>
            <a:ext cx="5080000" cy="181483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自动驾驶应用</a:t>
            </a:r>
            <a:endParaRPr lang="zh-CN" altLang="en-US" sz="1600" b="0" i="0">
              <a:solidFill>
                <a:srgbClr val="306FC7"/>
              </a:solidFill>
              <a:latin typeface="var(--s-fb-subtitle)"/>
              <a:ea typeface="var(--s-fb-subtitle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行为克隆技术不仅在机械臂</a:t>
            </a: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机器人中应用，也广泛用于自动驾驶车辆，通过模仿人类驾驶员的行为来训练自动驾驶系统。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模仿学习</a:t>
            </a:r>
            <a:endParaRPr lang="zh-CN" altLang="en-US" sz="1600" b="0" i="0">
              <a:solidFill>
                <a:srgbClr val="306FC7"/>
              </a:solidFill>
              <a:latin typeface="var(--s-fb-subtitle)"/>
              <a:ea typeface="var(--s-fb-subtitle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自动驾驶系统通过观察和模仿驾驶员在各种情境下的驾驶决策，学习如何在路况变化中做出决策。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5610" y="1703070"/>
            <a:ext cx="4579620" cy="34518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885" y="2248535"/>
            <a:ext cx="10637520" cy="38557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20115" y="733107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b="1" i="0">
                <a:solidFill>
                  <a:srgbClr val="FF0000"/>
                </a:solidFill>
                <a:latin typeface="var(--s-f-subtitle)"/>
                <a:ea typeface="var(--s-f-subtitle)"/>
              </a:rPr>
              <a:t>从模仿学习到强化学习</a:t>
            </a:r>
            <a:endParaRPr lang="zh-CN" altLang="en-US" b="1" i="0">
              <a:solidFill>
                <a:srgbClr val="FF0000"/>
              </a:solidFill>
              <a:latin typeface="var(--s-f-subtitle)"/>
              <a:ea typeface="var(--s-f-subtitle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b="1" i="0">
                <a:solidFill>
                  <a:srgbClr val="FF0000"/>
                </a:solidFill>
                <a:latin typeface="var(--s-f-subtitle)"/>
                <a:ea typeface="var(--s-f-subtitle)"/>
              </a:rPr>
              <a:t>行为克隆与强化学习的过渡</a:t>
            </a:r>
            <a:endParaRPr lang="zh-CN" altLang="en-US" b="1" i="0">
              <a:solidFill>
                <a:srgbClr val="FF0000"/>
              </a:solidFill>
              <a:latin typeface="var(--s-f-subtitle)"/>
              <a:ea typeface="var(--s-f-subtitle)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20115" y="1538605"/>
            <a:ext cx="40640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模仿学习</a:t>
            </a:r>
            <a:endParaRPr lang="zh-CN" altLang="en-US"/>
          </a:p>
          <a:p>
            <a:r>
              <a:rPr lang="zh-CN" altLang="en-US"/>
              <a:t>最初通过模仿人类操作，机械臂学会执行任务。</a:t>
            </a:r>
            <a:endParaRPr lang="zh-CN" altLang="en-US"/>
          </a:p>
          <a:p>
            <a:r>
              <a:rPr lang="zh-CN" altLang="en-US"/>
              <a:t>强化学习引入</a:t>
            </a:r>
            <a:endParaRPr lang="zh-CN" altLang="en-US"/>
          </a:p>
          <a:p>
            <a:r>
              <a:rPr lang="zh-CN" altLang="en-US"/>
              <a:t>通过加入奖励机制，系统可以自主发现和优化任务执行方式。</a:t>
            </a:r>
            <a:endParaRPr lang="zh-CN" altLang="en-US"/>
          </a:p>
          <a:p>
            <a:r>
              <a:rPr lang="zh-CN" altLang="en-US"/>
              <a:t>从模仿学习到强化学习的过渡，使机械臂能够适应更多变化的环境，并通过自我探索优化行为。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93495" y="1107122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rgbClr val="000000"/>
                </a:solidFill>
                <a:latin typeface="var(--s-fb-title)"/>
                <a:ea typeface="var(--s-fb-title)"/>
              </a:rPr>
              <a:t> </a:t>
            </a:r>
            <a:r>
              <a:rPr lang="zh-CN" altLang="en-US" sz="1600" b="0" i="0">
                <a:solidFill>
                  <a:srgbClr val="000000"/>
                </a:solidFill>
                <a:latin typeface="var(--s-fb-title)"/>
                <a:ea typeface="var(--s-fb-title)"/>
              </a:rPr>
              <a:t>行为克隆与强化学习的应用场景</a:t>
            </a:r>
            <a:endParaRPr lang="zh-CN" altLang="en-US" sz="1600" b="0" i="0">
              <a:solidFill>
                <a:srgbClr val="000000"/>
              </a:solidFill>
              <a:latin typeface="var(--s-fb-title)"/>
              <a:ea typeface="var(--s-fb-title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subtitle)"/>
                <a:ea typeface="var(--s-f-subtitle)"/>
              </a:rPr>
              <a:t>不同学习方式的对比与实践</a:t>
            </a:r>
            <a:endParaRPr lang="zh-CN" altLang="en-US" sz="1600" b="0" i="0">
              <a:solidFill>
                <a:srgbClr val="000000"/>
              </a:solidFill>
              <a:latin typeface="var(--s-f-subtitle)"/>
              <a:ea typeface="var(--s-f-subtitle)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93495" y="2606358"/>
            <a:ext cx="5080000" cy="255333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行为克隆（</a:t>
            </a:r>
            <a:r>
              <a:rPr lang="en-US" altLang="zh-CN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Behavior Cloning, BC</a:t>
            </a:r>
            <a:r>
              <a:rPr lang="zh-CN" altLang="en-US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）</a:t>
            </a:r>
            <a:endParaRPr lang="zh-CN" altLang="en-US" sz="1600" b="0" i="0">
              <a:solidFill>
                <a:srgbClr val="306FC7"/>
              </a:solidFill>
              <a:latin typeface="var(--s-fb-subtitle)"/>
              <a:ea typeface="var(--s-fb-subtitle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基于监督学习，通过专家数据直接模仿行为。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应用场景：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自动驾驶（模仿人类驾驶）。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工业机器人抓取。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强化学习（</a:t>
            </a:r>
            <a:r>
              <a:rPr lang="en-US" altLang="zh-CN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Reinforcement Learning, RL</a:t>
            </a:r>
            <a:r>
              <a:rPr lang="zh-CN" altLang="en-US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）</a:t>
            </a:r>
            <a:endParaRPr lang="zh-CN" altLang="en-US" sz="1600" b="0" i="0">
              <a:solidFill>
                <a:srgbClr val="306FC7"/>
              </a:solidFill>
              <a:latin typeface="var(--s-fb-subtitle)"/>
              <a:ea typeface="var(--s-fb-subtitle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基于试错过程，通过奖励信号优化策略。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应用场景：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游戏 </a:t>
            </a:r>
            <a:r>
              <a:rPr lang="en-US" altLang="zh-CN" sz="1600" b="0" i="0">
                <a:solidFill>
                  <a:srgbClr val="000000"/>
                </a:solidFill>
                <a:latin typeface="var(--s-f-text)"/>
                <a:ea typeface="var(--s-f-text)"/>
              </a:rPr>
              <a:t>AI</a:t>
            </a: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（如 </a:t>
            </a:r>
            <a:r>
              <a:rPr lang="en-US" altLang="zh-CN" sz="1600" b="0" i="0">
                <a:solidFill>
                  <a:srgbClr val="000000"/>
                </a:solidFill>
                <a:latin typeface="var(--s-f-text)"/>
                <a:ea typeface="var(--s-f-text)"/>
              </a:rPr>
              <a:t>AlphaGo</a:t>
            </a: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）。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机器人自主学习。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7605" y="2919095"/>
            <a:ext cx="4526280" cy="19278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181100" y="1167765"/>
            <a:ext cx="894842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行为克隆可以</a:t>
            </a:r>
            <a:r>
              <a:rPr lang="zh-CN" altLang="en-US"/>
              <a:t>理解为，离线强化学习</a:t>
            </a:r>
            <a:r>
              <a:rPr lang="en-US" altLang="zh-CN"/>
              <a:t> (Offline RL):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从一个固定的、离线的数据集中学习策略，</a:t>
            </a:r>
            <a:r>
              <a:rPr lang="zh-CN" altLang="en-US" b="1"/>
              <a:t>而不能与环境进行新的交互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模仿学习，行为克隆</a:t>
            </a:r>
            <a:r>
              <a:rPr lang="zh-CN" altLang="en-US"/>
              <a:t>是强化学习的</a:t>
            </a:r>
            <a:r>
              <a:rPr lang="en-US" altLang="zh-CN"/>
              <a:t>“</a:t>
            </a:r>
            <a:r>
              <a:rPr lang="zh-CN" altLang="en-US"/>
              <a:t>预训练</a:t>
            </a:r>
            <a:r>
              <a:rPr lang="en-US" altLang="zh-CN"/>
              <a:t>”: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第一步</a:t>
            </a:r>
            <a:r>
              <a:rPr lang="en-US" altLang="zh-CN"/>
              <a:t> (Imitation Learning):</a:t>
            </a:r>
            <a:r>
              <a:rPr lang="" altLang="en-US"/>
              <a:t> </a:t>
            </a:r>
            <a:r>
              <a:rPr lang="zh-CN" altLang="en-US"/>
              <a:t>先用</a:t>
            </a:r>
            <a:r>
              <a:rPr lang="en-US" altLang="zh-CN"/>
              <a:t> LeRobot </a:t>
            </a:r>
            <a:r>
              <a:rPr lang="zh-CN" altLang="en-US"/>
              <a:t>和它提供的数据集，通过模仿学习训练一个相当不错的初始策略。这个策略虽然不完美，但至少知道任务的大致流程，避免了从零开始的盲目探索。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第二步</a:t>
            </a:r>
            <a:r>
              <a:rPr lang="en-US" altLang="zh-CN"/>
              <a:t> (Reinforcement Learning):</a:t>
            </a:r>
            <a:r>
              <a:rPr lang="" altLang="en-US"/>
              <a:t> </a:t>
            </a:r>
            <a:r>
              <a:rPr lang="zh-CN" altLang="en-US"/>
              <a:t>然后，将这个预训练好的策略加载到机器人上，再用强化学习算法（比如从</a:t>
            </a:r>
            <a:r>
              <a:rPr lang="" altLang="en-US"/>
              <a:t> </a:t>
            </a:r>
            <a:r>
              <a:rPr lang="en-US" altLang="zh-CN"/>
              <a:t>Stable-Baselines3</a:t>
            </a:r>
            <a:r>
              <a:rPr lang="" altLang="en-US"/>
              <a:t> </a:t>
            </a:r>
            <a:r>
              <a:rPr lang="zh-CN" altLang="en-US"/>
              <a:t>库中调用）进行在线微调</a:t>
            </a:r>
            <a:r>
              <a:rPr lang="en-US" altLang="zh-CN"/>
              <a:t> (Fine-tuning)</a:t>
            </a:r>
            <a:r>
              <a:rPr lang="zh-CN" altLang="en-US"/>
              <a:t>。通过与环境的少量真实交互和奖励信号，机器人可以进一步优化和完善这个策略。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876</Words>
  <Application>WPS 演示</Application>
  <PresentationFormat>宽屏</PresentationFormat>
  <Paragraphs>57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宋体</vt:lpstr>
      <vt:lpstr>Wingdings</vt:lpstr>
      <vt:lpstr>Arial Unicode MS</vt:lpstr>
      <vt:lpstr>Calibri</vt:lpstr>
      <vt:lpstr>微软雅黑</vt:lpstr>
      <vt:lpstr>Inter</vt:lpstr>
      <vt:lpstr>Arial</vt:lpstr>
      <vt:lpstr>DM Mono</vt:lpstr>
      <vt:lpstr>JetBrains Mono</vt:lpstr>
      <vt:lpstr>var(--s-fb-title)</vt:lpstr>
      <vt:lpstr>var(--s-f-subtitle)</vt:lpstr>
      <vt:lpstr>var(--s-fb-subtitle)</vt:lpstr>
      <vt:lpstr>var(--s-f-text)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 z</dc:creator>
  <cp:lastModifiedBy>欢乐马</cp:lastModifiedBy>
  <cp:revision>28</cp:revision>
  <dcterms:created xsi:type="dcterms:W3CDTF">2023-08-09T12:44:00Z</dcterms:created>
  <dcterms:modified xsi:type="dcterms:W3CDTF">2025-07-30T15:32:32Z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B93CEA2CD6514C3DA1BB3DE94444101B_12</vt:lpwstr>
  </property>
</Properties>
</file>