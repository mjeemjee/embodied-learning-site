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2.svg" ContentType="image/svg+xml"/>
  <Override PartName="/ppt/media/image14.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18"/>
  </p:handoutMasterIdLst>
  <p:sldIdLst>
    <p:sldId id="787" r:id="rId3"/>
    <p:sldId id="840" r:id="rId5"/>
    <p:sldId id="788" r:id="rId6"/>
    <p:sldId id="789" r:id="rId7"/>
    <p:sldId id="795" r:id="rId8"/>
    <p:sldId id="832" r:id="rId9"/>
    <p:sldId id="649" r:id="rId10"/>
    <p:sldId id="797" r:id="rId11"/>
    <p:sldId id="833" r:id="rId12"/>
    <p:sldId id="670" r:id="rId13"/>
    <p:sldId id="672" r:id="rId14"/>
    <p:sldId id="857" r:id="rId15"/>
    <p:sldId id="858" r:id="rId16"/>
    <p:sldId id="859" r:id="rId17"/>
  </p:sldIdLst>
  <p:sldSz cx="12192000" cy="6858000"/>
  <p:notesSz cx="6858000" cy="9144000"/>
  <p:embeddedFontLst>
    <p:embeddedFont>
      <p:font typeface="思源黑体 CN Medium" panose="020B0200000000000000" pitchFamily="34" charset="-122"/>
      <p:bold r:id="rId23"/>
    </p:embeddedFont>
    <p:embeddedFont>
      <p:font typeface="Source Han Sans CN Bold" panose="020B0200000000000000" charset="-122"/>
      <p:bold r:id="rId24"/>
    </p:embeddedFont>
    <p:embeddedFont>
      <p:font typeface="Calibri" panose="020F0502020204030204" charset="0"/>
      <p:regular r:id="rId25"/>
      <p:bold r:id="rId26"/>
      <p:italic r:id="rId27"/>
      <p:boldItalic r:id="rId28"/>
    </p:embeddedFont>
    <p:embeddedFont>
      <p:font typeface="Source Han Sans CN Regular" panose="020B0200000000000000" charset="-122"/>
      <p:bold r:id="rId29"/>
    </p:embeddedFont>
    <p:embeddedFont>
      <p:font typeface="Alibaba PuHuiTi Regular" panose="00020600040101010101" charset="-122"/>
      <p:bold r:id="rId30"/>
    </p:embeddedFont>
    <p:embeddedFont>
      <p:font typeface="思源黑体 CN Normal" panose="020B0200000000000000" pitchFamily="34" charset="-122"/>
      <p:bold r:id="rId31"/>
    </p:embeddedFont>
    <p:embeddedFont>
      <p:font typeface="Source Han Sans CN Normal" panose="020B0200000000000000" charset="-122"/>
      <p:bold r:id="rId32"/>
    </p:embeddedFont>
  </p:embeddedFontLst>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750" userDrawn="1">
          <p15:clr>
            <a:srgbClr val="A4A3A4"/>
          </p15:clr>
        </p15:guide>
        <p15:guide id="2" orient="horz" pos="194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tcast" initials="i" lastIdx="2"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6BF8"/>
    <a:srgbClr val="525EE6"/>
    <a:srgbClr val="DEE1E9"/>
    <a:srgbClr val="F8F8FE"/>
    <a:srgbClr val="F9EEFE"/>
    <a:srgbClr val="F8FAFE"/>
    <a:srgbClr val="626AE9"/>
    <a:srgbClr val="EDE5FD"/>
    <a:srgbClr val="DEC9F5"/>
    <a:srgbClr val="ECE4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64" autoAdjust="0"/>
    <p:restoredTop sz="94660"/>
  </p:normalViewPr>
  <p:slideViewPr>
    <p:cSldViewPr snapToGrid="0" showGuides="1">
      <p:cViewPr varScale="1">
        <p:scale>
          <a:sx n="106" d="100"/>
          <a:sy n="106" d="100"/>
        </p:scale>
        <p:origin x="144" y="222"/>
      </p:cViewPr>
      <p:guideLst>
        <p:guide pos="3750"/>
        <p:guide orient="horz" pos="1945"/>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gs" Target="tags/tag14.xml"/><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092D09-6E53-4EE3-94EA-323CDEEA173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3550C-0EAD-42A3-AC8C-7F87D0B3B9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提到</a:t>
            </a:r>
            <a:r>
              <a:rPr lang="en-US" altLang="zh-CN">
                <a:sym typeface="+mn-ea"/>
              </a:rPr>
              <a:t>AI</a:t>
            </a:r>
            <a:r>
              <a:rPr lang="zh-CN" altLang="en-US">
                <a:sym typeface="+mn-ea"/>
              </a:rPr>
              <a:t>，大家首先想到的</a:t>
            </a:r>
            <a:r>
              <a:rPr lang="en-US" altLang="zh-CN">
                <a:sym typeface="+mn-ea"/>
              </a:rPr>
              <a:t>2022-11-30</a:t>
            </a:r>
            <a:r>
              <a:rPr lang="zh-CN" altLang="en-US">
                <a:sym typeface="+mn-ea"/>
              </a:rPr>
              <a:t>发布</a:t>
            </a:r>
            <a:r>
              <a:rPr lang="en-US" altLang="zh-CN">
                <a:sym typeface="+mn-ea"/>
              </a:rPr>
              <a:t>ChatGPT</a:t>
            </a:r>
            <a:r>
              <a:rPr lang="zh-CN" altLang="en-US">
                <a:sym typeface="+mn-ea"/>
              </a:rPr>
              <a:t>，</a:t>
            </a:r>
            <a:r>
              <a:rPr lang="en-US" altLang="zh-CN">
                <a:sym typeface="+mn-ea"/>
              </a:rPr>
              <a:t>AI</a:t>
            </a:r>
            <a:r>
              <a:rPr lang="zh-CN" altLang="en-US">
                <a:sym typeface="+mn-ea"/>
              </a:rPr>
              <a:t>发展并不是一蹴而就，而是经历了很多年发展，至今有</a:t>
            </a:r>
            <a:r>
              <a:rPr lang="en-US" altLang="zh-CN">
                <a:sym typeface="+mn-ea"/>
              </a:rPr>
              <a:t>3</a:t>
            </a:r>
            <a:r>
              <a:rPr lang="zh-CN" altLang="en-US">
                <a:sym typeface="+mn-ea"/>
              </a:rPr>
              <a:t>次浪潮，我们一起回顾下</a:t>
            </a:r>
            <a:endParaRPr lang="zh-CN" altLang="en-US"/>
          </a:p>
          <a:p>
            <a:r>
              <a:rPr lang="zh-CN" altLang="en-US">
                <a:sym typeface="+mn-ea"/>
              </a:rPr>
              <a:t>AI第一次浪潮：20世纪50年代~70年代中期，</a:t>
            </a:r>
            <a:r>
              <a:rPr lang="en-US" altLang="zh-CN">
                <a:sym typeface="+mn-ea"/>
              </a:rPr>
              <a:t>IBM</a:t>
            </a:r>
            <a:r>
              <a:rPr lang="zh-CN" altLang="en-US">
                <a:sym typeface="+mn-ea"/>
              </a:rPr>
              <a:t>跳棋程序战胜人类高手，这个阶段注重机器逻辑推理能力。</a:t>
            </a:r>
            <a:endParaRPr lang="zh-CN" altLang="en-US"/>
          </a:p>
          <a:p>
            <a:r>
              <a:rPr lang="zh-CN" altLang="en-US">
                <a:sym typeface="+mn-ea"/>
              </a:rPr>
              <a:t>AI第二次浪潮：20世纪80年代~90年代初期，</a:t>
            </a:r>
            <a:r>
              <a:rPr lang="en-US" altLang="zh-CN">
                <a:sym typeface="+mn-ea"/>
              </a:rPr>
              <a:t>IBM</a:t>
            </a:r>
            <a:r>
              <a:rPr lang="zh-CN" altLang="en-US">
                <a:sym typeface="+mn-ea"/>
              </a:rPr>
              <a:t>深蓝战胜国际象棋选手卡斯帕罗夫，这个阶段专家系统推动AI应用发展。</a:t>
            </a:r>
            <a:endParaRPr lang="zh-CN" altLang="en-US"/>
          </a:p>
          <a:p>
            <a:r>
              <a:rPr lang="zh-CN" altLang="en-US">
                <a:sym typeface="+mn-ea"/>
              </a:rPr>
              <a:t>AI第三次浪潮：20世纪90年代末期~至今，大数据和深度学习时代，代表性时刻是</a:t>
            </a:r>
            <a:r>
              <a:rPr lang="en-US" altLang="zh-CN">
                <a:sym typeface="+mn-ea"/>
              </a:rPr>
              <a:t>AlphaGO</a:t>
            </a:r>
            <a:r>
              <a:rPr lang="zh-CN" altLang="en-US">
                <a:sym typeface="+mn-ea"/>
              </a:rPr>
              <a:t>战胜了李世石和柯洁，引发了第三次浪潮</a:t>
            </a:r>
            <a:endParaRPr lang="zh-CN" altLang="en-US"/>
          </a:p>
          <a:p>
            <a:r>
              <a:rPr lang="zh-CN" altLang="en-US">
                <a:sym typeface="+mn-ea"/>
              </a:rPr>
              <a:t>ChatGPT掀起第四次AI浪潮，也是从弱人工智能到强人工智能关键阶段</a:t>
            </a:r>
            <a:endParaRPr lang="zh-CN" altLang="en-US">
              <a:sym typeface="+mn-ea"/>
            </a:endParaRPr>
          </a:p>
          <a:p>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4" name="灯片编号占位符 3"/>
          <p:cNvSpPr>
            <a:spLocks noGrp="1"/>
          </p:cNvSpPr>
          <p:nvPr>
            <p:ph type="sldNum" sz="quarter" idx="10"/>
          </p:nvPr>
        </p:nvSpPr>
        <p:spPr/>
        <p:txBody>
          <a:bodyPr/>
          <a:lstStyle/>
          <a:p>
            <a:fld id="{8923550C-0EAD-42A3-AC8C-7F87D0B3B98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 </a:t>
            </a:r>
            <a:r>
              <a:rPr lang="zh-CN" altLang="en-US"/>
              <a:t>在人工智能领域，算力、算法和数据作为核心三要素，可类比为真实人类以下三个维度的能力或特征：</a:t>
            </a:r>
            <a:endParaRPr lang="zh-CN" altLang="en-US"/>
          </a:p>
          <a:p>
            <a:r>
              <a:rPr lang="en-US" altLang="zh-CN"/>
              <a:t>1. ​</a:t>
            </a:r>
            <a:r>
              <a:rPr lang="zh-CN" altLang="en-US"/>
              <a:t>算力</a:t>
            </a:r>
            <a:r>
              <a:rPr lang="en-US" altLang="zh-CN"/>
              <a:t> </a:t>
            </a:r>
            <a:r>
              <a:rPr lang="en-US" altLang="en-US"/>
              <a:t>→</a:t>
            </a:r>
            <a:r>
              <a:rPr lang="en-US" altLang="zh-CN"/>
              <a:t> </a:t>
            </a:r>
            <a:r>
              <a:rPr lang="zh-CN" altLang="en-US"/>
              <a:t>体力</a:t>
            </a:r>
            <a:r>
              <a:rPr lang="en-US" altLang="zh-CN"/>
              <a:t>/</a:t>
            </a:r>
            <a:r>
              <a:rPr lang="zh-CN" altLang="en-US"/>
              <a:t>脑力（生理基础）</a:t>
            </a:r>
            <a:r>
              <a:rPr lang="en-US" altLang="zh-CN"/>
              <a:t>​</a:t>
            </a:r>
            <a:endParaRPr lang="en-US" altLang="zh-CN"/>
          </a:p>
          <a:p>
            <a:r>
              <a:rPr lang="zh-CN" altLang="en-US"/>
              <a:t>算力对应人类的生理机能，既包括大脑的运算能力（如神经元处理信息的速度和并行性），也包括体力支撑的持续性。算力如同人类的</a:t>
            </a:r>
            <a:r>
              <a:rPr lang="en-US" altLang="zh-CN"/>
              <a:t>“</a:t>
            </a:r>
            <a:r>
              <a:rPr lang="zh-CN" altLang="en-US"/>
              <a:t>能源系统</a:t>
            </a:r>
            <a:r>
              <a:rPr lang="en-US" altLang="zh-CN"/>
              <a:t>”</a:t>
            </a:r>
            <a:r>
              <a:rPr lang="zh-CN" altLang="en-US"/>
              <a:t>，决定了信息处理的上限和效率。例如，</a:t>
            </a:r>
            <a:r>
              <a:rPr lang="en-US" altLang="zh-CN"/>
              <a:t>AI</a:t>
            </a:r>
            <a:r>
              <a:rPr lang="zh-CN" altLang="en-US"/>
              <a:t>数字人需要高算力支持实时渲染逼真表情、动作捕捉和语音交互，这类似于人类依靠体力维持长时间活动，或脑力支撑复杂思考。</a:t>
            </a:r>
            <a:endParaRPr lang="en-US" altLang="zh-CN"/>
          </a:p>
          <a:p>
            <a:r>
              <a:rPr lang="en-US" altLang="zh-CN"/>
              <a:t>2. ​</a:t>
            </a:r>
            <a:r>
              <a:rPr lang="zh-CN" altLang="en-US"/>
              <a:t>算法</a:t>
            </a:r>
            <a:r>
              <a:rPr lang="en-US" altLang="zh-CN"/>
              <a:t> </a:t>
            </a:r>
            <a:r>
              <a:rPr lang="en-US" altLang="en-US"/>
              <a:t>→</a:t>
            </a:r>
            <a:r>
              <a:rPr lang="en-US" altLang="zh-CN"/>
              <a:t> </a:t>
            </a:r>
            <a:r>
              <a:rPr lang="zh-CN" altLang="en-US"/>
              <a:t>思维方式（逻辑与决策）</a:t>
            </a:r>
            <a:r>
              <a:rPr lang="en-US" altLang="zh-CN"/>
              <a:t>​</a:t>
            </a:r>
            <a:endParaRPr lang="en-US" altLang="zh-CN"/>
          </a:p>
          <a:p>
            <a:r>
              <a:rPr lang="zh-CN" altLang="en-US"/>
              <a:t>算法对应人类的思维模式与决策逻辑，包括经验归纳、推理判断和自适应能力。例如，</a:t>
            </a:r>
            <a:r>
              <a:rPr lang="en-US" altLang="zh-CN"/>
              <a:t>AI</a:t>
            </a:r>
            <a:r>
              <a:rPr lang="zh-CN" altLang="en-US"/>
              <a:t>数字人通过算法实现自然语言理解、个性化交互和持续学习，这类似于人类通过教育、实践形成的知识体系和应变智慧。算法中的深度学习框架（如</a:t>
            </a:r>
            <a:r>
              <a:rPr lang="en-US" altLang="zh-CN"/>
              <a:t>NLP</a:t>
            </a:r>
            <a:r>
              <a:rPr lang="zh-CN" altLang="en-US"/>
              <a:t>模型）可类比人类通过经验积累优化决策路径的过程。</a:t>
            </a:r>
            <a:endParaRPr lang="zh-CN" altLang="en-US"/>
          </a:p>
          <a:p>
            <a:r>
              <a:rPr lang="en-US" altLang="zh-CN"/>
              <a:t>3. ​</a:t>
            </a:r>
            <a:r>
              <a:rPr lang="zh-CN" altLang="en-US"/>
              <a:t>数据</a:t>
            </a:r>
            <a:r>
              <a:rPr lang="en-US" altLang="zh-CN"/>
              <a:t> </a:t>
            </a:r>
            <a:r>
              <a:rPr lang="en-US" altLang="en-US"/>
              <a:t>→</a:t>
            </a:r>
            <a:r>
              <a:rPr lang="en-US" altLang="zh-CN"/>
              <a:t> </a:t>
            </a:r>
            <a:r>
              <a:rPr lang="zh-CN" altLang="en-US"/>
              <a:t>经验与知识库（信息积累）</a:t>
            </a:r>
            <a:r>
              <a:rPr lang="en-US" altLang="zh-CN"/>
              <a:t>​</a:t>
            </a:r>
            <a:endParaRPr lang="en-US" altLang="zh-CN"/>
          </a:p>
          <a:p>
            <a:r>
              <a:rPr lang="zh-CN" altLang="en-US"/>
              <a:t>数据对应人类的经验储备与知识库，是训练和优化的基础。</a:t>
            </a:r>
            <a:r>
              <a:rPr lang="en-US" altLang="zh-CN"/>
              <a:t>AI</a:t>
            </a:r>
            <a:r>
              <a:rPr lang="zh-CN" altLang="en-US"/>
              <a:t>数字人通过海量数据学习语言模式、表情动作和文化习惯，如同人类通过阅读、观察和社会互动积累认知。数据的多样性和质量直接影响</a:t>
            </a:r>
            <a:r>
              <a:rPr lang="en-US" altLang="zh-CN"/>
              <a:t>AI</a:t>
            </a:r>
            <a:r>
              <a:rPr lang="zh-CN" altLang="en-US"/>
              <a:t>的</a:t>
            </a:r>
            <a:r>
              <a:rPr lang="en-US" altLang="zh-CN"/>
              <a:t>“</a:t>
            </a:r>
            <a:r>
              <a:rPr lang="zh-CN" altLang="en-US"/>
              <a:t>成熟度</a:t>
            </a:r>
            <a:r>
              <a:rPr lang="en-US" altLang="zh-CN"/>
              <a:t>”</a:t>
            </a:r>
            <a:r>
              <a:rPr lang="zh-CN" altLang="en-US"/>
              <a:t>，正如个体的知识广度与深度影响其能力边界。</a:t>
            </a:r>
            <a:endParaRPr lang="en-US" altLang="zh-CN"/>
          </a:p>
          <a:p>
            <a:r>
              <a:rPr lang="zh-CN" altLang="en-US"/>
              <a:t>总结：三者共同构成</a:t>
            </a:r>
            <a:r>
              <a:rPr lang="en-US" altLang="zh-CN"/>
              <a:t>AI</a:t>
            </a:r>
            <a:r>
              <a:rPr lang="zh-CN" altLang="en-US"/>
              <a:t>的</a:t>
            </a:r>
            <a:r>
              <a:rPr lang="en-US" altLang="zh-CN"/>
              <a:t>“</a:t>
            </a:r>
            <a:r>
              <a:rPr lang="zh-CN" altLang="en-US"/>
              <a:t>类人化</a:t>
            </a:r>
            <a:r>
              <a:rPr lang="en-US" altLang="zh-CN"/>
              <a:t>”</a:t>
            </a:r>
            <a:r>
              <a:rPr lang="zh-CN" altLang="en-US"/>
              <a:t>基础</a:t>
            </a:r>
            <a:r>
              <a:rPr lang="en-US" altLang="zh-CN"/>
              <a:t>——</a:t>
            </a:r>
            <a:r>
              <a:rPr lang="zh-CN" altLang="en-US"/>
              <a:t>算力提供运行保障（生理），算法构建逻辑框架（思维），数据填充认知内容（经验）。这一类比揭示了</a:t>
            </a:r>
            <a:r>
              <a:rPr lang="en-US" altLang="zh-CN"/>
              <a:t>AI</a:t>
            </a:r>
            <a:r>
              <a:rPr lang="zh-CN" altLang="en-US"/>
              <a:t>技术模拟人类智能的本质路径。</a:t>
            </a:r>
            <a:endParaRPr lang="zh-CN" altLang="en-US"/>
          </a:p>
          <a:p>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我们了解大模型，有相关术语，多模态，对应之前的多媒体。这些模型相当于是各种各样的工具，可以帮助我们减轻脑力劳动，汽车的发明，蒸汽机的发明解决了人类的体力劳动，大模型</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ai</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的发明减轻了我们人类的脑力劳动。让办公，让处理事情变得更加简单。</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今天我们的课程，这里面每一个模块的典型工具，我们都会带着大家体验一把。</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4" name="灯片编号占位符 3"/>
          <p:cNvSpPr>
            <a:spLocks noGrp="1"/>
          </p:cNvSpPr>
          <p:nvPr>
            <p:ph type="sldNum" sz="quarter" idx="10"/>
          </p:nvPr>
        </p:nvSpPr>
        <p:spPr/>
        <p:txBody>
          <a:bodyPr/>
          <a:lstStyle/>
          <a:p>
            <a:fld id="{8923550C-0EAD-42A3-AC8C-7F87D0B3B98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4" name="灯片编号占位符 3"/>
          <p:cNvSpPr>
            <a:spLocks noGrp="1"/>
          </p:cNvSpPr>
          <p:nvPr>
            <p:ph type="sldNum" sz="quarter" idx="10"/>
          </p:nvPr>
        </p:nvSpPr>
        <p:spPr/>
        <p:txBody>
          <a:bodyPr/>
          <a:lstStyle/>
          <a:p>
            <a:fld id="{8923550C-0EAD-42A3-AC8C-7F87D0B3B98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人工智能的大模型其实并没有大家想想的智能，他们只是通读了互联网上大多数的语料，基于数学的概率学去预测下一个出现字的</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概率。</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a:p>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熟读唐诗三百首，不会写来也会诌。</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感受推理模型和生成模型的区别。</a:t>
            </a:r>
            <a:b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b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「让</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ai</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输出一句问候语」</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---&gt; </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「让</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ai</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输出一句有中山特色的问候语」</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a:p>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客户是黑龙江来的，给他输出一句有中山特色的问候语</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a:p>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客户是黑龙江来的，喜欢吃烤乳鸽，给他输出一句有中山特色的问候语</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a:p>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4" name="灯片编号占位符 3"/>
          <p:cNvSpPr>
            <a:spLocks noGrp="1"/>
          </p:cNvSpPr>
          <p:nvPr>
            <p:ph type="sldNum" sz="quarter" idx="10"/>
          </p:nvPr>
        </p:nvSpPr>
        <p:spPr/>
        <p:txBody>
          <a:bodyPr/>
          <a:lstStyle/>
          <a:p>
            <a:fld id="{8923550C-0EAD-42A3-AC8C-7F87D0B3B98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deepseek</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被称为国运的研发，</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 </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直接让中国在这场人工智能的竞赛中处于了</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世界头部的</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赛道。</a:t>
            </a:r>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这三个图，概括了</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deepseek</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的重大影响，第一第二行业平均的</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1/10</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，并且还是赚钱的，</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openai</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定价的</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1/30  </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第三，总的讲就是牛逼。模型开源，可以本地部署，私有化部署，不用担心信息泄露的问题，今天我们晚点也会给大家讲一讲</a:t>
            </a:r>
            <a:r>
              <a:rPr lang="en-US" altLang="zh-CN"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 deepseek</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的本地化</a:t>
            </a:r>
            <a:r>
              <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部署。</a:t>
            </a:r>
            <a:endParaRPr lang="zh-CN" altLang="en-US" noProof="0" dirty="0">
              <a:ln>
                <a:noFill/>
              </a:ln>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4" name="灯片编号占位符 3"/>
          <p:cNvSpPr>
            <a:spLocks noGrp="1"/>
          </p:cNvSpPr>
          <p:nvPr>
            <p:ph type="sldNum" sz="quarter" idx="10"/>
          </p:nvPr>
        </p:nvSpPr>
        <p:spPr/>
        <p:txBody>
          <a:bodyPr/>
          <a:lstStyle/>
          <a:p>
            <a:fld id="{8923550C-0EAD-42A3-AC8C-7F87D0B3B98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latin typeface="Source Han Sans CN Normal" panose="020B0200000000000000" charset="-122"/>
                <a:ea typeface="Source Han Sans CN Normal" panose="020B0200000000000000" charset="-122"/>
                <a:cs typeface="Source Han Sans CN Normal" panose="020B0200000000000000" charset="-122"/>
              </a:rPr>
              <a:t>一直提大模型，究竟什么事大模型呢？</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大模型是指拥有巨大参数量和复杂结构的人工智能模型。大家可能有疑问大模型和人工智能有啥关系呢？这里</a:t>
            </a:r>
            <a:r>
              <a:rPr>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AI大模型是</a:t>
            </a:r>
            <a:r>
              <a:rPr b="1" u="sng">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人工智能预训练大模型</a:t>
            </a:r>
            <a:r>
              <a:rPr>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的简称</a:t>
            </a:r>
            <a:r>
              <a:rPr lang="zh-CN">
                <a:solidFill>
                  <a:schemeClr val="bg2"/>
                </a:solidFill>
                <a:latin typeface="Source Han Sans CN Normal" panose="020B0200000000000000" charset="-122"/>
                <a:ea typeface="Source Han Sans CN Normal" panose="020B0200000000000000" charset="-122"/>
                <a:cs typeface="Source Han Sans CN Normal" panose="020B0200000000000000" charset="-122"/>
              </a:rPr>
              <a:t>。</a:t>
            </a:r>
            <a:endParaRPr lang="zh-CN">
              <a:solidFill>
                <a:schemeClr val="bg2"/>
              </a:solidFill>
              <a:latin typeface="Source Han Sans CN Normal" panose="020B0200000000000000" charset="-122"/>
              <a:ea typeface="Source Han Sans CN Normal" panose="020B0200000000000000" charset="-122"/>
              <a:cs typeface="Source Han Sans CN Normal" panose="020B0200000000000000" charset="-122"/>
            </a:endParaRPr>
          </a:p>
          <a:p>
            <a:r>
              <a:rPr lang="zh-CN" dirty="0">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从大模型开发方面，逐渐变成预训练</a:t>
            </a:r>
            <a:r>
              <a:rPr lang="en-US" altLang="zh-CN" dirty="0">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a:t>
            </a:r>
            <a:r>
              <a:rPr lang="zh-CN" altLang="en-US" dirty="0">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rPr>
              <a:t>精调的大模型开发范式，如何理解？</a:t>
            </a:r>
            <a:endParaRPr lang="zh-CN" altLang="en-US" dirty="0">
              <a:solidFill>
                <a:schemeClr val="bg2"/>
              </a:solidFill>
              <a:latin typeface="Source Han Sans CN Normal" panose="020B0200000000000000" charset="-122"/>
              <a:ea typeface="Source Han Sans CN Normal" panose="020B0200000000000000" charset="-122"/>
              <a:cs typeface="Source Han Sans CN Normal" panose="020B0200000000000000" charset="-122"/>
              <a:sym typeface="+mn-ea"/>
            </a:endParaRPr>
          </a:p>
          <a:p>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大模型首先通过海量数据的自监督学习阶段完成了“通识”教育。大模型相当于是对人类社会百科全书的压缩。</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 </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一个预训练的大模型就相当于一个刚刚毕业的</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211 985</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的大学生。</a:t>
            </a:r>
            <a:endParaRPr lang="zh-CN" altLang="en-US" dirty="0">
              <a:solidFill>
                <a:schemeClr val="tx1"/>
              </a:solidFill>
              <a:latin typeface="Source Han Sans CN Normal" panose="020B0200000000000000" charset="-122"/>
              <a:ea typeface="Source Han Sans CN Normal" panose="020B0200000000000000" charset="-122"/>
              <a:cs typeface="Source Han Sans CN Normal" panose="020B0200000000000000" charset="-122"/>
            </a:endParaRPr>
          </a:p>
          <a:p>
            <a:pPr>
              <a:lnSpc>
                <a:spcPct val="150000"/>
              </a:lnSpc>
            </a:pP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接着，通过“预训练+精调”等模式，根据垂直领域应用场景的特性，用少量数据进行相应微调。从而更好适应各个业务领域问答。</a:t>
            </a:r>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这部分作为大家了解</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DeepSeek</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背后的大模型原理机制，一只青蛙</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4</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条腿，扑通一声跳下水，</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2</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只青蛙</a:t>
            </a:r>
            <a:r>
              <a:rPr lang="en-US" altLang="zh-CN" dirty="0">
                <a:latin typeface="Source Han Sans CN Normal" panose="020B0200000000000000" charset="-122"/>
                <a:ea typeface="Source Han Sans CN Normal" panose="020B0200000000000000" charset="-122"/>
                <a:cs typeface="Source Han Sans CN Normal" panose="020B0200000000000000" charset="-122"/>
                <a:sym typeface="+mn-ea"/>
              </a:rPr>
              <a:t>8</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条腿，扑通扑通</a:t>
            </a:r>
            <a:r>
              <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rPr>
              <a:t>跳下水。</a:t>
            </a:r>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latin typeface="Source Han Sans CN Normal" panose="020B0200000000000000" charset="-122"/>
              <a:ea typeface="Source Han Sans CN Normal" panose="020B0200000000000000" charset="-122"/>
              <a:cs typeface="Source Han Sans CN Normal" panose="020B0200000000000000" charset="-122"/>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tags" Target="../tags/tag1.xml"/><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总目录页">
    <p:spTree>
      <p:nvGrpSpPr>
        <p:cNvPr id="1" name=""/>
        <p:cNvGrpSpPr/>
        <p:nvPr/>
      </p:nvGrpSpPr>
      <p:grpSpPr>
        <a:xfrm>
          <a:off x="0" y="0"/>
          <a:ext cx="0" cy="0"/>
          <a:chOff x="0" y="0"/>
          <a:chExt cx="0" cy="0"/>
        </a:xfrm>
      </p:grpSpPr>
      <p:pic>
        <p:nvPicPr>
          <p:cNvPr id="2" name="图片 1" descr="内容页面@3x"/>
          <p:cNvPicPr>
            <a:picLocks noChangeAspect="1"/>
          </p:cNvPicPr>
          <p:nvPr userDrawn="1"/>
        </p:nvPicPr>
        <p:blipFill>
          <a:blip r:embed="rId2"/>
          <a:stretch>
            <a:fillRect/>
          </a:stretch>
        </p:blipFill>
        <p:spPr>
          <a:xfrm>
            <a:off x="-26035" y="-114935"/>
            <a:ext cx="12275185" cy="6993255"/>
          </a:xfrm>
          <a:prstGeom prst="rect">
            <a:avLst/>
          </a:prstGeom>
        </p:spPr>
      </p:pic>
      <p:pic>
        <p:nvPicPr>
          <p:cNvPr id="5" name="图片 4" descr="目录页面@3x"/>
          <p:cNvPicPr>
            <a:picLocks noChangeAspect="1"/>
          </p:cNvPicPr>
          <p:nvPr userDrawn="1"/>
        </p:nvPicPr>
        <p:blipFill>
          <a:blip r:embed="rId3"/>
          <a:stretch>
            <a:fillRect/>
          </a:stretch>
        </p:blipFill>
        <p:spPr>
          <a:xfrm>
            <a:off x="-119380" y="-130175"/>
            <a:ext cx="12476480" cy="7049770"/>
          </a:xfrm>
          <a:prstGeom prst="rect">
            <a:avLst/>
          </a:prstGeom>
        </p:spPr>
      </p:pic>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938700" y="312229"/>
            <a:ext cx="1363703" cy="40288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 name="图片 1" descr="封面@3x"/>
          <p:cNvPicPr>
            <a:picLocks noChangeAspect="1"/>
          </p:cNvPicPr>
          <p:nvPr userDrawn="1"/>
        </p:nvPicPr>
        <p:blipFill>
          <a:blip r:embed="rId2"/>
          <a:stretch>
            <a:fillRect/>
          </a:stretch>
        </p:blipFill>
        <p:spPr>
          <a:xfrm>
            <a:off x="-41963" y="-187960"/>
            <a:ext cx="12251055" cy="7045960"/>
          </a:xfrm>
          <a:prstGeom prst="rect">
            <a:avLst/>
          </a:pr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38700" y="312229"/>
            <a:ext cx="1363703" cy="402887"/>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尾页">
    <p:spTree>
      <p:nvGrpSpPr>
        <p:cNvPr id="1" name=""/>
        <p:cNvGrpSpPr/>
        <p:nvPr/>
      </p:nvGrpSpPr>
      <p:grpSpPr>
        <a:xfrm>
          <a:off x="0" y="0"/>
          <a:ext cx="0" cy="0"/>
          <a:chOff x="0" y="0"/>
          <a:chExt cx="0" cy="0"/>
        </a:xfrm>
      </p:grpSpPr>
      <p:pic>
        <p:nvPicPr>
          <p:cNvPr id="2" name="图片 1" descr="尾页@3x"/>
          <p:cNvPicPr>
            <a:picLocks noChangeAspect="1"/>
          </p:cNvPicPr>
          <p:nvPr userDrawn="1"/>
        </p:nvPicPr>
        <p:blipFill>
          <a:blip r:embed="rId2"/>
          <a:stretch>
            <a:fillRect/>
          </a:stretch>
        </p:blipFill>
        <p:spPr>
          <a:xfrm>
            <a:off x="-199390" y="-415925"/>
            <a:ext cx="12420600" cy="7273925"/>
          </a:xfrm>
          <a:prstGeom prst="rect">
            <a:avLst/>
          </a:prstGeom>
        </p:spPr>
      </p:pic>
      <p:pic>
        <p:nvPicPr>
          <p:cNvPr id="4" name="图片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938700" y="312229"/>
            <a:ext cx="1363703" cy="402887"/>
          </a:xfrm>
          <a:prstGeom prst="rect">
            <a:avLst/>
          </a:prstGeom>
        </p:spPr>
      </p:pic>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userDrawn="1"/>
        </p:nvPicPr>
        <p:blipFill>
          <a:blip r:embed="rId2"/>
          <a:stretch>
            <a:fillRect/>
          </a:stretch>
        </p:blipFill>
        <p:spPr>
          <a:xfrm>
            <a:off x="0" y="0"/>
            <a:ext cx="12192000" cy="6858000"/>
          </a:xfrm>
          <a:prstGeom prst="rect">
            <a:avLst/>
          </a:prstGeom>
        </p:spPr>
      </p:pic>
      <p:sp>
        <p:nvSpPr>
          <p:cNvPr id="3" name="Shape 0"/>
          <p:cNvSpPr/>
          <p:nvPr userDrawn="1"/>
        </p:nvSpPr>
        <p:spPr>
          <a:xfrm>
            <a:off x="0" y="0"/>
            <a:ext cx="12192000" cy="6858000"/>
          </a:xfrm>
          <a:prstGeom prst="rect">
            <a:avLst/>
          </a:prstGeom>
          <a:solidFill>
            <a:srgbClr val="0A081B">
              <a:alpha val="75000"/>
            </a:srgbClr>
          </a:solidFill>
        </p:spPr>
      </p:sp>
      <p:pic>
        <p:nvPicPr>
          <p:cNvPr id="6" name="图片 5" descr="山麓-白"/>
          <p:cNvPicPr>
            <a:picLocks noChangeAspect="1"/>
          </p:cNvPicPr>
          <p:nvPr userDrawn="1">
            <p:custDataLst>
              <p:tags r:id="rId3"/>
            </p:custDataLst>
          </p:nvPr>
        </p:nvPicPr>
        <p:blipFill>
          <a:blip r:embed="rId4"/>
          <a:stretch>
            <a:fillRect/>
          </a:stretch>
        </p:blipFill>
        <p:spPr>
          <a:xfrm>
            <a:off x="11350096" y="97367"/>
            <a:ext cx="731838" cy="43867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3.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descr="内容页面@3x"/>
          <p:cNvPicPr>
            <a:picLocks noChangeAspect="1"/>
          </p:cNvPicPr>
          <p:nvPr userDrawn="1"/>
        </p:nvPicPr>
        <p:blipFill>
          <a:blip r:embed="rId9"/>
          <a:stretch>
            <a:fillRect/>
          </a:stretch>
        </p:blipFill>
        <p:spPr>
          <a:xfrm>
            <a:off x="-26035" y="-114935"/>
            <a:ext cx="12275185" cy="6993255"/>
          </a:xfrm>
          <a:prstGeom prst="rect">
            <a:avLst/>
          </a:prstGeom>
        </p:spPr>
      </p:pic>
      <p:pic>
        <p:nvPicPr>
          <p:cNvPr id="3" name="图片 2"/>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9938700" y="312229"/>
            <a:ext cx="1363703" cy="40288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2.xml"/><Relationship Id="rId7" Type="http://schemas.openxmlformats.org/officeDocument/2006/relationships/image" Target="../media/image16.svg"/><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21.png"/><Relationship Id="rId2" Type="http://schemas.openxmlformats.org/officeDocument/2006/relationships/tags" Target="../tags/tag3.xml"/><Relationship Id="rId10" Type="http://schemas.openxmlformats.org/officeDocument/2006/relationships/notesSlide" Target="../notesSlides/notesSlide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tags" Target="../tags/tag10.xml"/><Relationship Id="rId1" Type="http://schemas.openxmlformats.org/officeDocument/2006/relationships/tags" Target="../tags/tag9.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tags" Target="../tags/tag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94198" y="202868"/>
            <a:ext cx="5123180" cy="645160"/>
          </a:xfrm>
          <a:prstGeom prst="rect">
            <a:avLst/>
          </a:prstGeom>
          <a:noFill/>
        </p:spPr>
        <p:txBody>
          <a:bodyPr wrap="square" lIns="91440" tIns="45720" rIns="91440" bIns="45720" rtlCol="0" anchor="t">
            <a:spAutoFit/>
            <a:scene3d>
              <a:camera prst="orthographicFront"/>
              <a:lightRig rig="threePt" dir="t"/>
            </a:scene3d>
            <a:sp3d contourW="12700"/>
          </a:bodyPr>
          <a:lstStyle/>
          <a:p>
            <a:pPr lvl="0">
              <a:lnSpc>
                <a:spcPct val="150000"/>
              </a:lnSpc>
            </a:pP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人工智能的发展历程</a:t>
            </a:r>
            <a:endParaRPr lang="en-US" altLang="zh-CN" sz="2400" b="1" noProof="0" dirty="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26" name="ï$liḑé"/>
          <p:cNvSpPr/>
          <p:nvPr/>
        </p:nvSpPr>
        <p:spPr>
          <a:xfrm rot="19200000">
            <a:off x="3580006" y="307467"/>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图片 2" descr="企业微信截图_174067711057"/>
          <p:cNvPicPr>
            <a:picLocks noChangeAspect="1"/>
          </p:cNvPicPr>
          <p:nvPr/>
        </p:nvPicPr>
        <p:blipFill>
          <a:blip r:embed="rId1"/>
          <a:stretch>
            <a:fillRect/>
          </a:stretch>
        </p:blipFill>
        <p:spPr>
          <a:xfrm>
            <a:off x="963295" y="1497330"/>
            <a:ext cx="10264775" cy="4797425"/>
          </a:xfrm>
          <a:prstGeom prst="rect">
            <a:avLst/>
          </a:prstGeom>
        </p:spPr>
      </p:pic>
    </p:spTree>
  </p:cSld>
  <p:clrMapOvr>
    <a:masterClrMapping/>
  </p:clrMapOvr>
  <p:transition spd="slow" advTm="200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2835910" y="2107565"/>
            <a:ext cx="6520180" cy="1198880"/>
          </a:xfrm>
          <a:prstGeom prst="rect">
            <a:avLst/>
          </a:prstGeom>
          <a:noFill/>
          <a:ln>
            <a:noFill/>
          </a:ln>
        </p:spPr>
        <p:txBody>
          <a:bodyPr wrap="none" rtlCol="0" anchor="t">
            <a:spAutoFit/>
          </a:bodyPr>
          <a:p>
            <a:pPr algn="ctr"/>
            <a:r>
              <a:rPr lang="zh-CN" altLang="en-US" sz="7200" b="1">
                <a:solidFill>
                  <a:schemeClr val="tx1"/>
                </a:solidFill>
                <a:effectLst>
                  <a:outerShdw blurRad="38100" dist="19050" dir="2700000" algn="tl" rotWithShape="0">
                    <a:schemeClr val="dk1">
                      <a:alpha val="40000"/>
                    </a:schemeClr>
                  </a:outerShdw>
                </a:effectLst>
              </a:rPr>
              <a:t>算力</a:t>
            </a:r>
            <a:r>
              <a:rPr lang="en-US" altLang="zh-CN" sz="7200" b="1">
                <a:solidFill>
                  <a:schemeClr val="tx1"/>
                </a:solidFill>
                <a:effectLst>
                  <a:outerShdw blurRad="38100" dist="19050" dir="2700000" algn="tl" rotWithShape="0">
                    <a:schemeClr val="dk1">
                      <a:alpha val="40000"/>
                    </a:schemeClr>
                  </a:outerShdw>
                </a:effectLst>
              </a:rPr>
              <a:t>  </a:t>
            </a:r>
            <a:r>
              <a:rPr lang="zh-CN" altLang="en-US" sz="7200" b="1">
                <a:solidFill>
                  <a:schemeClr val="tx1"/>
                </a:solidFill>
                <a:effectLst>
                  <a:outerShdw blurRad="38100" dist="19050" dir="2700000" algn="tl" rotWithShape="0">
                    <a:schemeClr val="dk1">
                      <a:alpha val="40000"/>
                    </a:schemeClr>
                  </a:outerShdw>
                </a:effectLst>
              </a:rPr>
              <a:t>算法</a:t>
            </a:r>
            <a:r>
              <a:rPr lang="en-US" altLang="zh-CN" sz="7200" b="1">
                <a:solidFill>
                  <a:schemeClr val="tx1"/>
                </a:solidFill>
                <a:effectLst>
                  <a:outerShdw blurRad="38100" dist="19050" dir="2700000" algn="tl" rotWithShape="0">
                    <a:schemeClr val="dk1">
                      <a:alpha val="40000"/>
                    </a:schemeClr>
                  </a:outerShdw>
                </a:effectLst>
              </a:rPr>
              <a:t>  </a:t>
            </a:r>
            <a:r>
              <a:rPr lang="zh-CN" altLang="en-US" sz="7200" b="1">
                <a:solidFill>
                  <a:schemeClr val="tx1"/>
                </a:solidFill>
                <a:effectLst>
                  <a:outerShdw blurRad="38100" dist="19050" dir="2700000" algn="tl" rotWithShape="0">
                    <a:schemeClr val="dk1">
                      <a:alpha val="40000"/>
                    </a:schemeClr>
                  </a:outerShdw>
                </a:effectLst>
              </a:rPr>
              <a:t>数据</a:t>
            </a:r>
            <a:endParaRPr lang="zh-CN" altLang="en-US" sz="7200" b="1">
              <a:solidFill>
                <a:schemeClr val="tx1"/>
              </a:solidFill>
              <a:effectLst>
                <a:outerShdw blurRad="38100" dist="19050" dir="2700000" algn="tl" rotWithShape="0">
                  <a:schemeClr val="dk1">
                    <a:alpha val="40000"/>
                  </a:schemeClr>
                </a:outerShdw>
              </a:effectLst>
            </a:endParaRPr>
          </a:p>
        </p:txBody>
      </p:sp>
      <p:sp>
        <p:nvSpPr>
          <p:cNvPr id="4" name="矩形 3"/>
          <p:cNvSpPr/>
          <p:nvPr/>
        </p:nvSpPr>
        <p:spPr>
          <a:xfrm>
            <a:off x="3856355" y="3429000"/>
            <a:ext cx="4547870" cy="398780"/>
          </a:xfrm>
          <a:prstGeom prst="rect">
            <a:avLst/>
          </a:prstGeom>
          <a:noFill/>
          <a:ln>
            <a:noFill/>
          </a:ln>
        </p:spPr>
        <p:txBody>
          <a:bodyPr wrap="none" rtlCol="0" anchor="t">
            <a:spAutoFit/>
          </a:bodyPr>
          <a:p>
            <a:pPr algn="ctr"/>
            <a:r>
              <a:rPr lang="zh-CN" altLang="en-US" sz="2000" b="1">
                <a:solidFill>
                  <a:schemeClr val="tx1"/>
                </a:solidFill>
                <a:effectLst>
                  <a:outerShdw blurRad="38100" dist="19050" dir="2700000" algn="tl" rotWithShape="0">
                    <a:schemeClr val="dk1">
                      <a:alpha val="40000"/>
                    </a:schemeClr>
                  </a:outerShdw>
                </a:effectLst>
              </a:rPr>
              <a:t>体力</a:t>
            </a:r>
            <a:r>
              <a:rPr lang="en-US" altLang="zh-CN" sz="2000" b="1">
                <a:solidFill>
                  <a:schemeClr val="tx1"/>
                </a:solidFill>
                <a:effectLst>
                  <a:outerShdw blurRad="38100" dist="19050" dir="2700000" algn="tl" rotWithShape="0">
                    <a:schemeClr val="dk1">
                      <a:alpha val="40000"/>
                    </a:schemeClr>
                  </a:outerShdw>
                </a:effectLst>
              </a:rPr>
              <a:t>/</a:t>
            </a:r>
            <a:r>
              <a:rPr lang="zh-CN" altLang="en-US" sz="2000" b="1">
                <a:solidFill>
                  <a:schemeClr val="tx1"/>
                </a:solidFill>
                <a:effectLst>
                  <a:outerShdw blurRad="38100" dist="19050" dir="2700000" algn="tl" rotWithShape="0">
                    <a:schemeClr val="dk1">
                      <a:alpha val="40000"/>
                    </a:schemeClr>
                  </a:outerShdw>
                </a:effectLst>
              </a:rPr>
              <a:t>脑力，</a:t>
            </a:r>
            <a:r>
              <a:rPr lang="en-US" altLang="zh-CN" sz="2000" b="1">
                <a:solidFill>
                  <a:schemeClr val="tx1"/>
                </a:solidFill>
                <a:effectLst>
                  <a:outerShdw blurRad="38100" dist="19050" dir="2700000" algn="tl" rotWithShape="0">
                    <a:schemeClr val="dk1">
                      <a:alpha val="40000"/>
                    </a:schemeClr>
                  </a:outerShdw>
                </a:effectLst>
              </a:rPr>
              <a:t>  </a:t>
            </a:r>
            <a:r>
              <a:rPr lang="zh-CN" altLang="en-US" sz="2000" b="1">
                <a:solidFill>
                  <a:schemeClr val="tx1"/>
                </a:solidFill>
                <a:effectLst>
                  <a:outerShdw blurRad="38100" dist="19050" dir="2700000" algn="tl" rotWithShape="0">
                    <a:schemeClr val="dk1">
                      <a:alpha val="40000"/>
                    </a:schemeClr>
                  </a:outerShdw>
                </a:effectLst>
              </a:rPr>
              <a:t>思维方式，</a:t>
            </a:r>
            <a:r>
              <a:rPr lang="en-US" altLang="zh-CN" sz="2000" b="1">
                <a:solidFill>
                  <a:schemeClr val="tx1"/>
                </a:solidFill>
                <a:effectLst>
                  <a:outerShdw blurRad="38100" dist="19050" dir="2700000" algn="tl" rotWithShape="0">
                    <a:schemeClr val="dk1">
                      <a:alpha val="40000"/>
                    </a:schemeClr>
                  </a:outerShdw>
                </a:effectLst>
              </a:rPr>
              <a:t> </a:t>
            </a:r>
            <a:r>
              <a:rPr lang="zh-CN" altLang="en-US" sz="2000" b="1">
                <a:solidFill>
                  <a:schemeClr val="tx1"/>
                </a:solidFill>
                <a:effectLst>
                  <a:outerShdw blurRad="38100" dist="19050" dir="2700000" algn="tl" rotWithShape="0">
                    <a:schemeClr val="dk1">
                      <a:alpha val="40000"/>
                    </a:schemeClr>
                  </a:outerShdw>
                </a:effectLst>
              </a:rPr>
              <a:t>经验和知识库</a:t>
            </a:r>
            <a:endParaRPr lang="zh-CN" altLang="en-US" sz="2000" b="1">
              <a:solidFill>
                <a:schemeClr val="tx1"/>
              </a:solidFill>
              <a:effectLst>
                <a:outerShdw blurRad="38100" dist="19050" dir="2700000" algn="tl" rotWithShape="0">
                  <a:schemeClr val="dk1">
                    <a:alpha val="40000"/>
                  </a:schemeClr>
                </a:outerShdw>
              </a:effectLst>
            </a:endParaRPr>
          </a:p>
        </p:txBody>
      </p:sp>
      <p:sp>
        <p:nvSpPr>
          <p:cNvPr id="7" name="文本框 6"/>
          <p:cNvSpPr txBox="1"/>
          <p:nvPr/>
        </p:nvSpPr>
        <p:spPr>
          <a:xfrm>
            <a:off x="209058" y="240333"/>
            <a:ext cx="5123180" cy="645160"/>
          </a:xfrm>
          <a:prstGeom prst="rect">
            <a:avLst/>
          </a:prstGeom>
          <a:noFill/>
        </p:spPr>
        <p:txBody>
          <a:bodyPr wrap="square" lIns="91440" tIns="45720" rIns="91440" bIns="45720" rtlCol="0" anchor="t">
            <a:spAutoFit/>
            <a:scene3d>
              <a:camera prst="orthographicFront"/>
              <a:lightRig rig="threePt" dir="t"/>
            </a:scene3d>
            <a:sp3d contourW="12700"/>
          </a:bodyPr>
          <a:p>
            <a:pPr lvl="0">
              <a:lnSpc>
                <a:spcPct val="150000"/>
              </a:lnSpc>
            </a:pP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大模型相关术语</a:t>
            </a:r>
            <a:endPar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209058" y="240333"/>
            <a:ext cx="5123180" cy="645160"/>
          </a:xfrm>
          <a:prstGeom prst="rect">
            <a:avLst/>
          </a:prstGeom>
          <a:noFill/>
        </p:spPr>
        <p:txBody>
          <a:bodyPr wrap="square" lIns="91440" tIns="45720" rIns="91440" bIns="45720" rtlCol="0" anchor="t">
            <a:spAutoFit/>
            <a:scene3d>
              <a:camera prst="orthographicFront"/>
              <a:lightRig rig="threePt" dir="t"/>
            </a:scene3d>
            <a:sp3d contourW="12700"/>
          </a:bodyPr>
          <a:lstStyle/>
          <a:p>
            <a:pPr lvl="0">
              <a:lnSpc>
                <a:spcPct val="150000"/>
              </a:lnSpc>
            </a:pP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大模型相关术语</a:t>
            </a:r>
            <a:endPar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26" name="ï$liḑé"/>
          <p:cNvSpPr/>
          <p:nvPr/>
        </p:nvSpPr>
        <p:spPr>
          <a:xfrm rot="19200000">
            <a:off x="2396366" y="344932"/>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p:nvPicPr>
        <p:blipFill>
          <a:blip r:embed="rId1"/>
          <a:stretch>
            <a:fillRect/>
          </a:stretch>
        </p:blipFill>
        <p:spPr>
          <a:xfrm>
            <a:off x="3147695" y="1452880"/>
            <a:ext cx="8960485" cy="4494530"/>
          </a:xfrm>
          <a:prstGeom prst="rect">
            <a:avLst/>
          </a:prstGeom>
        </p:spPr>
      </p:pic>
      <p:sp>
        <p:nvSpPr>
          <p:cNvPr id="3" name="文本框 2"/>
          <p:cNvSpPr txBox="1"/>
          <p:nvPr/>
        </p:nvSpPr>
        <p:spPr>
          <a:xfrm>
            <a:off x="336550" y="1212298"/>
            <a:ext cx="3486381" cy="506730"/>
          </a:xfrm>
          <a:prstGeom prst="rect">
            <a:avLst/>
          </a:prstGeom>
          <a:noFill/>
        </p:spPr>
        <p:txBody>
          <a:bodyPr wrap="square">
            <a:spAutoFit/>
          </a:bodyPr>
          <a:p>
            <a:pPr algn="l">
              <a:lnSpc>
                <a:spcPct val="150000"/>
              </a:lnSpc>
              <a:spcAft>
                <a:spcPts val="600"/>
              </a:spcAft>
            </a:pP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通用</a:t>
            </a: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大模型：</a:t>
            </a:r>
            <a:endPar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endParaRPr>
          </a:p>
        </p:txBody>
      </p:sp>
      <p:sp>
        <p:nvSpPr>
          <p:cNvPr id="21" name="文本框 20"/>
          <p:cNvSpPr txBox="1"/>
          <p:nvPr/>
        </p:nvSpPr>
        <p:spPr>
          <a:xfrm>
            <a:off x="597535" y="1718522"/>
            <a:ext cx="2738547" cy="1491615"/>
          </a:xfrm>
          <a:prstGeom prst="rect">
            <a:avLst/>
          </a:prstGeom>
          <a:noFill/>
        </p:spPr>
        <p:txBody>
          <a:bodyPr wrap="square">
            <a:spAutoFit/>
          </a:bodyPr>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大语言模型</a:t>
            </a:r>
            <a:r>
              <a:rPr lang="en-US" altLang="zh-CN" b="0" i="0" dirty="0">
                <a:solidFill>
                  <a:srgbClr val="222222"/>
                </a:solidFill>
                <a:effectLst/>
                <a:latin typeface="思源黑体 CN Normal" panose="020B0200000000000000" pitchFamily="34" charset="-122"/>
                <a:ea typeface="思源黑体 CN Normal" panose="020B0200000000000000" pitchFamily="34" charset="-122"/>
              </a:rPr>
              <a:t>LLM</a:t>
            </a:r>
            <a:endParaRPr lang="en-US" altLang="zh-CN" b="0" i="0" dirty="0">
              <a:solidFill>
                <a:srgbClr val="222222"/>
              </a:solidFill>
              <a:effectLst/>
              <a:latin typeface="思源黑体 CN Normal" panose="020B0200000000000000" pitchFamily="34" charset="-122"/>
              <a:ea typeface="思源黑体 CN Normal" panose="020B0200000000000000" pitchFamily="34" charset="-122"/>
            </a:endParaRPr>
          </a:p>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视频</a:t>
            </a:r>
            <a:r>
              <a:rPr lang="en-US" altLang="zh-CN" b="0" i="0" dirty="0">
                <a:solidFill>
                  <a:srgbClr val="222222"/>
                </a:solidFill>
                <a:effectLst/>
                <a:latin typeface="思源黑体 CN Normal" panose="020B0200000000000000" pitchFamily="34" charset="-122"/>
                <a:ea typeface="思源黑体 CN Normal" panose="020B0200000000000000" pitchFamily="34" charset="-122"/>
              </a:rPr>
              <a:t>/</a:t>
            </a: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语音模型</a:t>
            </a:r>
            <a:endParaRPr lang="zh-CN" altLang="en-US" b="0" i="0" dirty="0">
              <a:solidFill>
                <a:srgbClr val="222222"/>
              </a:solidFill>
              <a:effectLst/>
              <a:latin typeface="思源黑体 CN Normal" panose="020B0200000000000000" pitchFamily="34" charset="-122"/>
              <a:ea typeface="思源黑体 CN Normal" panose="020B0200000000000000" pitchFamily="34" charset="-122"/>
            </a:endParaRPr>
          </a:p>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多模态</a:t>
            </a: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大模型</a:t>
            </a:r>
            <a:endParaRPr lang="zh-CN" altLang="en-US" b="0" i="0" dirty="0">
              <a:solidFill>
                <a:srgbClr val="222222"/>
              </a:solidFill>
              <a:effectLst/>
              <a:latin typeface="思源黑体 CN Normal" panose="020B0200000000000000" pitchFamily="34" charset="-122"/>
              <a:ea typeface="思源黑体 CN Normal" panose="020B0200000000000000" pitchFamily="34" charset="-122"/>
            </a:endParaRPr>
          </a:p>
        </p:txBody>
      </p:sp>
      <p:sp>
        <p:nvSpPr>
          <p:cNvPr id="4" name="文本框 3"/>
          <p:cNvSpPr txBox="1"/>
          <p:nvPr/>
        </p:nvSpPr>
        <p:spPr>
          <a:xfrm>
            <a:off x="336550" y="3096978"/>
            <a:ext cx="3486381" cy="506730"/>
          </a:xfrm>
          <a:prstGeom prst="rect">
            <a:avLst/>
          </a:prstGeom>
          <a:noFill/>
        </p:spPr>
        <p:txBody>
          <a:bodyPr wrap="square">
            <a:spAutoFit/>
          </a:bodyPr>
          <a:p>
            <a:pPr algn="l">
              <a:lnSpc>
                <a:spcPct val="150000"/>
              </a:lnSpc>
              <a:spcAft>
                <a:spcPts val="600"/>
              </a:spcAft>
            </a:pP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多模态：</a:t>
            </a:r>
            <a:endPar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endParaRPr>
          </a:p>
        </p:txBody>
      </p:sp>
      <p:sp>
        <p:nvSpPr>
          <p:cNvPr id="5" name="文本框 4"/>
          <p:cNvSpPr txBox="1"/>
          <p:nvPr/>
        </p:nvSpPr>
        <p:spPr>
          <a:xfrm>
            <a:off x="597535" y="3603837"/>
            <a:ext cx="2738547" cy="506730"/>
          </a:xfrm>
          <a:prstGeom prst="rect">
            <a:avLst/>
          </a:prstGeom>
          <a:noFill/>
        </p:spPr>
        <p:txBody>
          <a:bodyPr wrap="square">
            <a:spAutoFit/>
          </a:bodyPr>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文本、图片、</a:t>
            </a: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音频</a:t>
            </a:r>
            <a:endParaRPr lang="zh-CN" altLang="en-US" b="0" i="0" dirty="0">
              <a:solidFill>
                <a:srgbClr val="222222"/>
              </a:solidFill>
              <a:effectLst/>
              <a:latin typeface="思源黑体 CN Normal" panose="020B0200000000000000" pitchFamily="34" charset="-122"/>
              <a:ea typeface="思源黑体 CN Normal" panose="020B0200000000000000" pitchFamily="34" charset="-122"/>
            </a:endParaRPr>
          </a:p>
        </p:txBody>
      </p:sp>
      <p:sp>
        <p:nvSpPr>
          <p:cNvPr id="6" name="文本框 5"/>
          <p:cNvSpPr txBox="1"/>
          <p:nvPr/>
        </p:nvSpPr>
        <p:spPr>
          <a:xfrm>
            <a:off x="336550" y="4237438"/>
            <a:ext cx="3486381" cy="506730"/>
          </a:xfrm>
          <a:prstGeom prst="rect">
            <a:avLst/>
          </a:prstGeom>
          <a:noFill/>
        </p:spPr>
        <p:txBody>
          <a:bodyPr wrap="square">
            <a:spAutoFit/>
          </a:bodyPr>
          <a:p>
            <a:pPr algn="l">
              <a:lnSpc>
                <a:spcPct val="150000"/>
              </a:lnSpc>
              <a:spcAft>
                <a:spcPts val="600"/>
              </a:spcAft>
            </a:pP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行业模型（垂直</a:t>
            </a: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模型）：</a:t>
            </a:r>
            <a:endPar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endParaRPr>
          </a:p>
        </p:txBody>
      </p:sp>
      <p:sp>
        <p:nvSpPr>
          <p:cNvPr id="8" name="文本框 7"/>
          <p:cNvSpPr txBox="1"/>
          <p:nvPr/>
        </p:nvSpPr>
        <p:spPr>
          <a:xfrm>
            <a:off x="597535" y="4769062"/>
            <a:ext cx="2738547" cy="506730"/>
          </a:xfrm>
          <a:prstGeom prst="rect">
            <a:avLst/>
          </a:prstGeom>
          <a:noFill/>
        </p:spPr>
        <p:txBody>
          <a:bodyPr wrap="square">
            <a:spAutoFit/>
          </a:bodyPr>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教育、医疗、金融</a:t>
            </a: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等</a:t>
            </a:r>
            <a:endParaRPr lang="zh-CN" altLang="en-US" b="0" i="0" dirty="0">
              <a:solidFill>
                <a:srgbClr val="222222"/>
              </a:solidFill>
              <a:effectLst/>
              <a:latin typeface="思源黑体 CN Normal" panose="020B0200000000000000" pitchFamily="34" charset="-122"/>
              <a:ea typeface="思源黑体 CN Normal" panose="020B0200000000000000" pitchFamily="34" charset="-122"/>
            </a:endParaRPr>
          </a:p>
        </p:txBody>
      </p:sp>
      <p:sp>
        <p:nvSpPr>
          <p:cNvPr id="9" name="文本框 8"/>
          <p:cNvSpPr txBox="1"/>
          <p:nvPr/>
        </p:nvSpPr>
        <p:spPr>
          <a:xfrm>
            <a:off x="336550" y="5377898"/>
            <a:ext cx="3486381" cy="506730"/>
          </a:xfrm>
          <a:prstGeom prst="rect">
            <a:avLst/>
          </a:prstGeom>
          <a:noFill/>
        </p:spPr>
        <p:txBody>
          <a:bodyPr wrap="square">
            <a:spAutoFit/>
          </a:bodyPr>
          <a:p>
            <a:pPr algn="l">
              <a:lnSpc>
                <a:spcPct val="150000"/>
              </a:lnSpc>
              <a:spcAft>
                <a:spcPts val="600"/>
              </a:spcAft>
            </a:pPr>
            <a:r>
              <a:rPr lang="en-US" altLang="zh-CN"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AI</a:t>
            </a:r>
            <a:r>
              <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rPr>
              <a:t>工具：</a:t>
            </a:r>
            <a:endParaRPr lang="zh-CN" altLang="en-US" i="0" dirty="0">
              <a:solidFill>
                <a:srgbClr val="222222"/>
              </a:solidFill>
              <a:effectLst/>
              <a:latin typeface="思源黑体 CN Medium" panose="020B0200000000000000" pitchFamily="34" charset="-122"/>
              <a:ea typeface="思源黑体 CN Medium" panose="020B0200000000000000" pitchFamily="34" charset="-122"/>
              <a:cs typeface="Alibaba PuHuiTi Regular" panose="00020600040101010101" charset="-122"/>
            </a:endParaRPr>
          </a:p>
        </p:txBody>
      </p:sp>
      <p:sp>
        <p:nvSpPr>
          <p:cNvPr id="10" name="文本框 9"/>
          <p:cNvSpPr txBox="1"/>
          <p:nvPr/>
        </p:nvSpPr>
        <p:spPr>
          <a:xfrm>
            <a:off x="597535" y="5896610"/>
            <a:ext cx="2974975" cy="506730"/>
          </a:xfrm>
          <a:prstGeom prst="rect">
            <a:avLst/>
          </a:prstGeom>
          <a:noFill/>
        </p:spPr>
        <p:txBody>
          <a:bodyPr wrap="square">
            <a:spAutoFit/>
          </a:bodyPr>
          <a:p>
            <a:pPr marL="285750" indent="-285750" algn="l">
              <a:lnSpc>
                <a:spcPct val="150000"/>
              </a:lnSpc>
              <a:spcAft>
                <a:spcPts val="600"/>
              </a:spcAft>
              <a:buFont typeface="Wingdings" panose="05000000000000000000" pitchFamily="2" charset="2"/>
              <a:buChar char="Ø"/>
            </a:pP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豆包、</a:t>
            </a:r>
            <a:r>
              <a:rPr lang="en-US" altLang="zh-CN" b="0" i="0" dirty="0">
                <a:solidFill>
                  <a:srgbClr val="222222"/>
                </a:solidFill>
                <a:effectLst/>
                <a:latin typeface="思源黑体 CN Normal" panose="020B0200000000000000" pitchFamily="34" charset="-122"/>
                <a:ea typeface="思源黑体 CN Normal" panose="020B0200000000000000" pitchFamily="34" charset="-122"/>
              </a:rPr>
              <a:t>Kimi</a:t>
            </a:r>
            <a:r>
              <a:rPr lang="zh-CN" altLang="en-US" b="0" i="0" dirty="0">
                <a:solidFill>
                  <a:srgbClr val="222222"/>
                </a:solidFill>
                <a:effectLst/>
                <a:latin typeface="思源黑体 CN Normal" panose="020B0200000000000000" pitchFamily="34" charset="-122"/>
                <a:ea typeface="思源黑体 CN Normal" panose="020B0200000000000000" pitchFamily="34" charset="-122"/>
              </a:rPr>
              <a:t>、腾讯元宝</a:t>
            </a:r>
            <a:endParaRPr lang="zh-CN" altLang="en-US" b="0" i="0" dirty="0">
              <a:solidFill>
                <a:srgbClr val="222222"/>
              </a:solidFill>
              <a:effectLst/>
              <a:latin typeface="思源黑体 CN Normal" panose="020B0200000000000000" pitchFamily="34" charset="-122"/>
              <a:ea typeface="思源黑体 CN Normal" panose="020B0200000000000000" pitchFamily="34" charset="-122"/>
            </a:endParaRPr>
          </a:p>
        </p:txBody>
      </p:sp>
    </p:spTree>
  </p:cSld>
  <p:clrMapOvr>
    <a:masterClrMapping/>
  </p:clrMapOvr>
  <p:transition spd="slow" advTm="200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72913" y="87933"/>
            <a:ext cx="5123180" cy="645160"/>
          </a:xfrm>
          <a:prstGeom prst="rect">
            <a:avLst/>
          </a:prstGeom>
          <a:noFill/>
        </p:spPr>
        <p:txBody>
          <a:bodyPr wrap="square" lIns="91440" tIns="45720" rIns="91440" bIns="45720" rtlCol="0" anchor="t">
            <a:spAutoFit/>
            <a:scene3d>
              <a:camera prst="orthographicFront"/>
              <a:lightRig rig="threePt" dir="t"/>
            </a:scene3d>
            <a:sp3d contourW="12700"/>
          </a:bodyPr>
          <a:lstStyle/>
          <a:p>
            <a:pPr lvl="0">
              <a:lnSpc>
                <a:spcPct val="150000"/>
              </a:lnSpc>
            </a:pPr>
            <a:r>
              <a:rPr lang="en-US" altLang="zh-CN" sz="2400" b="1" noProof="0" smtClean="0">
                <a:ln>
                  <a:noFill/>
                </a:ln>
                <a:solidFill>
                  <a:schemeClr val="tx1"/>
                </a:solidFill>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rPr>
              <a:t>大模型关键发展</a:t>
            </a:r>
            <a:endParaRPr lang="en-US" altLang="zh-CN" sz="2400" b="1" noProof="0" smtClean="0">
              <a:ln>
                <a:noFill/>
              </a:ln>
              <a:solidFill>
                <a:schemeClr val="tx1"/>
              </a:solidFill>
              <a:effectLst/>
              <a:uLnTx/>
              <a:uFillTx/>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26" name="ï$liḑé"/>
          <p:cNvSpPr/>
          <p:nvPr/>
        </p:nvSpPr>
        <p:spPr>
          <a:xfrm rot="19200000">
            <a:off x="2786891" y="173482"/>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Source Han Sans CN Regular" panose="020B0200000000000000" charset="-122"/>
              <a:ea typeface="Source Han Sans CN Regular" panose="020B0200000000000000" charset="-122"/>
            </a:endParaRPr>
          </a:p>
        </p:txBody>
      </p:sp>
      <p:cxnSp>
        <p:nvCxnSpPr>
          <p:cNvPr id="6" name="直接箭头连接符 5"/>
          <p:cNvCxnSpPr/>
          <p:nvPr/>
        </p:nvCxnSpPr>
        <p:spPr>
          <a:xfrm flipV="1">
            <a:off x="1176020" y="1240790"/>
            <a:ext cx="0" cy="39376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a:off x="1186815" y="5184140"/>
            <a:ext cx="10445750"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801370" y="793115"/>
            <a:ext cx="1117600" cy="387350"/>
          </a:xfrm>
          <a:prstGeom prst="rect">
            <a:avLst/>
          </a:prstGeom>
          <a:noFill/>
        </p:spPr>
        <p:txBody>
          <a:bodyPr wrap="square" rtlCol="0">
            <a:noAutofit/>
          </a:bodyPr>
          <a:p>
            <a:r>
              <a:rPr lang="zh-CN" altLang="en-US" sz="1400">
                <a:solidFill>
                  <a:schemeClr val="tx1">
                    <a:lumMod val="50000"/>
                    <a:lumOff val="50000"/>
                  </a:schemeClr>
                </a:solidFill>
                <a:latin typeface="Source Han Sans CN Regular" panose="020B0200000000000000" charset="-122"/>
                <a:ea typeface="Source Han Sans CN Regular" panose="020B0200000000000000" charset="-122"/>
              </a:rPr>
              <a:t>关键进展</a:t>
            </a:r>
            <a:endParaRPr lang="zh-CN" altLang="en-US" sz="1400">
              <a:solidFill>
                <a:schemeClr val="tx1">
                  <a:lumMod val="50000"/>
                  <a:lumOff val="50000"/>
                </a:schemeClr>
              </a:solidFill>
              <a:latin typeface="Source Han Sans CN Regular" panose="020B0200000000000000" charset="-122"/>
              <a:ea typeface="Source Han Sans CN Regular" panose="020B0200000000000000" charset="-122"/>
            </a:endParaRPr>
          </a:p>
          <a:p>
            <a:endParaRPr lang="zh-CN" altLang="en-US" sz="1400">
              <a:solidFill>
                <a:schemeClr val="tx1">
                  <a:lumMod val="50000"/>
                  <a:lumOff val="50000"/>
                </a:schemeClr>
              </a:solidFill>
              <a:latin typeface="Source Han Sans CN Regular" panose="020B0200000000000000" charset="-122"/>
              <a:ea typeface="Source Han Sans CN Regular" panose="020B0200000000000000" charset="-122"/>
            </a:endParaRPr>
          </a:p>
        </p:txBody>
      </p:sp>
      <p:grpSp>
        <p:nvGrpSpPr>
          <p:cNvPr id="22" name="组合 21"/>
          <p:cNvGrpSpPr/>
          <p:nvPr/>
        </p:nvGrpSpPr>
        <p:grpSpPr>
          <a:xfrm>
            <a:off x="8801735" y="1047750"/>
            <a:ext cx="2275205" cy="4033520"/>
            <a:chOff x="13310" y="1030"/>
            <a:chExt cx="3318" cy="6352"/>
          </a:xfrm>
        </p:grpSpPr>
        <p:sp>
          <p:nvSpPr>
            <p:cNvPr id="10" name="矩形 9"/>
            <p:cNvSpPr/>
            <p:nvPr/>
          </p:nvSpPr>
          <p:spPr>
            <a:xfrm>
              <a:off x="13310" y="1718"/>
              <a:ext cx="3319" cy="5665"/>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1450" indent="-171450" algn="l">
                <a:buFont typeface="Arial" panose="020B0604020202020204" pitchFamily="34" charset="0"/>
                <a:buChar char="•"/>
              </a:pP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sym typeface="+mn-ea"/>
                </a:rPr>
                <a:t>OpenAi</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sym typeface="+mn-ea"/>
                </a:rPr>
                <a:t>发布</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sym typeface="+mn-ea"/>
                </a:rPr>
                <a:t>o1</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，强化学习新范式，实现推理等复杂能力上的重大突破。</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en-US" altLang="zh-CN" sz="1000">
                  <a:ln>
                    <a:noFill/>
                  </a:ln>
                  <a:solidFill>
                    <a:schemeClr val="accent2"/>
                  </a:solidFill>
                  <a:latin typeface="Source Han Sans CN Regular" panose="020B0200000000000000" charset="-122"/>
                  <a:ea typeface="Source Han Sans CN Regular" panose="020B0200000000000000" charset="-122"/>
                  <a:cs typeface="Source Han Sans CN Regular" panose="020B0200000000000000" charset="-122"/>
                  <a:sym typeface="+mn-ea"/>
                </a:rPr>
                <a:t>Claude3.5-Sonnet</a:t>
              </a:r>
              <a:r>
                <a:rPr lang="zh-CN" altLang="en-US" sz="1000">
                  <a:ln>
                    <a:noFill/>
                  </a:ln>
                  <a:solidFill>
                    <a:schemeClr val="accent2"/>
                  </a:solidFill>
                  <a:latin typeface="Source Han Sans CN Regular" panose="020B0200000000000000" charset="-122"/>
                  <a:ea typeface="Source Han Sans CN Regular" panose="020B0200000000000000" charset="-122"/>
                  <a:cs typeface="Source Han Sans CN Regular" panose="020B0200000000000000" charset="-122"/>
                  <a:sym typeface="+mn-ea"/>
                </a:rPr>
                <a:t>发布，在代码和</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Agent</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能力上掀起效率革命。</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endParaRPr>
            </a:p>
            <a:p>
              <a:pPr indent="0" algn="l">
                <a:buFont typeface="Arial" panose="020B0604020202020204" pitchFamily="34" charset="0"/>
                <a:buNone/>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en-US" altLang="zh-CN" sz="1000">
                  <a:ln>
                    <a:noFill/>
                  </a:ln>
                  <a:solidFill>
                    <a:schemeClr val="accent2"/>
                  </a:solidFill>
                  <a:latin typeface="Source Han Sans CN Regular" panose="020B0200000000000000" charset="-122"/>
                  <a:ea typeface="Source Han Sans CN Regular" panose="020B0200000000000000" charset="-122"/>
                  <a:cs typeface="Source Han Sans CN Regular" panose="020B0200000000000000" charset="-122"/>
                  <a:sym typeface="+mn-ea"/>
                </a:rPr>
                <a:t>ChatGPT</a:t>
              </a:r>
              <a:r>
                <a:rPr lang="zh-CN" altLang="en-US" sz="1000">
                  <a:ln>
                    <a:noFill/>
                  </a:ln>
                  <a:solidFill>
                    <a:schemeClr val="accent2"/>
                  </a:solidFill>
                  <a:latin typeface="Source Han Sans CN Regular" panose="020B0200000000000000" charset="-122"/>
                  <a:ea typeface="Source Han Sans CN Regular" panose="020B0200000000000000" charset="-122"/>
                  <a:cs typeface="Source Han Sans CN Regular" panose="020B0200000000000000" charset="-122"/>
                  <a:sym typeface="+mn-ea"/>
                </a:rPr>
                <a:t>上线实时视频能力，深入</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语音视觉实时多模态应用场景。</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endParaRPr>
            </a:p>
            <a:p>
              <a:pPr marL="171450" indent="-171450" algn="l">
                <a:buFont typeface="Arial" panose="020B0604020202020204" pitchFamily="34" charset="0"/>
                <a:buChar char="•"/>
              </a:pPr>
              <a:endPar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Regular" panose="020B0200000000000000" charset="-122"/>
                  <a:sym typeface="+mn-ea"/>
                </a:rPr>
                <a:t>国内推理模型迅速跟进</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DeepSeek-R1</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QwQ-32B-Preview</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Kimi-k1.5</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GLM-Zero</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Skywork-o1</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StepR-mini</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、讯飞星火</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X1</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等模型密集发布。</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sym typeface="+mn-ea"/>
                </a:rPr>
                <a:t>国内模型性能持续提升。</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DeepSeek-V3</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Qwen2.5</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、豆包</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-Pro</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、混元</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-Turbo</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与</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GLM-4-Plus</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rPr>
                <a:t>等系列模型综合能力上持续提升。</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sym typeface="+mn-ea"/>
              </a:endParaRPr>
            </a:p>
          </p:txBody>
        </p:sp>
        <p:sp>
          <p:nvSpPr>
            <p:cNvPr id="12" name="文本框 11"/>
            <p:cNvSpPr txBox="1"/>
            <p:nvPr/>
          </p:nvSpPr>
          <p:spPr>
            <a:xfrm>
              <a:off x="14236" y="1030"/>
              <a:ext cx="1130" cy="610"/>
            </a:xfrm>
            <a:prstGeom prst="rect">
              <a:avLst/>
            </a:prstGeom>
            <a:noFill/>
          </p:spPr>
          <p:txBody>
            <a:bodyPr wrap="square" rtlCol="0">
              <a:noAutofit/>
            </a:bodyPr>
            <a:p>
              <a:r>
                <a:rPr lang="zh-CN" altLang="en-US" sz="1400">
                  <a:latin typeface="Source Han Sans CN Regular" panose="020B0200000000000000" charset="-122"/>
                  <a:ea typeface="Source Han Sans CN Regular" panose="020B0200000000000000" charset="-122"/>
                </a:rPr>
                <a:t>深化</a:t>
              </a:r>
              <a:r>
                <a:rPr lang="zh-CN" altLang="en-US" sz="1400">
                  <a:latin typeface="Source Han Sans CN Regular" panose="020B0200000000000000" charset="-122"/>
                  <a:ea typeface="Source Han Sans CN Regular" panose="020B0200000000000000" charset="-122"/>
                </a:rPr>
                <a:t>期</a:t>
              </a:r>
              <a:endParaRPr lang="zh-CN" altLang="en-US" sz="1400">
                <a:latin typeface="Source Han Sans CN Regular" panose="020B0200000000000000" charset="-122"/>
                <a:ea typeface="Source Han Sans CN Regular" panose="020B0200000000000000" charset="-122"/>
              </a:endParaRPr>
            </a:p>
          </p:txBody>
        </p:sp>
      </p:grpSp>
      <p:grpSp>
        <p:nvGrpSpPr>
          <p:cNvPr id="23" name="组合 22"/>
          <p:cNvGrpSpPr/>
          <p:nvPr/>
        </p:nvGrpSpPr>
        <p:grpSpPr>
          <a:xfrm>
            <a:off x="6350635" y="1316990"/>
            <a:ext cx="2165350" cy="3764915"/>
            <a:chOff x="9456" y="1454"/>
            <a:chExt cx="3410" cy="5929"/>
          </a:xfrm>
        </p:grpSpPr>
        <p:sp>
          <p:nvSpPr>
            <p:cNvPr id="9" name="矩形 8"/>
            <p:cNvSpPr/>
            <p:nvPr/>
          </p:nvSpPr>
          <p:spPr>
            <a:xfrm>
              <a:off x="9456" y="2234"/>
              <a:ext cx="3410" cy="5149"/>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1450" indent="-171450" algn="l">
                <a:buFont typeface="Arial" panose="020B0604020202020204" pitchFamily="34" charset="0"/>
                <a:buChar char="•"/>
              </a:pP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OpenAl</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发布</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Regular" panose="020B0200000000000000" charset="-122"/>
                </a:rPr>
                <a:t>Sora</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极</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大拓</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展</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了</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Al</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在视频</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领域</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的想</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象</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力</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indent="0" algn="l">
                <a:buFont typeface="Arial" panose="020B0604020202020204" pitchFamily="34" charset="0"/>
                <a:buNone/>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ClrTx/>
                <a:buSzTx/>
                <a:buFont typeface="Arial" panose="020B0604020202020204" pitchFamily="34" charset="0"/>
                <a:buChar char="•"/>
              </a:pP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GPT-40 、 C laude3.5、Gemini1.5、 Llama3发 布 ，海 外 进入 “一 超多 强”</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的竟争格局 。</a:t>
              </a:r>
              <a:endPar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indent="0" algn="l">
                <a:buFont typeface="Arial" panose="020B0604020202020204" pitchFamily="34" charset="0"/>
                <a:buNone/>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国</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内</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多模</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态</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领</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域</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进</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展</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迅</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速</a:t>
              </a:r>
              <a:r>
                <a:rPr lang="en-US" altLang="zh-CN"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在</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部</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分</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领域领</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先</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海</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外</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视</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频</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生</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成</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模</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型</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可</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灵</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Al</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、海螺视频、</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Vidu</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PixVerse</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等模型陆续</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发布</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，并</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在海外取得较大应用进展</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endPar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endPar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国内通</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用模型</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持续提</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升</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 </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Qwen2.5</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、文心</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4.0</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GLM4</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商</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量</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5.5</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等通</a:t>
              </a:r>
              <a:r>
                <a:rPr lang="en-US" altLang="zh-CN"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用模型陆续更新。</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p:txBody>
        </p:sp>
        <p:sp>
          <p:nvSpPr>
            <p:cNvPr id="14" name="文本框 13"/>
            <p:cNvSpPr txBox="1"/>
            <p:nvPr/>
          </p:nvSpPr>
          <p:spPr>
            <a:xfrm>
              <a:off x="10668" y="1454"/>
              <a:ext cx="1130" cy="610"/>
            </a:xfrm>
            <a:prstGeom prst="rect">
              <a:avLst/>
            </a:prstGeom>
            <a:noFill/>
          </p:spPr>
          <p:txBody>
            <a:bodyPr wrap="square" rtlCol="0">
              <a:noAutofit/>
            </a:bodyPr>
            <a:p>
              <a:r>
                <a:rPr lang="zh-CN" altLang="en-US" sz="1400">
                  <a:latin typeface="Source Han Sans CN Regular" panose="020B0200000000000000" charset="-122"/>
                  <a:ea typeface="Source Han Sans CN Regular" panose="020B0200000000000000" charset="-122"/>
                </a:rPr>
                <a:t>繁荣期</a:t>
              </a:r>
              <a:endParaRPr lang="zh-CN" altLang="en-US" sz="1400">
                <a:latin typeface="Source Han Sans CN Regular" panose="020B0200000000000000" charset="-122"/>
                <a:ea typeface="Source Han Sans CN Regular" panose="020B0200000000000000" charset="-122"/>
              </a:endParaRPr>
            </a:p>
          </p:txBody>
        </p:sp>
      </p:grpSp>
      <p:grpSp>
        <p:nvGrpSpPr>
          <p:cNvPr id="24" name="组合 23"/>
          <p:cNvGrpSpPr/>
          <p:nvPr/>
        </p:nvGrpSpPr>
        <p:grpSpPr>
          <a:xfrm>
            <a:off x="3841115" y="1656080"/>
            <a:ext cx="2223770" cy="3425825"/>
            <a:chOff x="5757" y="1988"/>
            <a:chExt cx="3502" cy="5395"/>
          </a:xfrm>
        </p:grpSpPr>
        <p:sp>
          <p:nvSpPr>
            <p:cNvPr id="13" name="矩形 12"/>
            <p:cNvSpPr/>
            <p:nvPr/>
          </p:nvSpPr>
          <p:spPr>
            <a:xfrm>
              <a:off x="5757" y="2734"/>
              <a:ext cx="3502" cy="4649"/>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1450" indent="-171450" algn="l">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Llama2开 源</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 极大助力全球大 模型开发者生态。</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a:ln>
                    <a:noFill/>
                  </a:ln>
                  <a:solidFill>
                    <a:schemeClr val="accent2"/>
                  </a:solidFill>
                  <a:latin typeface="Source Han Sans CN Regular" panose="020B0200000000000000" charset="-122"/>
                  <a:ea typeface="Source Han Sans CN Regular" panose="020B0200000000000000" charset="-122"/>
                  <a:cs typeface="Source Han Sans CN Regular" panose="020B0200000000000000" charset="-122"/>
                </a:rPr>
                <a:t>GPT-4 Turbo、 Geminl等海外大模</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型发布， 继续提升模型性能 。</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a:ln>
                    <a:noFill/>
                  </a:ln>
                  <a:solidFill>
                    <a:srgbClr val="7030A0"/>
                  </a:solidFill>
                  <a:latin typeface="Source Han Sans CN Regular" panose="020B0200000000000000" charset="-122"/>
                  <a:ea typeface="Source Han Sans CN Regular" panose="020B0200000000000000" charset="-122"/>
                  <a:cs typeface="Source Han Sans CN Regular" panose="020B0200000000000000" charset="-122"/>
                </a:rPr>
                <a:t>Midjourney</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发布5.2</a:t>
              </a:r>
              <a:endPar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Stable Diffusion XL发布</a:t>
              </a:r>
              <a:endPar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国内闭源大模型快速发展。</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豆 包、 混 元、商量3.0、 盘 古3.0、 AndesGPT、 BlueLM、星火3.0、 Kimi Chat等陆续发布。</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 国内开源生态爆发 </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Baichuan、</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Regular" panose="020B0200000000000000" charset="-122"/>
                </a:rPr>
                <a:t>Qwen</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InternLM、 </a:t>
              </a: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Regular" panose="020B0200000000000000" charset="-122"/>
                </a:rPr>
                <a:t>ChatGLM3</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、Yi-34B等 系列 模型 引领 开源热潮 。</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p:txBody>
        </p:sp>
        <p:sp>
          <p:nvSpPr>
            <p:cNvPr id="15" name="文本框 14"/>
            <p:cNvSpPr txBox="1"/>
            <p:nvPr/>
          </p:nvSpPr>
          <p:spPr>
            <a:xfrm>
              <a:off x="7100" y="1988"/>
              <a:ext cx="1130" cy="610"/>
            </a:xfrm>
            <a:prstGeom prst="rect">
              <a:avLst/>
            </a:prstGeom>
            <a:noFill/>
          </p:spPr>
          <p:txBody>
            <a:bodyPr wrap="square" rtlCol="0">
              <a:noAutofit/>
            </a:bodyPr>
            <a:p>
              <a:r>
                <a:rPr lang="zh-CN" altLang="en-US" sz="1400">
                  <a:latin typeface="Source Han Sans CN Regular" panose="020B0200000000000000" charset="-122"/>
                  <a:ea typeface="Source Han Sans CN Regular" panose="020B0200000000000000" charset="-122"/>
                </a:rPr>
                <a:t>跃进</a:t>
              </a:r>
              <a:r>
                <a:rPr lang="zh-CN" altLang="en-US" sz="1400">
                  <a:latin typeface="Source Han Sans CN Regular" panose="020B0200000000000000" charset="-122"/>
                  <a:ea typeface="Source Han Sans CN Regular" panose="020B0200000000000000" charset="-122"/>
                </a:rPr>
                <a:t>期</a:t>
              </a:r>
              <a:endParaRPr lang="zh-CN" altLang="en-US" sz="1400">
                <a:latin typeface="Source Han Sans CN Regular" panose="020B0200000000000000" charset="-122"/>
                <a:ea typeface="Source Han Sans CN Regular" panose="020B0200000000000000" charset="-122"/>
              </a:endParaRPr>
            </a:p>
          </p:txBody>
        </p:sp>
      </p:grpSp>
      <p:grpSp>
        <p:nvGrpSpPr>
          <p:cNvPr id="25" name="组合 24"/>
          <p:cNvGrpSpPr/>
          <p:nvPr/>
        </p:nvGrpSpPr>
        <p:grpSpPr>
          <a:xfrm>
            <a:off x="1439545" y="2266950"/>
            <a:ext cx="2115820" cy="2814320"/>
            <a:chOff x="2489" y="2951"/>
            <a:chExt cx="3332" cy="4432"/>
          </a:xfrm>
        </p:grpSpPr>
        <p:sp>
          <p:nvSpPr>
            <p:cNvPr id="16" name="矩形 15"/>
            <p:cNvSpPr/>
            <p:nvPr/>
          </p:nvSpPr>
          <p:spPr>
            <a:xfrm>
              <a:off x="2489" y="3921"/>
              <a:ext cx="3332" cy="3462"/>
            </a:xfrm>
            <a:prstGeom prst="rect">
              <a:avLst/>
            </a:prstGeom>
            <a:solidFill>
              <a:schemeClr val="bg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marL="171450" indent="-171450" algn="l">
                <a:buClrTx/>
                <a:buSzTx/>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ChatGPT发布</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，全球范围内迅 速形成大模型共识 。</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ClrTx/>
                <a:buSzTx/>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ClrTx/>
                <a:buSzTx/>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GPT4发布</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，进 一步掀起大模型研发热潮 。</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ClrTx/>
                <a:buSzTx/>
                <a:buFont typeface="Arial" panose="020B0604020202020204" pitchFamily="34" charset="0"/>
                <a:buChar char="•"/>
              </a:pP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a:p>
              <a:pPr marL="171450" indent="-171450" algn="l">
                <a:buClrTx/>
                <a:buSzTx/>
                <a:buFont typeface="Arial" panose="020B0604020202020204" pitchFamily="34" charset="0"/>
                <a:buChar char="•"/>
              </a:pPr>
              <a:r>
                <a:rPr lang="zh-CN" altLang="en-US" sz="1000" b="1">
                  <a:ln>
                    <a:noFill/>
                  </a:ln>
                  <a:solidFill>
                    <a:srgbClr val="C00000"/>
                  </a:solidFill>
                  <a:latin typeface="Source Han Sans CN Bold" panose="020B0200000000000000" charset="-122"/>
                  <a:ea typeface="Source Han Sans CN Bold" panose="020B0200000000000000" charset="-122"/>
                  <a:cs typeface="Source Han Sans CN Bold" panose="020B0200000000000000" charset="-122"/>
                </a:rPr>
                <a:t>国 内快 速 跟进 大模 型 研 发</a:t>
              </a:r>
              <a:r>
                <a:rPr lang="zh-CN" altLang="en-US" sz="1000">
                  <a:ln>
                    <a:noFill/>
                  </a:ln>
                  <a:solidFill>
                    <a:schemeClr val="accent1"/>
                  </a:solidFill>
                  <a:latin typeface="Source Han Sans CN Regular" panose="020B0200000000000000" charset="-122"/>
                  <a:ea typeface="Source Han Sans CN Regular" panose="020B0200000000000000" charset="-122"/>
                  <a:cs typeface="Source Han Sans CN Regular" panose="020B0200000000000000" charset="-122"/>
                </a:rPr>
                <a:t>。</a:t>
              </a:r>
              <a:r>
                <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rPr>
                <a:t> 文 心 一 言1.0、 通 义 千 问、 讯 飞 星 火 、 360智脑 、 ChatGLM等首批模 型相继发布。</a:t>
              </a:r>
              <a:endParaRPr lang="zh-CN" altLang="en-US" sz="1000">
                <a:ln>
                  <a:noFill/>
                </a:ln>
                <a:solidFill>
                  <a:schemeClr val="tx1"/>
                </a:solidFill>
                <a:latin typeface="Source Han Sans CN Regular" panose="020B0200000000000000" charset="-122"/>
                <a:ea typeface="Source Han Sans CN Regular" panose="020B0200000000000000" charset="-122"/>
                <a:cs typeface="Source Han Sans CN Regular" panose="020B0200000000000000" charset="-122"/>
              </a:endParaRPr>
            </a:p>
          </p:txBody>
        </p:sp>
        <p:sp>
          <p:nvSpPr>
            <p:cNvPr id="17" name="文本框 16"/>
            <p:cNvSpPr txBox="1"/>
            <p:nvPr/>
          </p:nvSpPr>
          <p:spPr>
            <a:xfrm>
              <a:off x="3315" y="2951"/>
              <a:ext cx="1130" cy="610"/>
            </a:xfrm>
            <a:prstGeom prst="rect">
              <a:avLst/>
            </a:prstGeom>
            <a:noFill/>
          </p:spPr>
          <p:txBody>
            <a:bodyPr wrap="square" rtlCol="0">
              <a:noAutofit/>
            </a:bodyPr>
            <a:p>
              <a:r>
                <a:rPr lang="zh-CN" altLang="en-US" sz="1400">
                  <a:latin typeface="Source Han Sans CN Regular" panose="020B0200000000000000" charset="-122"/>
                  <a:ea typeface="Source Han Sans CN Regular" panose="020B0200000000000000" charset="-122"/>
                </a:rPr>
                <a:t>准备期</a:t>
              </a:r>
              <a:endParaRPr lang="zh-CN" altLang="en-US" sz="1400">
                <a:latin typeface="Source Han Sans CN Regular" panose="020B0200000000000000" charset="-122"/>
                <a:ea typeface="Source Han Sans CN Regular" panose="020B0200000000000000" charset="-122"/>
              </a:endParaRPr>
            </a:p>
          </p:txBody>
        </p:sp>
      </p:grpSp>
      <p:pic>
        <p:nvPicPr>
          <p:cNvPr id="18" name="图片 17"/>
          <p:cNvPicPr>
            <a:picLocks noChangeAspect="1"/>
          </p:cNvPicPr>
          <p:nvPr/>
        </p:nvPicPr>
        <p:blipFill>
          <a:blip r:embed="rId1"/>
          <a:stretch>
            <a:fillRect/>
          </a:stretch>
        </p:blipFill>
        <p:spPr>
          <a:xfrm>
            <a:off x="-50165" y="6030595"/>
            <a:ext cx="12228195" cy="868680"/>
          </a:xfrm>
          <a:prstGeom prst="rect">
            <a:avLst/>
          </a:prstGeom>
        </p:spPr>
      </p:pic>
      <p:sp>
        <p:nvSpPr>
          <p:cNvPr id="19" name="文本框 18"/>
          <p:cNvSpPr txBox="1"/>
          <p:nvPr/>
        </p:nvSpPr>
        <p:spPr>
          <a:xfrm>
            <a:off x="6506845" y="6032500"/>
            <a:ext cx="1144905" cy="368300"/>
          </a:xfrm>
          <a:prstGeom prst="rect">
            <a:avLst/>
          </a:prstGeom>
          <a:noFill/>
        </p:spPr>
        <p:txBody>
          <a:bodyPr wrap="square" rtlCol="0">
            <a:spAutoFit/>
          </a:bodyPr>
          <a:p>
            <a:r>
              <a:rPr lang="zh-CN" altLang="en-US">
                <a:latin typeface="Source Han Sans CN Regular" panose="020B0200000000000000" charset="-122"/>
                <a:ea typeface="Source Han Sans CN Regular" panose="020B0200000000000000" charset="-122"/>
              </a:rPr>
              <a:t>生成</a:t>
            </a:r>
            <a:r>
              <a:rPr lang="zh-CN" altLang="en-US">
                <a:latin typeface="Source Han Sans CN Regular" panose="020B0200000000000000" charset="-122"/>
                <a:ea typeface="Source Han Sans CN Regular" panose="020B0200000000000000" charset="-122"/>
              </a:rPr>
              <a:t>模型</a:t>
            </a:r>
            <a:endParaRPr lang="zh-CN" altLang="en-US">
              <a:latin typeface="Source Han Sans CN Regular" panose="020B0200000000000000" charset="-122"/>
              <a:ea typeface="Source Han Sans CN Regular" panose="020B0200000000000000" charset="-122"/>
            </a:endParaRPr>
          </a:p>
        </p:txBody>
      </p:sp>
      <p:sp>
        <p:nvSpPr>
          <p:cNvPr id="20" name="文本框 19"/>
          <p:cNvSpPr txBox="1"/>
          <p:nvPr/>
        </p:nvSpPr>
        <p:spPr>
          <a:xfrm>
            <a:off x="9550400" y="6032500"/>
            <a:ext cx="1115060" cy="368300"/>
          </a:xfrm>
          <a:prstGeom prst="rect">
            <a:avLst/>
          </a:prstGeom>
          <a:noFill/>
        </p:spPr>
        <p:txBody>
          <a:bodyPr wrap="square" rtlCol="0">
            <a:spAutoFit/>
          </a:bodyPr>
          <a:p>
            <a:r>
              <a:rPr lang="zh-CN" altLang="en-US">
                <a:latin typeface="Source Han Sans CN Regular" panose="020B0200000000000000" charset="-122"/>
                <a:ea typeface="Source Han Sans CN Regular" panose="020B0200000000000000" charset="-122"/>
              </a:rPr>
              <a:t>推理模型</a:t>
            </a:r>
            <a:endParaRPr lang="zh-CN" altLang="en-US">
              <a:latin typeface="Source Han Sans CN Regular" panose="020B0200000000000000" charset="-122"/>
              <a:ea typeface="Source Han Sans CN Regular" panose="020B0200000000000000" charset="-122"/>
            </a:endParaRPr>
          </a:p>
        </p:txBody>
      </p:sp>
      <p:sp>
        <p:nvSpPr>
          <p:cNvPr id="21" name="文本框 20"/>
          <p:cNvSpPr txBox="1"/>
          <p:nvPr/>
        </p:nvSpPr>
        <p:spPr>
          <a:xfrm>
            <a:off x="7655560" y="6532245"/>
            <a:ext cx="4336415" cy="306705"/>
          </a:xfrm>
          <a:prstGeom prst="rect">
            <a:avLst/>
          </a:prstGeom>
        </p:spPr>
        <p:txBody>
          <a:bodyPr wrap="square">
            <a:spAutoFit/>
          </a:bodyPr>
          <a:p>
            <a:r>
              <a:rPr lang="en-US" altLang="zh-CN"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rPr>
              <a:t>ref:</a:t>
            </a:r>
            <a:r>
              <a:rPr lang="zh-CN" altLang="en-US"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rPr>
              <a:t>中文大模型基准测评</a:t>
            </a:r>
            <a:r>
              <a:rPr lang="en-US" altLang="zh-CN"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rPr>
              <a:t>2024</a:t>
            </a:r>
            <a:r>
              <a:rPr lang="zh-CN" altLang="en-US"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rPr>
              <a:t>年度报告</a:t>
            </a:r>
            <a:r>
              <a:rPr lang="en-US" altLang="zh-CN"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rPr>
              <a:t>(2025.01.08)</a:t>
            </a:r>
            <a:endParaRPr lang="en-US" altLang="zh-CN" sz="1400">
              <a:solidFill>
                <a:srgbClr val="000000"/>
              </a:solidFill>
              <a:latin typeface="Source Han Sans CN Regular" panose="020B0200000000000000" charset="-122"/>
              <a:ea typeface="Source Han Sans CN Regular" panose="020B0200000000000000" charset="-122"/>
              <a:cs typeface="Source Han Sans CN Regular" panose="020B0200000000000000" charset="-122"/>
            </a:endParaRPr>
          </a:p>
        </p:txBody>
      </p:sp>
      <p:sp>
        <p:nvSpPr>
          <p:cNvPr id="27" name="文本框 26"/>
          <p:cNvSpPr txBox="1"/>
          <p:nvPr/>
        </p:nvSpPr>
        <p:spPr>
          <a:xfrm>
            <a:off x="11466195" y="5254625"/>
            <a:ext cx="604520" cy="387350"/>
          </a:xfrm>
          <a:prstGeom prst="rect">
            <a:avLst/>
          </a:prstGeom>
          <a:noFill/>
        </p:spPr>
        <p:txBody>
          <a:bodyPr wrap="square" rtlCol="0">
            <a:noAutofit/>
          </a:bodyPr>
          <a:p>
            <a:r>
              <a:rPr lang="zh-CN" altLang="en-US" sz="1400">
                <a:solidFill>
                  <a:schemeClr val="tx1">
                    <a:lumMod val="50000"/>
                    <a:lumOff val="50000"/>
                  </a:schemeClr>
                </a:solidFill>
                <a:latin typeface="Source Han Sans CN Regular" panose="020B0200000000000000" charset="-122"/>
                <a:ea typeface="Source Han Sans CN Regular" panose="020B0200000000000000" charset="-122"/>
              </a:rPr>
              <a:t>时间</a:t>
            </a:r>
            <a:endParaRPr lang="zh-CN" altLang="en-US" sz="1400">
              <a:solidFill>
                <a:schemeClr val="tx1">
                  <a:lumMod val="50000"/>
                  <a:lumOff val="50000"/>
                </a:schemeClr>
              </a:solidFill>
              <a:latin typeface="Source Han Sans CN Regular" panose="020B0200000000000000" charset="-122"/>
              <a:ea typeface="Source Han Sans CN Regular" panose="020B0200000000000000" charset="-122"/>
            </a:endParaRPr>
          </a:p>
        </p:txBody>
      </p:sp>
      <p:sp>
        <p:nvSpPr>
          <p:cNvPr id="28" name="文本框 27"/>
          <p:cNvSpPr txBox="1"/>
          <p:nvPr/>
        </p:nvSpPr>
        <p:spPr>
          <a:xfrm>
            <a:off x="986790" y="5247640"/>
            <a:ext cx="1102995" cy="337185"/>
          </a:xfrm>
          <a:prstGeom prst="rect">
            <a:avLst/>
          </a:prstGeom>
          <a:noFill/>
        </p:spPr>
        <p:txBody>
          <a:bodyPr wrap="square" rtlCol="0">
            <a:spAutoFit/>
          </a:bodyPr>
          <a:p>
            <a:r>
              <a:rPr lang="en-US" altLang="zh-CN" sz="1600">
                <a:latin typeface="Source Han Sans CN Regular" panose="020B0200000000000000" charset="-122"/>
                <a:ea typeface="Source Han Sans CN Regular" panose="020B0200000000000000" charset="-122"/>
              </a:rPr>
              <a:t>2022.12</a:t>
            </a:r>
            <a:endParaRPr lang="en-US" altLang="zh-CN" sz="1600">
              <a:latin typeface="Source Han Sans CN Regular" panose="020B0200000000000000" charset="-122"/>
              <a:ea typeface="Source Han Sans CN Regular" panose="020B0200000000000000" charset="-122"/>
            </a:endParaRPr>
          </a:p>
        </p:txBody>
      </p:sp>
      <p:sp>
        <p:nvSpPr>
          <p:cNvPr id="29" name="文本框 28"/>
          <p:cNvSpPr txBox="1"/>
          <p:nvPr/>
        </p:nvSpPr>
        <p:spPr>
          <a:xfrm>
            <a:off x="3214370" y="5247640"/>
            <a:ext cx="1102995" cy="337185"/>
          </a:xfrm>
          <a:prstGeom prst="rect">
            <a:avLst/>
          </a:prstGeom>
          <a:noFill/>
        </p:spPr>
        <p:txBody>
          <a:bodyPr wrap="square" rtlCol="0">
            <a:spAutoFit/>
          </a:bodyPr>
          <a:p>
            <a:r>
              <a:rPr lang="en-US" altLang="zh-CN" sz="1600">
                <a:latin typeface="Source Han Sans CN Regular" panose="020B0200000000000000" charset="-122"/>
                <a:ea typeface="Source Han Sans CN Regular" panose="020B0200000000000000" charset="-122"/>
              </a:rPr>
              <a:t>2023.06</a:t>
            </a:r>
            <a:endParaRPr lang="en-US" altLang="zh-CN" sz="1600">
              <a:latin typeface="Source Han Sans CN Regular" panose="020B0200000000000000" charset="-122"/>
              <a:ea typeface="Source Han Sans CN Regular" panose="020B0200000000000000" charset="-122"/>
            </a:endParaRPr>
          </a:p>
        </p:txBody>
      </p:sp>
      <p:sp>
        <p:nvSpPr>
          <p:cNvPr id="30" name="文本框 29"/>
          <p:cNvSpPr txBox="1"/>
          <p:nvPr/>
        </p:nvSpPr>
        <p:spPr>
          <a:xfrm>
            <a:off x="5695950" y="5247640"/>
            <a:ext cx="1102995" cy="337185"/>
          </a:xfrm>
          <a:prstGeom prst="rect">
            <a:avLst/>
          </a:prstGeom>
          <a:noFill/>
        </p:spPr>
        <p:txBody>
          <a:bodyPr wrap="square" rtlCol="0">
            <a:spAutoFit/>
          </a:bodyPr>
          <a:p>
            <a:r>
              <a:rPr lang="en-US" altLang="zh-CN" sz="1600">
                <a:latin typeface="Source Han Sans CN Regular" panose="020B0200000000000000" charset="-122"/>
                <a:ea typeface="Source Han Sans CN Regular" panose="020B0200000000000000" charset="-122"/>
              </a:rPr>
              <a:t>2023.12</a:t>
            </a:r>
            <a:endParaRPr lang="en-US" altLang="zh-CN" sz="1600">
              <a:latin typeface="Source Han Sans CN Regular" panose="020B0200000000000000" charset="-122"/>
              <a:ea typeface="Source Han Sans CN Regular" panose="020B0200000000000000" charset="-122"/>
            </a:endParaRPr>
          </a:p>
        </p:txBody>
      </p:sp>
      <p:sp>
        <p:nvSpPr>
          <p:cNvPr id="31" name="文本框 30"/>
          <p:cNvSpPr txBox="1"/>
          <p:nvPr/>
        </p:nvSpPr>
        <p:spPr>
          <a:xfrm>
            <a:off x="8169275" y="5247640"/>
            <a:ext cx="1102995" cy="337185"/>
          </a:xfrm>
          <a:prstGeom prst="rect">
            <a:avLst/>
          </a:prstGeom>
          <a:noFill/>
        </p:spPr>
        <p:txBody>
          <a:bodyPr wrap="square" rtlCol="0">
            <a:spAutoFit/>
          </a:bodyPr>
          <a:p>
            <a:r>
              <a:rPr lang="en-US" altLang="zh-CN" sz="1600">
                <a:latin typeface="Source Han Sans CN Regular" panose="020B0200000000000000" charset="-122"/>
                <a:ea typeface="Source Han Sans CN Regular" panose="020B0200000000000000" charset="-122"/>
              </a:rPr>
              <a:t>2024.06</a:t>
            </a:r>
            <a:endParaRPr lang="en-US" altLang="zh-CN" sz="1600">
              <a:latin typeface="Source Han Sans CN Regular" panose="020B0200000000000000" charset="-122"/>
              <a:ea typeface="Source Han Sans CN Regular" panose="020B0200000000000000" charset="-122"/>
            </a:endParaRPr>
          </a:p>
        </p:txBody>
      </p:sp>
      <p:sp>
        <p:nvSpPr>
          <p:cNvPr id="32" name="文本框 31"/>
          <p:cNvSpPr txBox="1"/>
          <p:nvPr/>
        </p:nvSpPr>
        <p:spPr>
          <a:xfrm>
            <a:off x="10666095" y="5247640"/>
            <a:ext cx="1102995" cy="337185"/>
          </a:xfrm>
          <a:prstGeom prst="rect">
            <a:avLst/>
          </a:prstGeom>
          <a:noFill/>
        </p:spPr>
        <p:txBody>
          <a:bodyPr wrap="square" rtlCol="0">
            <a:spAutoFit/>
          </a:bodyPr>
          <a:p>
            <a:r>
              <a:rPr lang="en-US" altLang="zh-CN" sz="1600">
                <a:latin typeface="Source Han Sans CN Regular" panose="020B0200000000000000" charset="-122"/>
                <a:ea typeface="Source Han Sans CN Regular" panose="020B0200000000000000" charset="-122"/>
              </a:rPr>
              <a:t>2025.01</a:t>
            </a:r>
            <a:endParaRPr lang="en-US" altLang="zh-CN" sz="1600">
              <a:latin typeface="Source Han Sans CN Regular" panose="020B0200000000000000" charset="-122"/>
              <a:ea typeface="Source Han Sans CN Regular" panose="020B0200000000000000" charset="-122"/>
            </a:endParaRPr>
          </a:p>
        </p:txBody>
      </p:sp>
      <p:pic>
        <p:nvPicPr>
          <p:cNvPr id="33" name="图片 32" descr="城市"/>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21155" y="2240280"/>
            <a:ext cx="343535" cy="343535"/>
          </a:xfrm>
          <a:prstGeom prst="rect">
            <a:avLst/>
          </a:prstGeom>
        </p:spPr>
      </p:pic>
      <p:pic>
        <p:nvPicPr>
          <p:cNvPr id="34" name="图片 33" descr="上楼梯"/>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95775" y="1631950"/>
            <a:ext cx="376555" cy="376555"/>
          </a:xfrm>
          <a:prstGeom prst="rect">
            <a:avLst/>
          </a:prstGeom>
        </p:spPr>
      </p:pic>
      <p:pic>
        <p:nvPicPr>
          <p:cNvPr id="35" name="图片 34" descr="环保"/>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75120" y="1319530"/>
            <a:ext cx="327025" cy="327025"/>
          </a:xfrm>
          <a:prstGeom prst="rect">
            <a:avLst/>
          </a:prstGeom>
        </p:spPr>
      </p:pic>
      <p:sp>
        <p:nvSpPr>
          <p:cNvPr id="40" name="文本框 39"/>
          <p:cNvSpPr txBox="1"/>
          <p:nvPr/>
        </p:nvSpPr>
        <p:spPr>
          <a:xfrm>
            <a:off x="5842000" y="3238500"/>
            <a:ext cx="411480" cy="368300"/>
          </a:xfrm>
          <a:prstGeom prst="rect">
            <a:avLst/>
          </a:prstGeom>
          <a:noFill/>
        </p:spPr>
        <p:txBody>
          <a:bodyPr wrap="none" rtlCol="0" anchor="t">
            <a:spAutoFit/>
          </a:bodyPr>
          <a:p>
            <a:r>
              <a:rPr lang="zh-CN" altLang="en-US">
                <a:latin typeface="Arial" panose="020B0604020202020204" pitchFamily="34" charset="0"/>
                <a:cs typeface="Arial" panose="020B0604020202020204" pitchFamily="34" charset="0"/>
              </a:rPr>
              <a:t>→</a:t>
            </a:r>
            <a:endParaRPr lang="zh-CN" altLang="en-US">
              <a:latin typeface="Arial" panose="020B0604020202020204" pitchFamily="34" charset="0"/>
              <a:cs typeface="Arial" panose="020B0604020202020204" pitchFamily="34" charset="0"/>
            </a:endParaRPr>
          </a:p>
        </p:txBody>
      </p:sp>
    </p:spTree>
  </p:cSld>
  <p:clrMapOvr>
    <a:masterClrMapping/>
  </p:clrMapOvr>
  <p:transition spd="slow" advTm="200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57038" y="128573"/>
            <a:ext cx="5123180" cy="645160"/>
          </a:xfrm>
          <a:prstGeom prst="rect">
            <a:avLst/>
          </a:prstGeom>
          <a:noFill/>
        </p:spPr>
        <p:txBody>
          <a:bodyPr wrap="square" lIns="91440" tIns="45720" rIns="91440" bIns="45720" rtlCol="0" anchor="t">
            <a:spAutoFit/>
            <a:scene3d>
              <a:camera prst="orthographicFront"/>
              <a:lightRig rig="threePt" dir="t"/>
            </a:scene3d>
            <a:sp3d contourW="12700"/>
          </a:bodyPr>
          <a:lstStyle/>
          <a:p>
            <a:pPr lvl="0">
              <a:lnSpc>
                <a:spcPct val="150000"/>
              </a:lnSpc>
            </a:pP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生成模型与推理大模型的对比</a:t>
            </a:r>
            <a:endPar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26" name="ï$liḑé"/>
          <p:cNvSpPr/>
          <p:nvPr/>
        </p:nvSpPr>
        <p:spPr>
          <a:xfrm rot="19200000">
            <a:off x="4451861" y="153797"/>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p:nvPicPr>
        <p:blipFill>
          <a:blip r:embed="rId1"/>
          <a:stretch>
            <a:fillRect/>
          </a:stretch>
        </p:blipFill>
        <p:spPr>
          <a:xfrm>
            <a:off x="271145" y="1004570"/>
            <a:ext cx="11096625" cy="5534025"/>
          </a:xfrm>
          <a:prstGeom prst="rect">
            <a:avLst/>
          </a:prstGeom>
        </p:spPr>
      </p:pic>
    </p:spTree>
  </p:cSld>
  <p:clrMapOvr>
    <a:masterClrMapping/>
  </p:clrMapOvr>
  <p:transition spd="slow" advTm="2000">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493770" y="1599565"/>
            <a:ext cx="4596765" cy="4095115"/>
          </a:xfrm>
          <a:prstGeom prst="rect">
            <a:avLst/>
          </a:prstGeom>
        </p:spPr>
      </p:pic>
      <p:sp>
        <p:nvSpPr>
          <p:cNvPr id="7" name="文本框 6"/>
          <p:cNvSpPr txBox="1"/>
          <p:nvPr/>
        </p:nvSpPr>
        <p:spPr>
          <a:xfrm>
            <a:off x="557038" y="128573"/>
            <a:ext cx="5123180" cy="645160"/>
          </a:xfrm>
          <a:prstGeom prst="rect">
            <a:avLst/>
          </a:prstGeom>
          <a:noFill/>
        </p:spPr>
        <p:txBody>
          <a:bodyPr wrap="square" lIns="91440" tIns="45720" rIns="91440" bIns="45720" rtlCol="0" anchor="t">
            <a:spAutoFit/>
            <a:scene3d>
              <a:camera prst="orthographicFront"/>
              <a:lightRig rig="threePt" dir="t"/>
            </a:scene3d>
            <a:sp3d contourW="12700"/>
          </a:bodyPr>
          <a:p>
            <a:pPr lvl="0">
              <a:lnSpc>
                <a:spcPct val="150000"/>
              </a:lnSpc>
            </a:pPr>
            <a:r>
              <a:rPr lang="zh-CN" altLang="en-US"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常见</a:t>
            </a: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推理大模型</a:t>
            </a:r>
            <a:endPar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26" name="ï$liḑé"/>
          <p:cNvSpPr/>
          <p:nvPr/>
        </p:nvSpPr>
        <p:spPr>
          <a:xfrm rot="19200000">
            <a:off x="2732916" y="153797"/>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bwMode="auto">
          <a:xfrm flipV="1">
            <a:off x="859155" y="2380124"/>
            <a:ext cx="8888730" cy="824222"/>
          </a:xfrm>
          <a:prstGeom prst="roundRect">
            <a:avLst>
              <a:gd name="adj" fmla="val 22894"/>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3600" b="1">
              <a:solidFill>
                <a:schemeClr val="accent1"/>
              </a:solidFill>
              <a:sym typeface="+mn-ea"/>
            </a:endParaRPr>
          </a:p>
        </p:txBody>
      </p:sp>
      <p:sp>
        <p:nvSpPr>
          <p:cNvPr id="27" name="圆角矩形 26"/>
          <p:cNvSpPr/>
          <p:nvPr/>
        </p:nvSpPr>
        <p:spPr bwMode="auto">
          <a:xfrm>
            <a:off x="859155" y="3418840"/>
            <a:ext cx="8888095" cy="3160395"/>
          </a:xfrm>
          <a:prstGeom prst="roundRect">
            <a:avLst>
              <a:gd name="adj" fmla="val 6672"/>
            </a:avLst>
          </a:prstGeom>
          <a:solidFill>
            <a:srgbClr val="525EE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3600" b="1">
              <a:solidFill>
                <a:schemeClr val="accent1"/>
              </a:solidFill>
              <a:sym typeface="+mn-ea"/>
            </a:endParaRPr>
          </a:p>
        </p:txBody>
      </p:sp>
      <p:sp>
        <p:nvSpPr>
          <p:cNvPr id="3" name="Object16"/>
          <p:cNvSpPr/>
          <p:nvPr/>
        </p:nvSpPr>
        <p:spPr>
          <a:xfrm>
            <a:off x="1269724" y="2669363"/>
            <a:ext cx="7938135" cy="245745"/>
          </a:xfrm>
          <a:prstGeom prst="rect">
            <a:avLst/>
          </a:prstGeom>
          <a:noFill/>
        </p:spPr>
        <p:txBody>
          <a:bodyPr wrap="square" lIns="0" tIns="0" rIns="0" bIns="0" rtlCol="0" anchor="t">
            <a:spAutoFit/>
          </a:bodyPr>
          <a:lstStyle/>
          <a:p>
            <a:r>
              <a:rPr lang="zh-CN" altLang="en-US" sz="1600" dirty="0">
                <a:latin typeface="思源黑体 CN Normal" panose="020B0200000000000000" pitchFamily="34" charset="-122"/>
                <a:ea typeface="思源黑体 CN Normal" panose="020B0200000000000000" pitchFamily="34" charset="-122"/>
              </a:rPr>
              <a:t>定义：</a:t>
            </a:r>
            <a:r>
              <a:rPr lang="en-US" altLang="zh-CN" sz="1600" dirty="0" err="1">
                <a:latin typeface="思源黑体 CN Normal" panose="020B0200000000000000" pitchFamily="34" charset="-122"/>
                <a:ea typeface="思源黑体 CN Normal" panose="020B0200000000000000" pitchFamily="34" charset="-122"/>
              </a:rPr>
              <a:t>DeepSeek</a:t>
            </a:r>
            <a:r>
              <a:rPr lang="zh-CN" altLang="en-US" sz="1600" dirty="0">
                <a:latin typeface="思源黑体 CN Normal" panose="020B0200000000000000" pitchFamily="34" charset="-122"/>
                <a:ea typeface="思源黑体 CN Normal" panose="020B0200000000000000" pitchFamily="34" charset="-122"/>
              </a:rPr>
              <a:t>是一款高性能、低成本的</a:t>
            </a:r>
            <a:r>
              <a:rPr lang="en-US" altLang="zh-CN" sz="1600" dirty="0">
                <a:latin typeface="思源黑体 CN Normal" panose="020B0200000000000000" pitchFamily="34" charset="-122"/>
                <a:ea typeface="思源黑体 CN Normal" panose="020B0200000000000000" pitchFamily="34" charset="-122"/>
              </a:rPr>
              <a:t>AI</a:t>
            </a:r>
            <a:r>
              <a:rPr lang="zh-CN" altLang="en-US" sz="1600" dirty="0">
                <a:latin typeface="思源黑体 CN Normal" panose="020B0200000000000000" pitchFamily="34" charset="-122"/>
                <a:ea typeface="思源黑体 CN Normal" panose="020B0200000000000000" pitchFamily="34" charset="-122"/>
              </a:rPr>
              <a:t>大模型，具备强大的自然语言处理能力。</a:t>
            </a:r>
            <a:endParaRPr lang="zh-CN" altLang="en-US" sz="1600" dirty="0">
              <a:latin typeface="思源黑体 CN Normal" panose="020B0200000000000000" pitchFamily="34" charset="-122"/>
              <a:ea typeface="思源黑体 CN Normal" panose="020B0200000000000000" pitchFamily="34" charset="-122"/>
            </a:endParaRPr>
          </a:p>
        </p:txBody>
      </p:sp>
      <p:sp>
        <p:nvSpPr>
          <p:cNvPr id="17" name="AutoShape 64"/>
          <p:cNvSpPr>
            <a:spLocks noChangeArrowheads="1"/>
          </p:cNvSpPr>
          <p:nvPr/>
        </p:nvSpPr>
        <p:spPr bwMode="gray">
          <a:xfrm>
            <a:off x="612617" y="252775"/>
            <a:ext cx="6130506" cy="445726"/>
          </a:xfrm>
          <a:prstGeom prst="roundRect">
            <a:avLst>
              <a:gd name="adj" fmla="val 0"/>
            </a:avLst>
          </a:prstGeom>
          <a:noFill/>
          <a:ln w="38100">
            <a:noFill/>
            <a:round/>
          </a:ln>
          <a:effectLst/>
        </p:spPr>
        <p:txBody>
          <a:bodyPr wrap="none" anchor="ctr"/>
          <a:lstStyle/>
          <a:p>
            <a:pPr algn="l">
              <a:lnSpc>
                <a:spcPct val="150000"/>
              </a:lnSpc>
              <a:defRPr/>
            </a:pP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什么是</a:t>
            </a: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a:t>
            </a:r>
            <a:r>
              <a:rPr lang="zh-CN" altLang="en-US"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a:t>
            </a:r>
            <a:endParaRPr lang="zh-CN" altLang="en-US" sz="2400" b="1" kern="0"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3058379" y="254956"/>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Object16"/>
          <p:cNvSpPr/>
          <p:nvPr/>
        </p:nvSpPr>
        <p:spPr>
          <a:xfrm>
            <a:off x="1270000" y="3456940"/>
            <a:ext cx="8324215" cy="2954655"/>
          </a:xfrm>
          <a:prstGeom prst="rect">
            <a:avLst/>
          </a:prstGeom>
          <a:noFill/>
        </p:spPr>
        <p:txBody>
          <a:bodyPr wrap="square" lIns="0" tIns="0" rIns="0" bIns="0" rtlCol="0" anchor="t">
            <a:spAutoFit/>
          </a:bodyPr>
          <a:lstStyle/>
          <a:p>
            <a:pPr marL="285750" indent="-285750">
              <a:lnSpc>
                <a:spcPct val="150000"/>
              </a:lnSpc>
              <a:buFont typeface="Arial" panose="020B0604020202020204" pitchFamily="34" charset="0"/>
              <a:buChar char="•"/>
            </a:pP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DeepSeek共研发开源十余款模型，目前最受关注的有</a:t>
            </a:r>
            <a:r>
              <a:rPr lang="zh-CN" altLang="en-US" sz="16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V3对话模型</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和</a:t>
            </a:r>
            <a:r>
              <a:rPr lang="zh-CN" altLang="en-US" sz="16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R1推理模型</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，分别于2024年12月26日和2025年1月20日先后发布。从反映关注度的微信指数上可以看出，两次模型发布都造成了后续DeepSeek关注度的飙升，12月28日DeepSeek指数达到约6000万，1月31日达9.8亿；</a:t>
            </a:r>
            <a:endPar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endParaRPr>
          </a:p>
          <a:p>
            <a:pPr marL="285750" indent="-285750">
              <a:lnSpc>
                <a:spcPct val="150000"/>
              </a:lnSpc>
              <a:buFont typeface="Arial" panose="020B0604020202020204" pitchFamily="34" charset="0"/>
              <a:buChar char="•"/>
            </a:pP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V3：是采用混合专家架构（MoE）的高性能</a:t>
            </a:r>
            <a:r>
              <a:rPr lang="zh-CN" altLang="en-US" sz="1600" b="1" dirty="0">
                <a:latin typeface="Source Han Sans CN Bold" panose="020B0200000000000000" charset="-122"/>
                <a:ea typeface="Source Han Sans CN Bold" panose="020B0200000000000000" charset="-122"/>
                <a:cs typeface="Source Han Sans CN Normal" panose="020B0200000000000000" charset="-122"/>
              </a:rPr>
              <a:t>对话模型</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，支持多任务处理并相较其他</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对话模型在代码生成、数学推理等场景表现优异；</a:t>
            </a:r>
            <a:endPar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endParaRPr>
          </a:p>
          <a:p>
            <a:pPr marL="285750" indent="-285750">
              <a:lnSpc>
                <a:spcPct val="150000"/>
              </a:lnSpc>
              <a:buFont typeface="Arial" panose="020B0604020202020204" pitchFamily="34" charset="0"/>
              <a:buChar char="•"/>
            </a:pP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R1：是基于强化学习训练的推理模型，</a:t>
            </a:r>
            <a:r>
              <a:rPr lang="zh-CN" altLang="en-US" sz="1600" b="1" dirty="0">
                <a:latin typeface="Source Han Sans CN Bold" panose="020B0200000000000000" charset="-122"/>
                <a:ea typeface="Source Han Sans CN Bold" panose="020B0200000000000000" charset="-122"/>
                <a:cs typeface="Source Han Sans CN Normal" panose="020B0200000000000000" charset="-122"/>
              </a:rPr>
              <a:t>专注于代码生成和复杂数学问题解决</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，推理能力通过</a:t>
            </a:r>
            <a:r>
              <a:rPr lang="zh-CN" altLang="en-US" sz="1600" b="1" dirty="0">
                <a:solidFill>
                  <a:srgbClr val="C00000"/>
                </a:solidFill>
                <a:latin typeface="Source Han Sans CN Bold" panose="020B0200000000000000" charset="-122"/>
                <a:ea typeface="Source Han Sans CN Bold" panose="020B0200000000000000" charset="-122"/>
                <a:cs typeface="Source Han Sans CN Normal" panose="020B0200000000000000" charset="-122"/>
              </a:rPr>
              <a:t>蒸馏</a:t>
            </a:r>
            <a:r>
              <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rPr>
              <a:t>技术可迁移至小型模型。</a:t>
            </a:r>
            <a:endParaRPr lang="zh-CN" altLang="en-US" sz="1600" dirty="0">
              <a:latin typeface="思源黑体 CN Normal" panose="020B0200000000000000" pitchFamily="34" charset="-122"/>
              <a:ea typeface="思源黑体 CN Normal" panose="020B0200000000000000" pitchFamily="34" charset="-122"/>
              <a:cs typeface="Source Han Sans CN Normal" panose="020B0200000000000000" charset="-122"/>
            </a:endParaRPr>
          </a:p>
        </p:txBody>
      </p:sp>
      <p:sp>
        <p:nvSpPr>
          <p:cNvPr id="5" name="圆角矩形 4"/>
          <p:cNvSpPr/>
          <p:nvPr/>
        </p:nvSpPr>
        <p:spPr bwMode="auto">
          <a:xfrm flipV="1">
            <a:off x="859155" y="1052195"/>
            <a:ext cx="8888095" cy="1193800"/>
          </a:xfrm>
          <a:prstGeom prst="roundRect">
            <a:avLst>
              <a:gd name="adj" fmla="val 22894"/>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lvl="0" algn="ctr">
              <a:buClrTx/>
              <a:buSzTx/>
              <a:buFontTx/>
            </a:pPr>
            <a:endParaRPr lang="zh-CN" altLang="en-US" sz="3600" b="1">
              <a:solidFill>
                <a:schemeClr val="accent1"/>
              </a:solidFill>
              <a:sym typeface="+mn-ea"/>
            </a:endParaRPr>
          </a:p>
        </p:txBody>
      </p:sp>
      <p:sp>
        <p:nvSpPr>
          <p:cNvPr id="8" name="Object16"/>
          <p:cNvSpPr/>
          <p:nvPr/>
        </p:nvSpPr>
        <p:spPr>
          <a:xfrm>
            <a:off x="1270000" y="1089660"/>
            <a:ext cx="8323580" cy="1107440"/>
          </a:xfrm>
          <a:prstGeom prst="rect">
            <a:avLst/>
          </a:prstGeom>
          <a:noFill/>
        </p:spPr>
        <p:txBody>
          <a:bodyPr wrap="square" lIns="0" tIns="0" rIns="0" bIns="0" rtlCol="0" anchor="t">
            <a:spAutoFit/>
          </a:bodyPr>
          <a:p>
            <a:pPr>
              <a:lnSpc>
                <a:spcPct val="150000"/>
              </a:lnSpc>
            </a:pPr>
            <a:r>
              <a:rPr lang="zh-CN" sz="1600">
                <a:latin typeface="思源黑体 CN Normal" panose="020B0200000000000000" pitchFamily="34" charset="-122"/>
                <a:ea typeface="思源黑体 CN Normal" panose="020B0200000000000000" pitchFamily="34" charset="-122"/>
              </a:rPr>
              <a:t>公司简介：</a:t>
            </a:r>
            <a:r>
              <a:rPr sz="1600" b="1">
                <a:solidFill>
                  <a:srgbClr val="C00000"/>
                </a:solidFill>
                <a:latin typeface="Source Han Sans CN Bold" panose="020B0200000000000000" charset="-122"/>
                <a:ea typeface="Source Han Sans CN Bold" panose="020B0200000000000000" charset="-122"/>
              </a:rPr>
              <a:t>DeepSeek</a:t>
            </a:r>
            <a:r>
              <a:rPr sz="1600">
                <a:latin typeface="思源黑体 CN Normal" panose="020B0200000000000000" pitchFamily="34" charset="-122"/>
                <a:ea typeface="思源黑体 CN Normal" panose="020B0200000000000000" pitchFamily="34" charset="-122"/>
              </a:rPr>
              <a:t>全称杭州深度求索人工智能基础技术研究有限公司，简称</a:t>
            </a:r>
            <a:r>
              <a:rPr sz="1600" b="1">
                <a:solidFill>
                  <a:srgbClr val="C00000"/>
                </a:solidFill>
                <a:latin typeface="Source Han Sans CN Bold" panose="020B0200000000000000" charset="-122"/>
                <a:ea typeface="Source Han Sans CN Bold" panose="020B0200000000000000" charset="-122"/>
              </a:rPr>
              <a:t>深度求索</a:t>
            </a:r>
            <a:r>
              <a:rPr sz="1600">
                <a:latin typeface="思源黑体 CN Normal" panose="020B0200000000000000" pitchFamily="34" charset="-122"/>
                <a:ea typeface="思源黑体 CN Normal" panose="020B0200000000000000" pitchFamily="34" charset="-122"/>
              </a:rPr>
              <a:t>，成立于2023年7月，是幻方量化旗下的AI公司，专注于实现通用人工智能（AGI）,具有深厚的</a:t>
            </a:r>
            <a:endParaRPr sz="1600">
              <a:latin typeface="思源黑体 CN Normal" panose="020B0200000000000000" pitchFamily="34" charset="-122"/>
              <a:ea typeface="思源黑体 CN Normal" panose="020B0200000000000000" pitchFamily="34" charset="-122"/>
            </a:endParaRPr>
          </a:p>
          <a:p>
            <a:pPr>
              <a:lnSpc>
                <a:spcPct val="150000"/>
              </a:lnSpc>
            </a:pPr>
            <a:r>
              <a:rPr sz="1600">
                <a:latin typeface="思源黑体 CN Normal" panose="020B0200000000000000" pitchFamily="34" charset="-122"/>
                <a:ea typeface="思源黑体 CN Normal" panose="020B0200000000000000" pitchFamily="34" charset="-122"/>
              </a:rPr>
              <a:t>软硬件协同设计底蕴。</a:t>
            </a:r>
            <a:endParaRPr sz="1600">
              <a:latin typeface="思源黑体 CN Normal" panose="020B0200000000000000" pitchFamily="34" charset="-122"/>
              <a:ea typeface="思源黑体 CN Normal" panose="020B0200000000000000"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12775" y="5424805"/>
            <a:ext cx="10860405" cy="1295400"/>
            <a:chOff x="1235" y="2354"/>
            <a:chExt cx="17103" cy="2040"/>
          </a:xfrm>
        </p:grpSpPr>
        <p:sp>
          <p:nvSpPr>
            <p:cNvPr id="31" name="圆角矩形 30"/>
            <p:cNvSpPr/>
            <p:nvPr/>
          </p:nvSpPr>
          <p:spPr bwMode="auto">
            <a:xfrm flipV="1">
              <a:off x="1235" y="2354"/>
              <a:ext cx="17103" cy="2040"/>
            </a:xfrm>
            <a:prstGeom prst="roundRect">
              <a:avLst>
                <a:gd name="adj" fmla="val 22894"/>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3600" b="1">
                <a:solidFill>
                  <a:schemeClr val="accent1"/>
                </a:solidFill>
                <a:sym typeface="+mn-ea"/>
              </a:endParaRPr>
            </a:p>
          </p:txBody>
        </p:sp>
        <p:sp>
          <p:nvSpPr>
            <p:cNvPr id="3" name="Object16"/>
            <p:cNvSpPr/>
            <p:nvPr/>
          </p:nvSpPr>
          <p:spPr>
            <a:xfrm>
              <a:off x="1810" y="2865"/>
              <a:ext cx="15292" cy="1017"/>
            </a:xfrm>
            <a:prstGeom prst="rect">
              <a:avLst/>
            </a:prstGeom>
            <a:noFill/>
          </p:spPr>
          <p:txBody>
            <a:bodyPr wrap="square" lIns="0" tIns="0" rIns="0" bIns="0" rtlCol="0" anchor="t">
              <a:spAutoFit/>
            </a:bodyPr>
            <a:lstStyle/>
            <a:p>
              <a:pPr marL="285750" indent="-285750">
                <a:buFont typeface="Arial" panose="020B0604020202020204" pitchFamily="34" charset="0"/>
                <a:buChar char="•"/>
              </a:pPr>
              <a:r>
                <a:rPr sz="1400" dirty="0" smtClean="0">
                  <a:latin typeface="思源黑体 CN Normal" panose="020B0200000000000000" pitchFamily="34" charset="-122"/>
                  <a:ea typeface="思源黑体 CN Normal" panose="020B0200000000000000" pitchFamily="34" charset="-122"/>
                </a:rPr>
                <a:t>DeepSeek-R1</a:t>
              </a:r>
              <a:r>
                <a:rPr sz="1400" dirty="0">
                  <a:latin typeface="思源黑体 CN Normal" panose="020B0200000000000000" pitchFamily="34" charset="-122"/>
                  <a:ea typeface="思源黑体 CN Normal" panose="020B0200000000000000" pitchFamily="34" charset="-122"/>
                </a:rPr>
                <a:t>的推理能力进入了第一梯队（媲美OpenAI o1</a:t>
              </a:r>
              <a:r>
                <a:rPr sz="1400" dirty="0" smtClean="0">
                  <a:latin typeface="思源黑体 CN Normal" panose="020B0200000000000000" pitchFamily="34" charset="-122"/>
                  <a:ea typeface="思源黑体 CN Normal" panose="020B0200000000000000" pitchFamily="34" charset="-122"/>
                </a:rPr>
                <a:t>）</a:t>
              </a:r>
              <a:r>
                <a:rPr lang="zh-CN" altLang="en-US" sz="1400" dirty="0" smtClean="0">
                  <a:latin typeface="思源黑体 CN Normal" panose="020B0200000000000000" pitchFamily="34" charset="-122"/>
                  <a:ea typeface="思源黑体 CN Normal" panose="020B0200000000000000" pitchFamily="34" charset="-122"/>
                </a:rPr>
                <a:t>，其</a:t>
              </a:r>
              <a:r>
                <a:rPr sz="1400" b="1" dirty="0" err="1" smtClean="0">
                  <a:solidFill>
                    <a:srgbClr val="C00000"/>
                  </a:solidFill>
                  <a:latin typeface="Source Han Sans CN Bold" panose="020B0200000000000000" charset="-122"/>
                  <a:ea typeface="Source Han Sans CN Bold" panose="020B0200000000000000" charset="-122"/>
                </a:rPr>
                <a:t>训练和推理成本低</a:t>
              </a:r>
              <a:r>
                <a:rPr sz="1400" b="1" dirty="0" err="1">
                  <a:solidFill>
                    <a:srgbClr val="C00000"/>
                  </a:solidFill>
                  <a:latin typeface="Source Han Sans CN Bold" panose="020B0200000000000000" charset="-122"/>
                  <a:ea typeface="Source Han Sans CN Bold" panose="020B0200000000000000" charset="-122"/>
                </a:rPr>
                <a:t>、速度快、</a:t>
              </a:r>
              <a:r>
                <a:rPr lang="zh-CN" sz="1400" b="1" dirty="0" err="1">
                  <a:solidFill>
                    <a:srgbClr val="C00000"/>
                  </a:solidFill>
                  <a:latin typeface="Source Han Sans CN Bold" panose="020B0200000000000000" charset="-122"/>
                  <a:ea typeface="Source Han Sans CN Bold" panose="020B0200000000000000" charset="-122"/>
                </a:rPr>
                <a:t>技术</a:t>
              </a:r>
              <a:r>
                <a:rPr sz="1400" b="1" dirty="0" err="1" smtClean="0">
                  <a:solidFill>
                    <a:srgbClr val="C00000"/>
                  </a:solidFill>
                  <a:latin typeface="Source Han Sans CN Bold" panose="020B0200000000000000" charset="-122"/>
                  <a:ea typeface="Source Han Sans CN Bold" panose="020B0200000000000000" charset="-122"/>
                </a:rPr>
                <a:t>全部开源</a:t>
              </a:r>
              <a:r>
                <a:rPr lang="zh-CN" sz="1400" b="1" dirty="0" err="1" smtClean="0">
                  <a:solidFill>
                    <a:srgbClr val="C00000"/>
                  </a:solidFill>
                  <a:latin typeface="Source Han Sans CN Bold" panose="020B0200000000000000" charset="-122"/>
                  <a:ea typeface="Source Han Sans CN Bold" panose="020B0200000000000000" charset="-122"/>
                </a:rPr>
                <a:t>；</a:t>
              </a:r>
              <a:endParaRPr lang="en-US" sz="14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sz="14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400" dirty="0" err="1" smtClean="0">
                  <a:latin typeface="思源黑体 CN Normal" panose="020B0200000000000000" pitchFamily="34" charset="-122"/>
                  <a:ea typeface="思源黑体 CN Normal" panose="020B0200000000000000" pitchFamily="34" charset="-122"/>
                </a:rPr>
                <a:t>DeepSeek</a:t>
              </a:r>
              <a:r>
                <a:rPr sz="1400" dirty="0" err="1">
                  <a:latin typeface="思源黑体 CN Normal" panose="020B0200000000000000" pitchFamily="34" charset="-122"/>
                  <a:ea typeface="思源黑体 CN Normal" panose="020B0200000000000000" pitchFamily="34" charset="-122"/>
                </a:rPr>
                <a:t>打破了硅谷传统的“堆算力、拼资本”的大模型发展路径</a:t>
              </a:r>
              <a:r>
                <a:rPr lang="zh-CN" sz="1400" dirty="0" err="1">
                  <a:latin typeface="思源黑体 CN Normal" panose="020B0200000000000000" pitchFamily="34" charset="-122"/>
                  <a:ea typeface="思源黑体 CN Normal" panose="020B0200000000000000" pitchFamily="34" charset="-122"/>
                </a:rPr>
                <a:t>。</a:t>
              </a:r>
              <a:endParaRPr lang="zh-CN" sz="1400" dirty="0" err="1">
                <a:latin typeface="思源黑体 CN Normal" panose="020B0200000000000000" pitchFamily="34" charset="-122"/>
                <a:ea typeface="思源黑体 CN Normal" panose="020B0200000000000000" pitchFamily="34" charset="-122"/>
              </a:endParaRPr>
            </a:p>
          </p:txBody>
        </p:sp>
      </p:grpSp>
      <p:sp>
        <p:nvSpPr>
          <p:cNvPr id="17" name="AutoShape 64"/>
          <p:cNvSpPr>
            <a:spLocks noChangeArrowheads="1"/>
          </p:cNvSpPr>
          <p:nvPr/>
        </p:nvSpPr>
        <p:spPr bwMode="gray">
          <a:xfrm>
            <a:off x="388462" y="140380"/>
            <a:ext cx="6130506" cy="445726"/>
          </a:xfrm>
          <a:prstGeom prst="roundRect">
            <a:avLst>
              <a:gd name="adj" fmla="val 0"/>
            </a:avLst>
          </a:prstGeom>
          <a:noFill/>
          <a:ln w="38100">
            <a:noFill/>
            <a:round/>
          </a:ln>
          <a:effectLst/>
        </p:spPr>
        <p:txBody>
          <a:bodyPr wrap="none" anchor="ctr"/>
          <a:lstStyle/>
          <a:p>
            <a:pPr algn="l">
              <a:lnSpc>
                <a:spcPct val="150000"/>
              </a:lnSpc>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 </a:t>
            </a:r>
            <a:r>
              <a:rPr lang="en-US" altLang="zh-CN" sz="2400" b="1" noProof="0" smtClean="0">
                <a:ln>
                  <a:noFill/>
                </a:ln>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R1为什么如此之火？</a:t>
            </a:r>
            <a:endParaRPr lang="en-US" altLang="zh-CN" sz="2400" b="1" noProof="0" smtClean="0">
              <a:ln>
                <a:noFill/>
              </a:ln>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4556325" y="32981"/>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2617" y="1138730"/>
            <a:ext cx="6183791" cy="3733320"/>
          </a:xfrm>
          <a:prstGeom prst="rect">
            <a:avLst/>
          </a:prstGeom>
          <a:solidFill>
            <a:schemeClr val="bg1"/>
          </a:solidFill>
          <a:ln>
            <a:noFill/>
          </a:ln>
          <a:effectLst>
            <a:outerShdw blurRad="406400" dist="139700" dir="5400000" algn="t" rotWithShape="0">
              <a:schemeClr val="accent1">
                <a:lumMod val="50000"/>
                <a:alpha val="17000"/>
              </a:schemeClr>
            </a:outerShdw>
          </a:effectLst>
        </p:spPr>
      </p:pic>
      <p:sp>
        <p:nvSpPr>
          <p:cNvPr id="4" name="文本框 3"/>
          <p:cNvSpPr txBox="1"/>
          <p:nvPr/>
        </p:nvSpPr>
        <p:spPr>
          <a:xfrm>
            <a:off x="612617" y="4896720"/>
            <a:ext cx="4563373" cy="253916"/>
          </a:xfrm>
          <a:prstGeom prst="rect">
            <a:avLst/>
          </a:prstGeom>
          <a:noFill/>
        </p:spPr>
        <p:txBody>
          <a:bodyPr wrap="square" rtlCol="0">
            <a:spAutoFit/>
          </a:bodyPr>
          <a:lstStyle/>
          <a:p>
            <a:r>
              <a:rPr lang="zh-CN" altLang="en-US" sz="1050" i="1" dirty="0" smtClean="0">
                <a:solidFill>
                  <a:schemeClr val="bg1">
                    <a:lumMod val="50000"/>
                  </a:schemeClr>
                </a:solidFill>
                <a:latin typeface="思源黑体 CN Normal" panose="020B0200000000000000" pitchFamily="34" charset="-122"/>
                <a:ea typeface="思源黑体 CN Normal" panose="020B0200000000000000" pitchFamily="34" charset="-122"/>
              </a:rPr>
              <a:t>资料来源：</a:t>
            </a:r>
            <a:r>
              <a:rPr lang="en-US" altLang="zh-CN" sz="1050" i="1" dirty="0" err="1" smtClean="0">
                <a:solidFill>
                  <a:schemeClr val="bg1">
                    <a:lumMod val="50000"/>
                  </a:schemeClr>
                </a:solidFill>
                <a:latin typeface="思源黑体 CN Normal" panose="020B0200000000000000" pitchFamily="34" charset="-122"/>
                <a:ea typeface="思源黑体 CN Normal" panose="020B0200000000000000" pitchFamily="34" charset="-122"/>
              </a:rPr>
              <a:t>DeepSeek</a:t>
            </a:r>
            <a:r>
              <a:rPr lang="zh-CN" altLang="en-US" sz="1050" i="1" dirty="0" smtClean="0">
                <a:solidFill>
                  <a:schemeClr val="bg1">
                    <a:lumMod val="50000"/>
                  </a:schemeClr>
                </a:solidFill>
                <a:latin typeface="思源黑体 CN Normal" panose="020B0200000000000000" pitchFamily="34" charset="-122"/>
                <a:ea typeface="思源黑体 CN Normal" panose="020B0200000000000000" pitchFamily="34" charset="-122"/>
              </a:rPr>
              <a:t>官网，中国银河证券研究院</a:t>
            </a:r>
            <a:endParaRPr lang="zh-CN" altLang="en-US" sz="1050" i="1" dirty="0">
              <a:solidFill>
                <a:schemeClr val="bg1">
                  <a:lumMod val="50000"/>
                </a:schemeClr>
              </a:solidFill>
              <a:latin typeface="思源黑体 CN Normal" panose="020B0200000000000000" pitchFamily="34" charset="-122"/>
              <a:ea typeface="思源黑体 CN Normal" panose="020B0200000000000000" pitchFamily="34" charset="-122"/>
            </a:endParaRPr>
          </a:p>
        </p:txBody>
      </p:sp>
      <p:grpSp>
        <p:nvGrpSpPr>
          <p:cNvPr id="11" name="组合 10"/>
          <p:cNvGrpSpPr/>
          <p:nvPr/>
        </p:nvGrpSpPr>
        <p:grpSpPr>
          <a:xfrm>
            <a:off x="7090961" y="1138731"/>
            <a:ext cx="4382135" cy="3547540"/>
            <a:chOff x="11155" y="4799"/>
            <a:chExt cx="6901" cy="5003"/>
          </a:xfrm>
        </p:grpSpPr>
        <p:sp>
          <p:nvSpPr>
            <p:cNvPr id="12" name="圆角矩形 11"/>
            <p:cNvSpPr/>
            <p:nvPr/>
          </p:nvSpPr>
          <p:spPr bwMode="auto">
            <a:xfrm>
              <a:off x="11155" y="4799"/>
              <a:ext cx="6901" cy="4633"/>
            </a:xfrm>
            <a:prstGeom prst="roundRect">
              <a:avLst>
                <a:gd name="adj" fmla="val 6672"/>
              </a:avLst>
            </a:prstGeom>
            <a:solidFill>
              <a:srgbClr val="525EE6">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3600" b="1">
                <a:solidFill>
                  <a:schemeClr val="accent1"/>
                </a:solidFill>
                <a:sym typeface="+mn-ea"/>
              </a:endParaRPr>
            </a:p>
          </p:txBody>
        </p:sp>
        <p:sp>
          <p:nvSpPr>
            <p:cNvPr id="13" name="Object16"/>
            <p:cNvSpPr/>
            <p:nvPr/>
          </p:nvSpPr>
          <p:spPr>
            <a:xfrm>
              <a:off x="11721" y="5500"/>
              <a:ext cx="5769" cy="4302"/>
            </a:xfrm>
            <a:prstGeom prst="rect">
              <a:avLst/>
            </a:prstGeom>
            <a:noFill/>
          </p:spPr>
          <p:txBody>
            <a:bodyPr wrap="square" lIns="0" tIns="0" rIns="0" bIns="0" rtlCol="0" anchor="t">
              <a:noAutofit/>
            </a:bodyPr>
            <a:lstStyle/>
            <a:p>
              <a:pPr marL="285750" indent="-285750">
                <a:buFont typeface="Arial" panose="020B0604020202020204" pitchFamily="34" charset="0"/>
                <a:buChar char="•"/>
              </a:pPr>
              <a:r>
                <a:rPr sz="1400" dirty="0">
                  <a:latin typeface="思源黑体 CN Normal" panose="020B0200000000000000" pitchFamily="34" charset="-122"/>
                  <a:ea typeface="思源黑体 CN Normal" panose="020B0200000000000000" pitchFamily="34" charset="-122"/>
                </a:rPr>
                <a:t>OpenAI的o1</a:t>
              </a:r>
              <a:r>
                <a:rPr sz="1400" dirty="0" smtClean="0">
                  <a:latin typeface="思源黑体 CN Normal" panose="020B0200000000000000" pitchFamily="34" charset="-122"/>
                  <a:ea typeface="思源黑体 CN Normal" panose="020B0200000000000000" pitchFamily="34" charset="-122"/>
                </a:rPr>
                <a:t>模型性能曾在推理模型领域难逢敌手</a:t>
              </a:r>
              <a:r>
                <a:rPr lang="zh-CN" sz="1400" dirty="0" smtClean="0">
                  <a:latin typeface="思源黑体 CN Normal" panose="020B0200000000000000" pitchFamily="34" charset="-122"/>
                  <a:ea typeface="思源黑体 CN Normal" panose="020B0200000000000000" pitchFamily="34" charset="-122"/>
                </a:rPr>
                <a:t>；</a:t>
              </a:r>
              <a:endParaRPr lang="en-US" sz="14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lang="en-US" sz="14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lang="en-US" altLang="zh-CN" sz="1400" dirty="0">
                  <a:latin typeface="思源黑体 CN Normal" panose="020B0200000000000000" pitchFamily="34" charset="-122"/>
                  <a:ea typeface="思源黑体 CN Normal" panose="020B0200000000000000" pitchFamily="34" charset="-122"/>
                </a:rPr>
                <a:t>DeepSeek-R1</a:t>
              </a:r>
              <a:r>
                <a:rPr lang="zh-CN" altLang="en-US" sz="1400" dirty="0">
                  <a:latin typeface="思源黑体 CN Normal" panose="020B0200000000000000" pitchFamily="34" charset="-122"/>
                  <a:ea typeface="思源黑体 CN Normal" panose="020B0200000000000000" pitchFamily="34" charset="-122"/>
                </a:rPr>
                <a:t>模型，在</a:t>
              </a:r>
              <a:r>
                <a:rPr lang="en-US" altLang="zh-CN" sz="1400" dirty="0">
                  <a:latin typeface="思源黑体 CN Normal" panose="020B0200000000000000" pitchFamily="34" charset="-122"/>
                  <a:ea typeface="思源黑体 CN Normal" panose="020B0200000000000000" pitchFamily="34" charset="-122"/>
                </a:rPr>
                <a:t>AI</a:t>
              </a:r>
              <a:r>
                <a:rPr lang="zh-CN" altLang="en-US" sz="1400" dirty="0">
                  <a:latin typeface="思源黑体 CN Normal" panose="020B0200000000000000" pitchFamily="34" charset="-122"/>
                  <a:ea typeface="思源黑体 CN Normal" panose="020B0200000000000000" pitchFamily="34" charset="-122"/>
                </a:rPr>
                <a:t>模型基准能力</a:t>
              </a:r>
              <a:r>
                <a:rPr lang="zh-CN" altLang="en-US" sz="1400" dirty="0" smtClean="0">
                  <a:latin typeface="思源黑体 CN Normal" panose="020B0200000000000000" pitchFamily="34" charset="-122"/>
                  <a:ea typeface="思源黑体 CN Normal" panose="020B0200000000000000" pitchFamily="34" charset="-122"/>
                </a:rPr>
                <a:t>的各</a:t>
              </a:r>
              <a:r>
                <a:rPr lang="zh-CN" altLang="en-US" sz="1400" dirty="0">
                  <a:latin typeface="思源黑体 CN Normal" panose="020B0200000000000000" pitchFamily="34" charset="-122"/>
                  <a:ea typeface="思源黑体 CN Normal" panose="020B0200000000000000" pitchFamily="34" charset="-122"/>
                </a:rPr>
                <a:t>大榜单中，得分与</a:t>
              </a:r>
              <a:r>
                <a:rPr lang="en-US" altLang="zh-CN" sz="1400" dirty="0" err="1">
                  <a:latin typeface="思源黑体 CN Normal" panose="020B0200000000000000" pitchFamily="34" charset="-122"/>
                  <a:ea typeface="思源黑体 CN Normal" panose="020B0200000000000000" pitchFamily="34" charset="-122"/>
                </a:rPr>
                <a:t>OpenAI</a:t>
              </a:r>
              <a:r>
                <a:rPr lang="en-US" altLang="zh-CN" sz="1400" dirty="0">
                  <a:latin typeface="思源黑体 CN Normal" panose="020B0200000000000000" pitchFamily="34" charset="-122"/>
                  <a:ea typeface="思源黑体 CN Normal" panose="020B0200000000000000" pitchFamily="34" charset="-122"/>
                </a:rPr>
                <a:t> o1</a:t>
              </a:r>
              <a:r>
                <a:rPr lang="zh-CN" altLang="en-US" sz="1400" dirty="0">
                  <a:latin typeface="思源黑体 CN Normal" panose="020B0200000000000000" pitchFamily="34" charset="-122"/>
                  <a:ea typeface="思源黑体 CN Normal" panose="020B0200000000000000" pitchFamily="34" charset="-122"/>
                </a:rPr>
                <a:t>模型</a:t>
              </a:r>
              <a:r>
                <a:rPr lang="zh-CN" altLang="en-US" sz="1400" dirty="0" smtClean="0">
                  <a:latin typeface="思源黑体 CN Normal" panose="020B0200000000000000" pitchFamily="34" charset="-122"/>
                  <a:ea typeface="思源黑体 CN Normal" panose="020B0200000000000000" pitchFamily="34" charset="-122"/>
                </a:rPr>
                <a:t>不相上下；</a:t>
              </a:r>
              <a:endParaRPr lang="en-US" altLang="zh-CN" sz="14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lang="zh-CN" altLang="en-US" sz="14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lang="en-US" altLang="zh-CN" sz="1400" b="1" dirty="0" err="1">
                  <a:solidFill>
                    <a:srgbClr val="C00000"/>
                  </a:solidFill>
                  <a:latin typeface="Source Han Sans CN Bold" panose="020B0200000000000000" charset="-122"/>
                  <a:ea typeface="Source Han Sans CN Bold" panose="020B0200000000000000" charset="-122"/>
                  <a:cs typeface="Source Han Sans CN Bold" panose="020B0200000000000000" charset="-122"/>
                </a:rPr>
                <a:t>DeepSeek</a:t>
              </a:r>
              <a:r>
                <a:rPr lang="zh-CN" altLang="en-US" sz="14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 </a:t>
              </a:r>
              <a:r>
                <a:rPr lang="en-US" altLang="zh-CN"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rPr>
                <a:t>R1 </a:t>
              </a:r>
              <a:r>
                <a:rPr lang="zh-CN" altLang="en-US"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rPr>
                <a:t>模型</a:t>
              </a:r>
              <a:r>
                <a:rPr lang="zh-CN" altLang="en-US" sz="14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的</a:t>
              </a:r>
              <a:r>
                <a:rPr lang="zh-CN" altLang="en-US"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rPr>
                <a:t>出现，终结</a:t>
              </a:r>
              <a:r>
                <a:rPr lang="zh-CN" altLang="en-US" sz="14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了中国</a:t>
              </a:r>
              <a:r>
                <a:rPr lang="en-US" altLang="zh-CN" sz="14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AI</a:t>
              </a:r>
              <a:r>
                <a:rPr lang="zh-CN" altLang="en-US"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rPr>
                <a:t>落后</a:t>
              </a:r>
              <a:r>
                <a:rPr lang="zh-CN" altLang="en-US" sz="1400" b="1" dirty="0">
                  <a:solidFill>
                    <a:srgbClr val="C00000"/>
                  </a:solidFill>
                  <a:latin typeface="Source Han Sans CN Bold" panose="020B0200000000000000" charset="-122"/>
                  <a:ea typeface="Source Han Sans CN Bold" panose="020B0200000000000000" charset="-122"/>
                  <a:cs typeface="Source Han Sans CN Bold" panose="020B0200000000000000" charset="-122"/>
                </a:rPr>
                <a:t>的</a:t>
              </a:r>
              <a:r>
                <a:rPr lang="zh-CN" altLang="en-US"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rPr>
                <a:t>观点；</a:t>
              </a:r>
              <a:endParaRPr lang="en-US" altLang="zh-CN" sz="1400" b="1" dirty="0" smtClean="0">
                <a:solidFill>
                  <a:srgbClr val="C00000"/>
                </a:solidFill>
                <a:latin typeface="Source Han Sans CN Bold" panose="020B0200000000000000" charset="-122"/>
                <a:ea typeface="Source Han Sans CN Bold" panose="020B0200000000000000" charset="-122"/>
                <a:cs typeface="Source Han Sans CN Bold" panose="020B0200000000000000" charset="-122"/>
              </a:endParaRPr>
            </a:p>
            <a:p>
              <a:pPr marL="285750" indent="-285750">
                <a:buFont typeface="Arial" panose="020B0604020202020204" pitchFamily="34" charset="0"/>
                <a:buChar char="•"/>
              </a:pPr>
              <a:endParaRPr lang="en-US" altLang="zh-CN" sz="14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lang="zh-CN" altLang="en-US" sz="1400" dirty="0">
                  <a:latin typeface="思源黑体 CN Normal" panose="020B0200000000000000" pitchFamily="34" charset="-122"/>
                  <a:ea typeface="思源黑体 CN Normal" panose="020B0200000000000000" pitchFamily="34" charset="-122"/>
                </a:rPr>
                <a:t>作为国产模型，</a:t>
              </a:r>
              <a:r>
                <a:rPr lang="en-US" altLang="zh-CN" sz="1400" dirty="0" err="1">
                  <a:latin typeface="思源黑体 CN Normal" panose="020B0200000000000000" pitchFamily="34" charset="-122"/>
                  <a:ea typeface="思源黑体 CN Normal" panose="020B0200000000000000" pitchFamily="34" charset="-122"/>
                </a:rPr>
                <a:t>DeepSeek</a:t>
              </a:r>
              <a:r>
                <a:rPr lang="zh-CN" altLang="en-US" sz="1400" dirty="0">
                  <a:latin typeface="思源黑体 CN Normal" panose="020B0200000000000000" pitchFamily="34" charset="-122"/>
                  <a:ea typeface="思源黑体 CN Normal" panose="020B0200000000000000" pitchFamily="34" charset="-122"/>
                </a:rPr>
                <a:t>对中文支持</a:t>
              </a:r>
              <a:r>
                <a:rPr lang="zh-CN" altLang="en-US" sz="1400" dirty="0" smtClean="0">
                  <a:latin typeface="思源黑体 CN Normal" panose="020B0200000000000000" pitchFamily="34" charset="-122"/>
                  <a:ea typeface="思源黑体 CN Normal" panose="020B0200000000000000" pitchFamily="34" charset="-122"/>
                </a:rPr>
                <a:t>更好。</a:t>
              </a:r>
              <a:endParaRPr sz="1400" dirty="0">
                <a:latin typeface="思源黑体 CN Normal" panose="020B0200000000000000" pitchFamily="34" charset="-122"/>
                <a:ea typeface="思源黑体 CN Normal" panose="020B0200000000000000" pitchFamily="34" charset="-122"/>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94198" y="202868"/>
            <a:ext cx="5123180" cy="645160"/>
          </a:xfrm>
          <a:prstGeom prst="rect">
            <a:avLst/>
          </a:prstGeom>
          <a:noFill/>
        </p:spPr>
        <p:txBody>
          <a:bodyPr wrap="square" lIns="91440" tIns="45720" rIns="91440" bIns="45720" rtlCol="0" anchor="t">
            <a:spAutoFit/>
            <a:scene3d>
              <a:camera prst="orthographicFront"/>
              <a:lightRig rig="threePt" dir="t"/>
            </a:scene3d>
            <a:sp3d contourW="12700"/>
          </a:bodyPr>
          <a:lstStyle/>
          <a:p>
            <a:pPr lvl="0">
              <a:lnSpc>
                <a:spcPct val="150000"/>
              </a:lnSpc>
            </a:pPr>
            <a:r>
              <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对AI行业的重大影响</a:t>
            </a:r>
            <a:endParaRPr lang="en-US" altLang="zh-CN" sz="2400" b="1" noProof="0" smtClean="0">
              <a:ln>
                <a:noFill/>
              </a:ln>
              <a:solidFill>
                <a:schemeClr val="tx1"/>
              </a:solidFill>
              <a:effectLst/>
              <a:uLnTx/>
              <a:uFillTx/>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26" name="ï$liḑé"/>
          <p:cNvSpPr/>
          <p:nvPr/>
        </p:nvSpPr>
        <p:spPr>
          <a:xfrm rot="19200000">
            <a:off x="3545081" y="307467"/>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图片 2"/>
          <p:cNvPicPr>
            <a:picLocks noChangeAspect="1"/>
          </p:cNvPicPr>
          <p:nvPr/>
        </p:nvPicPr>
        <p:blipFill>
          <a:blip r:embed="rId1"/>
          <a:stretch>
            <a:fillRect/>
          </a:stretch>
        </p:blipFill>
        <p:spPr>
          <a:xfrm>
            <a:off x="839470" y="1408430"/>
            <a:ext cx="10513060" cy="4620260"/>
          </a:xfrm>
          <a:prstGeom prst="rect">
            <a:avLst/>
          </a:prstGeom>
        </p:spPr>
      </p:pic>
    </p:spTree>
  </p:cSld>
  <p:clrMapOvr>
    <a:masterClrMapping/>
  </p:clrMapOvr>
  <p:transition spd="slow" advTm="200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bwMode="auto">
          <a:xfrm flipV="1">
            <a:off x="859155" y="1597025"/>
            <a:ext cx="10732135" cy="1071880"/>
          </a:xfrm>
          <a:prstGeom prst="roundRect">
            <a:avLst>
              <a:gd name="adj" fmla="val 22894"/>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3" name="Object16"/>
          <p:cNvSpPr/>
          <p:nvPr/>
        </p:nvSpPr>
        <p:spPr>
          <a:xfrm>
            <a:off x="1381856" y="1889601"/>
            <a:ext cx="9870980" cy="492125"/>
          </a:xfrm>
          <a:prstGeom prst="rect">
            <a:avLst/>
          </a:prstGeom>
          <a:noFill/>
        </p:spPr>
        <p:txBody>
          <a:bodyPr wrap="square" lIns="0" tIns="0" rIns="0" bIns="0" rtlCol="0" anchor="t">
            <a:spAutoFit/>
          </a:bodyPr>
          <a:lstStyle/>
          <a:p>
            <a:r>
              <a:rPr lang="en-US" altLang="zh-CN" sz="1600" dirty="0">
                <a:solidFill>
                  <a:srgbClr val="FF0000"/>
                </a:solidFill>
                <a:latin typeface="Alibaba PuHuiTi Regular" panose="00020600040101010101" charset="-122"/>
                <a:ea typeface="Alibaba PuHuiTi Regular" panose="00020600040101010101" charset="-122"/>
                <a:sym typeface="+mn-ea"/>
              </a:rPr>
              <a:t>DeepSeek</a:t>
            </a:r>
            <a:r>
              <a:rPr lang="zh-CN" altLang="en-US" sz="1600" dirty="0">
                <a:latin typeface="思源黑体 CN Normal" panose="020B0200000000000000" pitchFamily="34" charset="-122"/>
                <a:ea typeface="思源黑体 CN Normal" panose="020B0200000000000000" pitchFamily="34" charset="-122"/>
                <a:sym typeface="+mn-ea"/>
              </a:rPr>
              <a:t>是一种大模型，大</a:t>
            </a:r>
            <a:r>
              <a:rPr lang="zh-CN" altLang="en-US" sz="1600" dirty="0" smtClean="0">
                <a:latin typeface="思源黑体 CN Normal" panose="020B0200000000000000" pitchFamily="34" charset="-122"/>
                <a:ea typeface="思源黑体 CN Normal" panose="020B0200000000000000" pitchFamily="34" charset="-122"/>
                <a:sym typeface="+mn-ea"/>
              </a:rPr>
              <a:t>模型一般</a:t>
            </a:r>
            <a:r>
              <a:rPr lang="zh-CN" altLang="en-US" sz="1600" dirty="0">
                <a:latin typeface="思源黑体 CN Normal" panose="020B0200000000000000" pitchFamily="34" charset="-122"/>
                <a:ea typeface="思源黑体 CN Normal" panose="020B0200000000000000" pitchFamily="34" charset="-122"/>
                <a:sym typeface="+mn-ea"/>
              </a:rPr>
              <a:t>也</a:t>
            </a:r>
            <a:r>
              <a:rPr lang="zh-CN" altLang="en-US" sz="1600" dirty="0" smtClean="0">
                <a:latin typeface="思源黑体 CN Normal" panose="020B0200000000000000" pitchFamily="34" charset="-122"/>
                <a:ea typeface="思源黑体 CN Normal" panose="020B0200000000000000" pitchFamily="34" charset="-122"/>
                <a:sym typeface="+mn-ea"/>
              </a:rPr>
              <a:t>称为“大语言模型”，是</a:t>
            </a:r>
            <a:r>
              <a:rPr lang="zh-CN" altLang="en-US" sz="1600" dirty="0">
                <a:latin typeface="思源黑体 CN Normal" panose="020B0200000000000000" pitchFamily="34" charset="-122"/>
                <a:ea typeface="思源黑体 CN Normal" panose="020B0200000000000000" pitchFamily="34" charset="-122"/>
                <a:sym typeface="+mn-ea"/>
              </a:rPr>
              <a:t>一种基于深度学习技术训练出来的人工智能</a:t>
            </a:r>
            <a:r>
              <a:rPr lang="zh-CN" altLang="en-US" sz="1600" dirty="0" smtClean="0">
                <a:latin typeface="思源黑体 CN Normal" panose="020B0200000000000000" pitchFamily="34" charset="-122"/>
                <a:ea typeface="思源黑体 CN Normal" panose="020B0200000000000000" pitchFamily="34" charset="-122"/>
                <a:sym typeface="+mn-ea"/>
              </a:rPr>
              <a:t>系统，</a:t>
            </a:r>
            <a:r>
              <a:rPr lang="zh-CN" altLang="en-US" sz="1600" b="1" dirty="0" smtClean="0">
                <a:latin typeface="Source Han Sans CN Bold" panose="020B0200000000000000" charset="-122"/>
                <a:ea typeface="Source Han Sans CN Bold" panose="020B0200000000000000" charset="-122"/>
                <a:sym typeface="+mn-ea"/>
              </a:rPr>
              <a:t>主要</a:t>
            </a:r>
            <a:r>
              <a:rPr lang="zh-CN" altLang="en-US" sz="1600" b="1" dirty="0">
                <a:latin typeface="Source Han Sans CN Bold" panose="020B0200000000000000" charset="-122"/>
                <a:ea typeface="Source Han Sans CN Bold" panose="020B0200000000000000" charset="-122"/>
                <a:sym typeface="+mn-ea"/>
              </a:rPr>
              <a:t>用于处理和生成人类自然</a:t>
            </a:r>
            <a:r>
              <a:rPr lang="zh-CN" altLang="en-US" sz="1600" b="1" dirty="0" smtClean="0">
                <a:latin typeface="Source Han Sans CN Bold" panose="020B0200000000000000" charset="-122"/>
                <a:ea typeface="Source Han Sans CN Bold" panose="020B0200000000000000" charset="-122"/>
                <a:sym typeface="+mn-ea"/>
              </a:rPr>
              <a:t>语言。</a:t>
            </a:r>
            <a:endParaRPr lang="en-US" altLang="zh-CN" sz="1600" b="1" dirty="0">
              <a:solidFill>
                <a:srgbClr val="B60004"/>
              </a:solidFill>
              <a:latin typeface="Source Han Sans CN Bold" panose="020B0200000000000000" charset="-122"/>
              <a:ea typeface="Source Han Sans CN Bold" panose="020B0200000000000000" charset="-122"/>
              <a:cs typeface="Alibaba PuHuiTi Regular" panose="00020600040101010101" charset="-122"/>
              <a:sym typeface="+mn-ea"/>
            </a:endParaRPr>
          </a:p>
        </p:txBody>
      </p:sp>
      <p:sp>
        <p:nvSpPr>
          <p:cNvPr id="17" name="AutoShape 64"/>
          <p:cNvSpPr>
            <a:spLocks noChangeArrowheads="1"/>
          </p:cNvSpPr>
          <p:nvPr/>
        </p:nvSpPr>
        <p:spPr bwMode="gray">
          <a:xfrm>
            <a:off x="612617" y="389300"/>
            <a:ext cx="6130506" cy="445726"/>
          </a:xfrm>
          <a:prstGeom prst="roundRect">
            <a:avLst>
              <a:gd name="adj" fmla="val 0"/>
            </a:avLst>
          </a:prstGeom>
          <a:noFill/>
          <a:ln w="38100">
            <a:noFill/>
            <a:round/>
          </a:ln>
          <a:effectLst/>
        </p:spPr>
        <p:txBody>
          <a:bodyPr wrap="none" anchor="ctr"/>
          <a:lstStyle/>
          <a:p>
            <a:pPr algn="l">
              <a:lnSpc>
                <a:spcPct val="150000"/>
              </a:lnSpc>
              <a:buClrTx/>
              <a:buSzTx/>
              <a:buFontTx/>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a:t>
            </a:r>
            <a:r>
              <a:rPr lang="zh-CN" altLang="en-US"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与</a:t>
            </a:r>
            <a:r>
              <a:rPr lang="zh-CN" altLang="en-US" sz="2400" b="1" dirty="0" err="1" smtClean="0">
                <a:solidFill>
                  <a:schemeClr val="tx1"/>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背后的</a:t>
            </a:r>
            <a:r>
              <a:rPr lang="en-US" altLang="zh-CN" sz="2400" b="1" dirty="0" err="1" smtClean="0">
                <a:solidFill>
                  <a:schemeClr val="tx1"/>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大模型</a:t>
            </a:r>
            <a:r>
              <a:rPr lang="zh-CN" altLang="en-US" sz="2400" b="1" dirty="0" err="1" smtClean="0">
                <a:solidFill>
                  <a:schemeClr val="tx1"/>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技术关系</a:t>
            </a:r>
            <a:endParaRPr lang="zh-CN" altLang="en-US" sz="2400" b="1" dirty="0" err="1" smtClean="0">
              <a:solidFill>
                <a:schemeClr val="tx1"/>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5420341" y="216113"/>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圆角矩形 8"/>
          <p:cNvSpPr/>
          <p:nvPr>
            <p:custDataLst>
              <p:tags r:id="rId1"/>
            </p:custDataLst>
          </p:nvPr>
        </p:nvSpPr>
        <p:spPr>
          <a:xfrm>
            <a:off x="6766560" y="3279775"/>
            <a:ext cx="4486275" cy="2157095"/>
          </a:xfrm>
          <a:prstGeom prst="roundRect">
            <a:avLst/>
          </a:prstGeom>
          <a:noFill/>
          <a:ln w="28575" cap="flat" cmpd="dbl">
            <a:solidFill>
              <a:srgbClr val="004CFF"/>
            </a:solidFill>
            <a:prstDash val="sysDot"/>
          </a:ln>
          <a:extLst>
            <a:ext uri="{909E8E84-426E-40DD-AFC4-6F175D3DCCD1}">
              <a14:hiddenFill xmlns:a14="http://schemas.microsoft.com/office/drawing/2010/main">
                <a:solidFill>
                  <a:srgbClr val="FF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Normal" panose="020B0200000000000000" pitchFamily="34" charset="-122"/>
              <a:ea typeface="思源黑体 CN Normal" panose="020B0200000000000000" pitchFamily="34" charset="-122"/>
            </a:endParaRPr>
          </a:p>
        </p:txBody>
      </p:sp>
      <p:pic>
        <p:nvPicPr>
          <p:cNvPr id="7" name="图片 6"/>
          <p:cNvPicPr>
            <a:picLocks noChangeAspect="1"/>
          </p:cNvPicPr>
          <p:nvPr>
            <p:custDataLst>
              <p:tags r:id="rId2"/>
            </p:custDataLst>
          </p:nvPr>
        </p:nvPicPr>
        <p:blipFill>
          <a:blip r:embed="rId3"/>
          <a:stretch>
            <a:fillRect/>
          </a:stretch>
        </p:blipFill>
        <p:spPr>
          <a:xfrm>
            <a:off x="1022985" y="3396615"/>
            <a:ext cx="3281680" cy="1987550"/>
          </a:xfrm>
          <a:prstGeom prst="roundRect">
            <a:avLst/>
          </a:prstGeom>
        </p:spPr>
      </p:pic>
      <p:sp>
        <p:nvSpPr>
          <p:cNvPr id="8" name="右箭头 7"/>
          <p:cNvSpPr/>
          <p:nvPr>
            <p:custDataLst>
              <p:tags r:id="rId4"/>
            </p:custDataLst>
          </p:nvPr>
        </p:nvSpPr>
        <p:spPr>
          <a:xfrm>
            <a:off x="5117465" y="4116070"/>
            <a:ext cx="808355" cy="304800"/>
          </a:xfrm>
          <a:prstGeom prst="rightArrow">
            <a:avLst/>
          </a:prstGeom>
          <a:solidFill>
            <a:srgbClr val="FF0000"/>
          </a:solidFill>
        </p:spPr>
        <p:style>
          <a:lnRef idx="0">
            <a:srgbClr val="FFFFFF"/>
          </a:lnRef>
          <a:fillRef idx="3">
            <a:schemeClr val="accent3"/>
          </a:fillRef>
          <a:effectRef idx="0">
            <a:srgbClr val="FFFFFF"/>
          </a:effectRef>
          <a:fontRef idx="minor">
            <a:schemeClr val="dk1"/>
          </a:fontRef>
        </p:style>
        <p:txBody>
          <a:bodyPr rtlCol="0" anchor="ctr"/>
          <a:lstStyle/>
          <a:p>
            <a:pPr algn="ctr"/>
            <a:endParaRPr lang="zh-CN" altLang="en-US">
              <a:latin typeface="思源黑体 CN Normal" panose="020B0200000000000000" pitchFamily="34" charset="-122"/>
              <a:ea typeface="思源黑体 CN Normal" panose="020B0200000000000000" pitchFamily="34" charset="-122"/>
            </a:endParaRPr>
          </a:p>
        </p:txBody>
      </p:sp>
      <p:sp>
        <p:nvSpPr>
          <p:cNvPr id="10" name="文本框 9"/>
          <p:cNvSpPr txBox="1"/>
          <p:nvPr>
            <p:custDataLst>
              <p:tags r:id="rId5"/>
            </p:custDataLst>
          </p:nvPr>
        </p:nvSpPr>
        <p:spPr>
          <a:xfrm>
            <a:off x="5149850" y="3850005"/>
            <a:ext cx="637540" cy="304165"/>
          </a:xfrm>
          <a:prstGeom prst="rect">
            <a:avLst/>
          </a:prstGeom>
          <a:noFill/>
        </p:spPr>
        <p:txBody>
          <a:bodyPr wrap="square">
            <a:noAutofit/>
          </a:bodyPr>
          <a:lstStyle/>
          <a:p>
            <a:pPr fontAlgn="auto">
              <a:spcBef>
                <a:spcPts val="0"/>
              </a:spcBef>
              <a:spcAft>
                <a:spcPts val="0"/>
              </a:spcAft>
            </a:pPr>
            <a:r>
              <a:rPr lang="zh-CN" altLang="en-US" sz="1600" dirty="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特点</a:t>
            </a:r>
            <a:endParaRPr lang="zh-CN" altLang="en-US" sz="1600" dirty="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endParaRPr>
          </a:p>
        </p:txBody>
      </p:sp>
      <p:sp>
        <p:nvSpPr>
          <p:cNvPr id="11" name="文本框 10"/>
          <p:cNvSpPr txBox="1"/>
          <p:nvPr>
            <p:custDataLst>
              <p:tags r:id="rId6"/>
            </p:custDataLst>
          </p:nvPr>
        </p:nvSpPr>
        <p:spPr>
          <a:xfrm>
            <a:off x="6970395" y="3550920"/>
            <a:ext cx="4064000" cy="829945"/>
          </a:xfrm>
          <a:prstGeom prst="rect">
            <a:avLst/>
          </a:prstGeom>
          <a:noFill/>
        </p:spPr>
        <p:txBody>
          <a:bodyPr wrap="square">
            <a:spAutoFit/>
          </a:bodyPr>
          <a:lstStyle/>
          <a:p>
            <a:pPr algn="l" fontAlgn="auto">
              <a:lnSpc>
                <a:spcPct val="150000"/>
              </a:lnSpc>
              <a:spcBef>
                <a:spcPts val="0"/>
              </a:spcBef>
              <a:spcAft>
                <a:spcPts val="0"/>
              </a:spcAft>
              <a:buClrTx/>
              <a:buSzTx/>
              <a:buFontTx/>
            </a:pPr>
            <a:r>
              <a:rPr lang="zh-CN" altLang="en-US" sz="1600" dirty="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模型</a:t>
            </a:r>
            <a:r>
              <a:rPr lang="zh-CN" altLang="en-US" sz="1600" dirty="0" smtClean="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规模：</a:t>
            </a:r>
            <a:r>
              <a:rPr lang="zh-CN" altLang="en-US" sz="1600" b="1" dirty="0" smtClean="0">
                <a:solidFill>
                  <a:schemeClr val="tx1"/>
                </a:solidFill>
                <a:latin typeface="Source Han Sans CN Bold" panose="020B0200000000000000" charset="-122"/>
                <a:ea typeface="Source Han Sans CN Bold" panose="020B0200000000000000" charset="-122"/>
                <a:cs typeface="Alibaba PuHuiTi Regular" panose="00020600040101010101" charset="-122"/>
              </a:rPr>
              <a:t>通常</a:t>
            </a:r>
            <a:r>
              <a:rPr lang="zh-CN" altLang="en-US" sz="1600" b="1" dirty="0">
                <a:solidFill>
                  <a:schemeClr val="tx1"/>
                </a:solidFill>
                <a:latin typeface="Source Han Sans CN Bold" panose="020B0200000000000000" charset="-122"/>
                <a:ea typeface="Source Han Sans CN Bold" panose="020B0200000000000000" charset="-122"/>
                <a:cs typeface="Alibaba PuHuiTi Regular" panose="00020600040101010101" charset="-122"/>
              </a:rPr>
              <a:t>包含数十亿到数千亿个</a:t>
            </a:r>
            <a:r>
              <a:rPr lang="zh-CN" altLang="en-US" sz="1600" b="1" dirty="0" smtClean="0">
                <a:solidFill>
                  <a:schemeClr val="tx1"/>
                </a:solidFill>
                <a:latin typeface="Source Han Sans CN Bold" panose="020B0200000000000000" charset="-122"/>
                <a:ea typeface="Source Han Sans CN Bold" panose="020B0200000000000000" charset="-122"/>
                <a:cs typeface="Alibaba PuHuiTi Regular" panose="00020600040101010101" charset="-122"/>
              </a:rPr>
              <a:t>参数</a:t>
            </a:r>
            <a:r>
              <a:rPr lang="zh-CN" altLang="en-US" sz="1600" dirty="0" smtClean="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，这些</a:t>
            </a:r>
            <a:r>
              <a:rPr lang="zh-CN" altLang="en-US" sz="1600" dirty="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参数就像是模型</a:t>
            </a:r>
            <a:r>
              <a:rPr lang="zh-CN" altLang="en-US" sz="1600" dirty="0" smtClean="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rPr>
              <a:t>的“大脑神经元”；</a:t>
            </a:r>
            <a:endParaRPr lang="en-US" altLang="zh-CN" sz="1600" dirty="0">
              <a:solidFill>
                <a:schemeClr val="tx1"/>
              </a:solidFill>
              <a:latin typeface="思源黑体 CN Normal" panose="020B0200000000000000" pitchFamily="34" charset="-122"/>
              <a:ea typeface="思源黑体 CN Normal" panose="020B0200000000000000" pitchFamily="34" charset="-122"/>
              <a:cs typeface="Alibaba PuHuiTi Regular" panose="00020600040101010101" charset="-122"/>
            </a:endParaRPr>
          </a:p>
        </p:txBody>
      </p:sp>
      <p:sp>
        <p:nvSpPr>
          <p:cNvPr id="12" name="文本框 11"/>
          <p:cNvSpPr txBox="1"/>
          <p:nvPr>
            <p:custDataLst>
              <p:tags r:id="rId7"/>
            </p:custDataLst>
          </p:nvPr>
        </p:nvSpPr>
        <p:spPr>
          <a:xfrm>
            <a:off x="6970395" y="4420870"/>
            <a:ext cx="4176395" cy="829945"/>
          </a:xfrm>
          <a:prstGeom prst="rect">
            <a:avLst/>
          </a:prstGeom>
          <a:noFill/>
        </p:spPr>
        <p:txBody>
          <a:bodyPr wrap="square">
            <a:spAutoFit/>
          </a:bodyPr>
          <a:lstStyle/>
          <a:p>
            <a:pPr algn="l" fontAlgn="auto">
              <a:lnSpc>
                <a:spcPct val="150000"/>
              </a:lnSpc>
              <a:spcBef>
                <a:spcPts val="0"/>
              </a:spcBef>
              <a:spcAft>
                <a:spcPts val="0"/>
              </a:spcAft>
              <a:buClrTx/>
              <a:buSzTx/>
              <a:buFontTx/>
            </a:pP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训练</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数据：</a:t>
            </a:r>
            <a:r>
              <a:rPr lang="zh-CN" altLang="en-US" sz="1600" b="1" dirty="0" smtClean="0">
                <a:latin typeface="Source Han Sans CN Bold" panose="020B0200000000000000" charset="-122"/>
                <a:ea typeface="Source Han Sans CN Bold" panose="020B0200000000000000" charset="-122"/>
                <a:cs typeface="Alibaba PuHuiTi Regular" panose="00020600040101010101" charset="-122"/>
              </a:rPr>
              <a:t>使用海量文本</a:t>
            </a:r>
            <a:r>
              <a:rPr lang="zh-CN" altLang="en-US" sz="1600" b="1" dirty="0">
                <a:latin typeface="Source Han Sans CN Bold" panose="020B0200000000000000" charset="-122"/>
                <a:ea typeface="Source Han Sans CN Bold" panose="020B0200000000000000" charset="-122"/>
                <a:cs typeface="Alibaba PuHuiTi Regular" panose="00020600040101010101" charset="-122"/>
              </a:rPr>
              <a:t>数据进行</a:t>
            </a:r>
            <a:r>
              <a:rPr lang="zh-CN" altLang="en-US" sz="1600" b="1" dirty="0" smtClean="0">
                <a:latin typeface="Source Han Sans CN Bold" panose="020B0200000000000000" charset="-122"/>
                <a:ea typeface="Source Han Sans CN Bold" panose="020B0200000000000000" charset="-122"/>
                <a:cs typeface="Alibaba PuHuiTi Regular" panose="00020600040101010101" charset="-122"/>
              </a:rPr>
              <a:t>训练</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，包括</a:t>
            </a: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书籍、文章、网页等各种形式的文字</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内容。</a:t>
            </a:r>
            <a:endParaRPr lang="en-US" altLang="zh-CN" sz="1600" dirty="0">
              <a:latin typeface="思源黑体 CN Normal" panose="020B0200000000000000" pitchFamily="34" charset="-122"/>
              <a:ea typeface="思源黑体 CN Normal" panose="020B0200000000000000" pitchFamily="34" charset="-122"/>
              <a:cs typeface="Alibaba PuHuiTi Regular" panose="00020600040101010101" charset="-122"/>
            </a:endParaRPr>
          </a:p>
        </p:txBody>
      </p:sp>
      <p:sp>
        <p:nvSpPr>
          <p:cNvPr id="13" name="文本框 12"/>
          <p:cNvSpPr txBox="1"/>
          <p:nvPr>
            <p:custDataLst>
              <p:tags r:id="rId8"/>
            </p:custDataLst>
          </p:nvPr>
        </p:nvSpPr>
        <p:spPr>
          <a:xfrm>
            <a:off x="1022985" y="5957570"/>
            <a:ext cx="10232390" cy="461665"/>
          </a:xfrm>
          <a:prstGeom prst="rect">
            <a:avLst/>
          </a:prstGeom>
          <a:noFill/>
        </p:spPr>
        <p:txBody>
          <a:bodyPr wrap="square">
            <a:spAutoFit/>
          </a:bodyPr>
          <a:lstStyle/>
          <a:p>
            <a:pPr algn="l" fontAlgn="auto">
              <a:lnSpc>
                <a:spcPct val="150000"/>
              </a:lnSpc>
              <a:spcBef>
                <a:spcPts val="0"/>
              </a:spcBef>
              <a:spcAft>
                <a:spcPts val="0"/>
              </a:spcAft>
              <a:buClrTx/>
              <a:buSzTx/>
              <a:buFontTx/>
            </a:pP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大</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模型工作原理：通过</a:t>
            </a: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学习大量</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文本，掌握</a:t>
            </a: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了语言的规律和</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知识，然后</a:t>
            </a:r>
            <a:r>
              <a:rPr lang="zh-CN" altLang="en-US" sz="1600" dirty="0">
                <a:latin typeface="思源黑体 CN Normal" panose="020B0200000000000000" pitchFamily="34" charset="-122"/>
                <a:ea typeface="思源黑体 CN Normal" panose="020B0200000000000000" pitchFamily="34" charset="-122"/>
                <a:cs typeface="Alibaba PuHuiTi Regular" panose="00020600040101010101" charset="-122"/>
              </a:rPr>
              <a:t>根据输入的提示(prompt)生成相应的</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输出。</a:t>
            </a:r>
            <a:endParaRPr lang="en-US" altLang="zh-CN" sz="1600" dirty="0">
              <a:latin typeface="思源黑体 CN Normal" panose="020B0200000000000000" pitchFamily="34" charset="-122"/>
              <a:ea typeface="思源黑体 CN Normal" panose="020B0200000000000000" pitchFamily="34" charset="-122"/>
              <a:cs typeface="Alibaba PuHuiTi Regular" panose="0002060004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64"/>
          <p:cNvSpPr>
            <a:spLocks noChangeArrowheads="1"/>
          </p:cNvSpPr>
          <p:nvPr/>
        </p:nvSpPr>
        <p:spPr bwMode="gray">
          <a:xfrm>
            <a:off x="612617" y="389300"/>
            <a:ext cx="6130506" cy="445726"/>
          </a:xfrm>
          <a:prstGeom prst="roundRect">
            <a:avLst>
              <a:gd name="adj" fmla="val 0"/>
            </a:avLst>
          </a:prstGeom>
          <a:noFill/>
          <a:ln w="38100">
            <a:noFill/>
            <a:round/>
          </a:ln>
          <a:effectLst/>
        </p:spPr>
        <p:txBody>
          <a:bodyPr wrap="none" anchor="ctr"/>
          <a:lstStyle/>
          <a:p>
            <a:pPr algn="l">
              <a:lnSpc>
                <a:spcPct val="150000"/>
              </a:lnSpc>
              <a:buClrTx/>
              <a:buSzTx/>
              <a:buFontTx/>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大模型的</a:t>
            </a: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实现原理</a:t>
            </a:r>
            <a:endPar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endParaRPr>
          </a:p>
        </p:txBody>
      </p:sp>
      <p:sp>
        <p:nvSpPr>
          <p:cNvPr id="19" name="ï$liḑé"/>
          <p:cNvSpPr/>
          <p:nvPr/>
        </p:nvSpPr>
        <p:spPr>
          <a:xfrm rot="19200000">
            <a:off x="2921585" y="222567"/>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圆角矩形 30"/>
          <p:cNvSpPr/>
          <p:nvPr/>
        </p:nvSpPr>
        <p:spPr bwMode="auto">
          <a:xfrm flipV="1">
            <a:off x="740410" y="1425009"/>
            <a:ext cx="10732135" cy="1071880"/>
          </a:xfrm>
          <a:prstGeom prst="roundRect">
            <a:avLst>
              <a:gd name="adj" fmla="val 22894"/>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3" name="Object16"/>
          <p:cNvSpPr/>
          <p:nvPr/>
        </p:nvSpPr>
        <p:spPr>
          <a:xfrm>
            <a:off x="1102149" y="1591617"/>
            <a:ext cx="10008656" cy="738664"/>
          </a:xfrm>
          <a:prstGeom prst="rect">
            <a:avLst/>
          </a:prstGeom>
          <a:noFill/>
        </p:spPr>
        <p:txBody>
          <a:bodyPr wrap="square" lIns="0" tIns="0" rIns="0" bIns="0" rtlCol="0" anchor="t">
            <a:spAutoFit/>
          </a:bodyPr>
          <a:lstStyle/>
          <a:p>
            <a:pPr algn="l" fontAlgn="auto">
              <a:lnSpc>
                <a:spcPct val="150000"/>
              </a:lnSpc>
              <a:spcBef>
                <a:spcPts val="0"/>
              </a:spcBef>
              <a:buClrTx/>
              <a:buSzTx/>
              <a:buFontTx/>
            </a:pPr>
            <a:r>
              <a:rPr lang="zh-CN" altLang="en-US" sz="1600" dirty="0">
                <a:solidFill>
                  <a:srgbClr val="FF0000"/>
                </a:solidFill>
                <a:latin typeface="思源黑体 CN Normal" panose="020B0200000000000000" pitchFamily="34" charset="-122"/>
                <a:ea typeface="思源黑体 CN Normal" panose="020B0200000000000000" pitchFamily="34" charset="-122"/>
                <a:sym typeface="+mn-ea"/>
              </a:rPr>
              <a:t>深度学习</a:t>
            </a:r>
            <a:r>
              <a:rPr lang="zh-CN" altLang="en-US" sz="1600" dirty="0">
                <a:latin typeface="思源黑体 CN Normal" panose="020B0200000000000000" pitchFamily="34" charset="-122"/>
                <a:ea typeface="思源黑体 CN Normal" panose="020B0200000000000000" pitchFamily="34" charset="-122"/>
                <a:sym typeface="+mn-ea"/>
              </a:rPr>
              <a:t>就是用层数较多（深）的人工神经网络从数据中学习输入与输出之间映射关系的算法，而人工神经网络是受生物神经网络的结构和功能启发下设计的计算模型。</a:t>
            </a:r>
            <a:endParaRPr lang="zh-CN" altLang="en-US" sz="1600" dirty="0">
              <a:latin typeface="思源黑体 CN Normal" panose="020B0200000000000000" pitchFamily="34" charset="-122"/>
              <a:ea typeface="思源黑体 CN Normal" panose="020B0200000000000000" pitchFamily="34" charset="-122"/>
            </a:endParaRPr>
          </a:p>
        </p:txBody>
      </p:sp>
      <p:sp>
        <p:nvSpPr>
          <p:cNvPr id="8" name="文本框 7"/>
          <p:cNvSpPr txBox="1"/>
          <p:nvPr>
            <p:custDataLst>
              <p:tags r:id="rId1"/>
            </p:custDataLst>
          </p:nvPr>
        </p:nvSpPr>
        <p:spPr>
          <a:xfrm>
            <a:off x="6998970" y="3006725"/>
            <a:ext cx="4473575" cy="3020695"/>
          </a:xfrm>
          <a:prstGeom prst="rect">
            <a:avLst/>
          </a:prstGeom>
          <a:noFill/>
        </p:spPr>
        <p:txBody>
          <a:bodyPr wrap="square">
            <a:noAutofit/>
          </a:bodyPr>
          <a:lstStyle/>
          <a:p>
            <a:pPr fontAlgn="auto">
              <a:lnSpc>
                <a:spcPct val="150000"/>
              </a:lnSpc>
              <a:spcBef>
                <a:spcPts val="0"/>
              </a:spcBef>
              <a:spcAft>
                <a:spcPts val="0"/>
              </a:spcAft>
            </a:pPr>
            <a:r>
              <a:rPr lang="en-US" altLang="zh-CN" sz="1600" dirty="0" err="1">
                <a:latin typeface="思源黑体 CN Normal" panose="020B0200000000000000" pitchFamily="34" charset="-122"/>
                <a:ea typeface="思源黑体 CN Normal" panose="020B0200000000000000" pitchFamily="34" charset="-122"/>
                <a:cs typeface="Alibaba PuHuiTi Regular" panose="00020600040101010101" charset="-122"/>
              </a:rPr>
              <a:t>用深度学习训练得到的网络就叫深度神经网络，它</a:t>
            </a:r>
            <a:r>
              <a:rPr lang="en-US" altLang="zh-CN" sz="1600" b="1" dirty="0" err="1">
                <a:latin typeface="Source Han Sans CN Bold" panose="020B0200000000000000" charset="-122"/>
                <a:ea typeface="Source Han Sans CN Bold" panose="020B0200000000000000" charset="-122"/>
                <a:cs typeface="Alibaba PuHuiTi Regular" panose="00020600040101010101" charset="-122"/>
              </a:rPr>
              <a:t>可以简单的看成一个函数</a:t>
            </a:r>
            <a:r>
              <a:rPr lang="en-US" altLang="zh-CN" sz="1600" dirty="0" err="1">
                <a:latin typeface="思源黑体 CN Normal" panose="020B0200000000000000" pitchFamily="34" charset="-122"/>
                <a:ea typeface="思源黑体 CN Normal" panose="020B0200000000000000" pitchFamily="34" charset="-122"/>
                <a:cs typeface="Alibaba PuHuiTi Regular" panose="00020600040101010101" charset="-122"/>
              </a:rPr>
              <a:t>，能够完成任何输入到输出的转换</a:t>
            </a:r>
            <a:r>
              <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a:t>
            </a:r>
            <a:endPar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endParaRPr>
          </a:p>
          <a:p>
            <a:pPr fontAlgn="auto">
              <a:lnSpc>
                <a:spcPct val="150000"/>
              </a:lnSpc>
              <a:spcBef>
                <a:spcPts val="0"/>
              </a:spcBef>
              <a:spcAft>
                <a:spcPts val="0"/>
              </a:spcAft>
            </a:pPr>
            <a:endParaRPr lang="en-US" altLang="zh-CN" sz="1600" dirty="0">
              <a:latin typeface="思源黑体 CN Normal" panose="020B0200000000000000" pitchFamily="34" charset="-122"/>
              <a:ea typeface="思源黑体 CN Normal" panose="020B0200000000000000" pitchFamily="34" charset="-122"/>
              <a:cs typeface="Alibaba PuHuiTi Regular" panose="00020600040101010101" charset="-122"/>
            </a:endParaRPr>
          </a:p>
          <a:p>
            <a:pPr fontAlgn="auto">
              <a:lnSpc>
                <a:spcPct val="150000"/>
              </a:lnSpc>
              <a:spcBef>
                <a:spcPts val="0"/>
              </a:spcBef>
              <a:spcAft>
                <a:spcPts val="0"/>
              </a:spcAft>
            </a:pPr>
            <a:r>
              <a:rPr lang="en-US" altLang="zh-CN" sz="1600" dirty="0" err="1" smtClean="0">
                <a:latin typeface="思源黑体 CN Normal" panose="020B0200000000000000" pitchFamily="34" charset="-122"/>
                <a:ea typeface="思源黑体 CN Normal" panose="020B0200000000000000" pitchFamily="34" charset="-122"/>
                <a:cs typeface="Alibaba PuHuiTi Regular" panose="00020600040101010101" charset="-122"/>
              </a:rPr>
              <a:t>比如</a:t>
            </a:r>
            <a:r>
              <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a:t>
            </a:r>
            <a:endPar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endParaRPr>
          </a:p>
          <a:p>
            <a:pPr fontAlgn="auto">
              <a:lnSpc>
                <a:spcPct val="150000"/>
              </a:lnSpc>
              <a:spcBef>
                <a:spcPts val="0"/>
              </a:spcBef>
              <a:spcAft>
                <a:spcPts val="0"/>
              </a:spcAft>
            </a:pPr>
            <a:r>
              <a:rPr lang="en-US" altLang="zh-CN" sz="1600" dirty="0" err="1" smtClean="0">
                <a:latin typeface="思源黑体 CN Normal" panose="020B0200000000000000" pitchFamily="34" charset="-122"/>
                <a:ea typeface="思源黑体 CN Normal" panose="020B0200000000000000" pitchFamily="34" charset="-122"/>
                <a:cs typeface="Alibaba PuHuiTi Regular" panose="00020600040101010101" charset="-122"/>
              </a:rPr>
              <a:t>我们可以用它玩</a:t>
            </a:r>
            <a:r>
              <a:rPr lang="en-US" altLang="zh-CN" sz="1600" b="1" dirty="0" err="1" smtClean="0">
                <a:latin typeface="Source Han Sans CN Bold" panose="020B0200000000000000" charset="-122"/>
                <a:ea typeface="Source Han Sans CN Bold" panose="020B0200000000000000" charset="-122"/>
                <a:cs typeface="Alibaba PuHuiTi Regular" panose="00020600040101010101" charset="-122"/>
              </a:rPr>
              <a:t>成语补全的游戏</a:t>
            </a:r>
            <a:r>
              <a:rPr lang="en-US" altLang="zh-CN" sz="1600" dirty="0" err="1">
                <a:latin typeface="思源黑体 CN Normal" panose="020B0200000000000000" pitchFamily="34" charset="-122"/>
                <a:ea typeface="思源黑体 CN Normal" panose="020B0200000000000000" pitchFamily="34" charset="-122"/>
                <a:cs typeface="Alibaba PuHuiTi Regular" panose="00020600040101010101" charset="-122"/>
              </a:rPr>
              <a:t>，输入成语的前三个字，</a:t>
            </a:r>
            <a:r>
              <a:rPr lang="en-US" altLang="zh-CN" sz="1600" dirty="0" err="1" smtClean="0">
                <a:latin typeface="思源黑体 CN Normal" panose="020B0200000000000000" pitchFamily="34" charset="-122"/>
                <a:ea typeface="思源黑体 CN Normal" panose="020B0200000000000000" pitchFamily="34" charset="-122"/>
                <a:cs typeface="Alibaba PuHuiTi Regular" panose="00020600040101010101" charset="-122"/>
              </a:rPr>
              <a:t>让网络输出最后一个字</a:t>
            </a:r>
            <a:r>
              <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a:t>
            </a:r>
            <a:r>
              <a:rPr lang="en-US" altLang="zh-CN" sz="1600" dirty="0">
                <a:latin typeface="思源黑体 CN Normal" panose="020B0200000000000000" pitchFamily="34" charset="-122"/>
                <a:ea typeface="思源黑体 CN Normal" panose="020B0200000000000000" pitchFamily="34" charset="-122"/>
                <a:cs typeface="Alibaba PuHuiTi Regular" panose="00020600040101010101" charset="-122"/>
              </a:rPr>
              <a:t>见图1</a:t>
            </a:r>
            <a:r>
              <a:rPr lang="en-US" altLang="zh-CN"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a:t>
            </a:r>
            <a:r>
              <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rPr>
              <a:t>。</a:t>
            </a:r>
            <a:endParaRPr lang="zh-CN" altLang="en-US" sz="1600" dirty="0" smtClean="0">
              <a:latin typeface="思源黑体 CN Normal" panose="020B0200000000000000" pitchFamily="34" charset="-122"/>
              <a:ea typeface="思源黑体 CN Normal" panose="020B0200000000000000" pitchFamily="34" charset="-122"/>
              <a:cs typeface="Alibaba PuHuiTi Regular" panose="00020600040101010101" charset="-122"/>
            </a:endParaRPr>
          </a:p>
        </p:txBody>
      </p:sp>
      <p:pic>
        <p:nvPicPr>
          <p:cNvPr id="9" name="图片 8"/>
          <p:cNvPicPr>
            <a:picLocks noChangeAspect="1"/>
          </p:cNvPicPr>
          <p:nvPr>
            <p:custDataLst>
              <p:tags r:id="rId2"/>
            </p:custDataLst>
          </p:nvPr>
        </p:nvPicPr>
        <p:blipFill>
          <a:blip r:embed="rId3"/>
          <a:stretch>
            <a:fillRect/>
          </a:stretch>
        </p:blipFill>
        <p:spPr>
          <a:xfrm>
            <a:off x="910951" y="3289483"/>
            <a:ext cx="5416550" cy="2738120"/>
          </a:xfrm>
          <a:prstGeom prst="rect">
            <a:avLst/>
          </a:prstGeom>
          <a:ln>
            <a:solidFill>
              <a:srgbClr val="00B050"/>
            </a:solidFill>
          </a:ln>
        </p:spPr>
      </p:pic>
    </p:spTree>
  </p:cSld>
  <p:clrMapOvr>
    <a:masterClrMapping/>
  </p:clrMapOvr>
  <p:timing>
    <p:tnLst>
      <p:par>
        <p:cTn id="1" dur="indefinite" restart="never" nodeType="tmRoot"/>
      </p:par>
    </p:tnLst>
    <p:bldLst>
      <p:bldP spid="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64"/>
          <p:cNvSpPr>
            <a:spLocks noChangeArrowheads="1"/>
          </p:cNvSpPr>
          <p:nvPr/>
        </p:nvSpPr>
        <p:spPr bwMode="gray">
          <a:xfrm>
            <a:off x="612617" y="389300"/>
            <a:ext cx="6130506" cy="445726"/>
          </a:xfrm>
          <a:prstGeom prst="roundRect">
            <a:avLst>
              <a:gd name="adj" fmla="val 0"/>
            </a:avLst>
          </a:prstGeom>
          <a:noFill/>
          <a:ln w="38100">
            <a:noFill/>
            <a:round/>
          </a:ln>
          <a:effectLst/>
        </p:spPr>
        <p:txBody>
          <a:bodyPr wrap="none" anchor="ctr"/>
          <a:lstStyle/>
          <a:p>
            <a:pPr algn="l">
              <a:lnSpc>
                <a:spcPct val="150000"/>
              </a:lnSpc>
              <a:buClrTx/>
              <a:buSzTx/>
              <a:buFontTx/>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a:t>
            </a: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私有化</a:t>
            </a: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部署</a:t>
            </a:r>
            <a:endPar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3420215" y="426622"/>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文本框 8"/>
          <p:cNvSpPr txBox="1"/>
          <p:nvPr>
            <p:custDataLst>
              <p:tags r:id="rId1"/>
            </p:custDataLst>
          </p:nvPr>
        </p:nvSpPr>
        <p:spPr>
          <a:xfrm>
            <a:off x="611982" y="1356678"/>
            <a:ext cx="6621737" cy="398780"/>
          </a:xfrm>
          <a:prstGeom prst="rect">
            <a:avLst/>
          </a:prstGeom>
          <a:noFill/>
        </p:spPr>
        <p:txBody>
          <a:bodyPr wrap="square">
            <a:spAutoFit/>
          </a:bodyPr>
          <a:lstStyle/>
          <a:p>
            <a:pPr fontAlgn="auto">
              <a:spcBef>
                <a:spcPts val="0"/>
              </a:spcBef>
              <a:spcAft>
                <a:spcPts val="0"/>
              </a:spcAft>
            </a:pPr>
            <a:r>
              <a:rPr sz="2000" dirty="0" err="1">
                <a:latin typeface="思源黑体 CN Medium" panose="020B0200000000000000" pitchFamily="34" charset="-122"/>
                <a:ea typeface="思源黑体 CN Medium" panose="020B0200000000000000" pitchFamily="34" charset="-122"/>
                <a:cs typeface="Alibaba PuHuiTi Regular" panose="00020600040101010101" charset="-122"/>
                <a:sym typeface="+mn-ea"/>
              </a:rPr>
              <a:t>DeepSeek</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 R1模型可通过</a:t>
            </a:r>
            <a:r>
              <a:rPr sz="2000" dirty="0">
                <a:solidFill>
                  <a:srgbClr val="C00000"/>
                </a:solidFill>
                <a:latin typeface="思源黑体 CN Medium" panose="020B0200000000000000" pitchFamily="34" charset="-122"/>
                <a:ea typeface="思源黑体 CN Medium" panose="020B0200000000000000" pitchFamily="34" charset="-122"/>
                <a:cs typeface="Alibaba PuHuiTi Regular" panose="00020600040101010101" charset="-122"/>
                <a:sym typeface="+mn-ea"/>
              </a:rPr>
              <a:t>云端调用</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和</a:t>
            </a:r>
            <a:r>
              <a:rPr sz="2000" dirty="0">
                <a:solidFill>
                  <a:srgbClr val="C00000"/>
                </a:solidFill>
                <a:latin typeface="思源黑体 CN Medium" panose="020B0200000000000000" pitchFamily="34" charset="-122"/>
                <a:ea typeface="思源黑体 CN Medium" panose="020B0200000000000000" pitchFamily="34" charset="-122"/>
                <a:cs typeface="Alibaba PuHuiTi Regular" panose="00020600040101010101" charset="-122"/>
                <a:sym typeface="+mn-ea"/>
              </a:rPr>
              <a:t>本地部署</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的方式使用</a:t>
            </a:r>
            <a:endPar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endParaRPr>
          </a:p>
        </p:txBody>
      </p:sp>
      <p:sp>
        <p:nvSpPr>
          <p:cNvPr id="31" name="圆角矩形 30"/>
          <p:cNvSpPr/>
          <p:nvPr/>
        </p:nvSpPr>
        <p:spPr bwMode="auto">
          <a:xfrm flipV="1">
            <a:off x="611982" y="2066925"/>
            <a:ext cx="6540002" cy="2237740"/>
          </a:xfrm>
          <a:prstGeom prst="roundRect">
            <a:avLst>
              <a:gd name="adj" fmla="val 14802"/>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2" name="Object16"/>
          <p:cNvSpPr/>
          <p:nvPr/>
        </p:nvSpPr>
        <p:spPr>
          <a:xfrm>
            <a:off x="1014125" y="2291080"/>
            <a:ext cx="5919092" cy="1781810"/>
          </a:xfrm>
          <a:prstGeom prst="rect">
            <a:avLst/>
          </a:prstGeom>
          <a:noFill/>
        </p:spPr>
        <p:txBody>
          <a:bodyPr wrap="square" lIns="0" tIns="0" rIns="0" bIns="0" rtlCol="0" anchor="t">
            <a:noAutofit/>
          </a:bodyPr>
          <a:lstStyle/>
          <a:p>
            <a:r>
              <a:rPr sz="1600" dirty="0" err="1" smtClean="0">
                <a:latin typeface="思源黑体 CN Normal" panose="020B0200000000000000" pitchFamily="34" charset="-122"/>
                <a:ea typeface="思源黑体 CN Normal" panose="020B0200000000000000" pitchFamily="34" charset="-122"/>
              </a:rPr>
              <a:t>云端调用</a:t>
            </a:r>
            <a:endParaRPr lang="en-US" sz="1600" dirty="0" smtClean="0">
              <a:latin typeface="思源黑体 CN Normal" panose="020B0200000000000000" pitchFamily="34" charset="-122"/>
              <a:ea typeface="思源黑体 CN Normal" panose="020B0200000000000000" pitchFamily="34" charset="-122"/>
            </a:endParaRPr>
          </a:p>
          <a:p>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rPr>
              <a:t>可</a:t>
            </a:r>
            <a:r>
              <a:rPr sz="1600" b="1" dirty="0" err="1" smtClean="0">
                <a:latin typeface="Source Han Sans CN Bold" panose="020B0200000000000000" charset="-122"/>
                <a:ea typeface="Source Han Sans CN Bold" panose="020B0200000000000000" charset="-122"/>
                <a:cs typeface="Source Han Sans CN Bold" panose="020B0200000000000000" charset="-122"/>
              </a:rPr>
              <a:t>通过官方</a:t>
            </a:r>
            <a:r>
              <a:rPr sz="1600" b="1" dirty="0" err="1">
                <a:latin typeface="Source Han Sans CN Bold" panose="020B0200000000000000" charset="-122"/>
                <a:ea typeface="Source Han Sans CN Bold" panose="020B0200000000000000" charset="-122"/>
                <a:cs typeface="Source Han Sans CN Bold" panose="020B0200000000000000" charset="-122"/>
              </a:rPr>
              <a:t>API或第三方API直接调用</a:t>
            </a:r>
            <a:r>
              <a:rPr sz="1600" dirty="0" err="1">
                <a:latin typeface="思源黑体 CN Normal" panose="020B0200000000000000" pitchFamily="34" charset="-122"/>
                <a:ea typeface="思源黑体 CN Normal" panose="020B0200000000000000" pitchFamily="34" charset="-122"/>
              </a:rPr>
              <a:t>DeepSeek</a:t>
            </a:r>
            <a:r>
              <a:rPr sz="1600" dirty="0">
                <a:latin typeface="思源黑体 CN Normal" panose="020B0200000000000000" pitchFamily="34" charset="-122"/>
                <a:ea typeface="思源黑体 CN Normal" panose="020B0200000000000000" pitchFamily="34" charset="-122"/>
              </a:rPr>
              <a:t> R1模型服务并接入业务中；或者可以在云平台上创建、部署、微调模型，再通过API</a:t>
            </a:r>
            <a:r>
              <a:rPr sz="1600" dirty="0" smtClean="0">
                <a:latin typeface="思源黑体 CN Normal" panose="020B0200000000000000" pitchFamily="34" charset="-122"/>
                <a:ea typeface="思源黑体 CN Normal" panose="020B0200000000000000" pitchFamily="34" charset="-122"/>
              </a:rPr>
              <a:t>连接模型调用</a:t>
            </a:r>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rPr>
              <a:t>云端调用优势在于</a:t>
            </a:r>
            <a:r>
              <a:rPr sz="1600" dirty="0" err="1">
                <a:latin typeface="思源黑体 CN Normal" panose="020B0200000000000000" pitchFamily="34" charset="-122"/>
                <a:ea typeface="思源黑体 CN Normal" panose="020B0200000000000000" pitchFamily="34" charset="-122"/>
              </a:rPr>
              <a:t>，</a:t>
            </a:r>
            <a:r>
              <a:rPr sz="1600" dirty="0" err="1" smtClean="0">
                <a:latin typeface="思源黑体 CN Normal" panose="020B0200000000000000" pitchFamily="34" charset="-122"/>
                <a:ea typeface="思源黑体 CN Normal" panose="020B0200000000000000" pitchFamily="34" charset="-122"/>
              </a:rPr>
              <a:t>用户无需购置硬件即可按需调用云端模型</a:t>
            </a:r>
            <a:r>
              <a:rPr lang="zh-CN" sz="1600" dirty="0" err="1" smtClean="0">
                <a:latin typeface="思源黑体 CN Normal" panose="020B0200000000000000" pitchFamily="34" charset="-122"/>
                <a:ea typeface="思源黑体 CN Normal" panose="020B0200000000000000" pitchFamily="34" charset="-122"/>
              </a:rPr>
              <a:t>。</a:t>
            </a:r>
            <a:endParaRPr lang="zh-CN" sz="1600" dirty="0" err="1" smtClean="0">
              <a:latin typeface="思源黑体 CN Normal" panose="020B0200000000000000" pitchFamily="34" charset="-122"/>
              <a:ea typeface="思源黑体 CN Normal" panose="020B0200000000000000" pitchFamily="34" charset="-122"/>
            </a:endParaRPr>
          </a:p>
        </p:txBody>
      </p:sp>
      <p:pic>
        <p:nvPicPr>
          <p:cNvPr id="11" name="图片 10"/>
          <p:cNvPicPr>
            <a:picLocks noChangeAspect="1"/>
          </p:cNvPicPr>
          <p:nvPr/>
        </p:nvPicPr>
        <p:blipFill>
          <a:blip r:embed="rId2"/>
          <a:stretch>
            <a:fillRect/>
          </a:stretch>
        </p:blipFill>
        <p:spPr>
          <a:xfrm>
            <a:off x="612140" y="4512310"/>
            <a:ext cx="5483860" cy="822325"/>
          </a:xfrm>
          <a:prstGeom prst="rect">
            <a:avLst/>
          </a:prstGeom>
        </p:spPr>
      </p:pic>
      <p:pic>
        <p:nvPicPr>
          <p:cNvPr id="12" name="图片 11"/>
          <p:cNvPicPr>
            <a:picLocks noChangeAspect="1"/>
          </p:cNvPicPr>
          <p:nvPr/>
        </p:nvPicPr>
        <p:blipFill>
          <a:blip r:embed="rId3"/>
          <a:stretch>
            <a:fillRect/>
          </a:stretch>
        </p:blipFill>
        <p:spPr>
          <a:xfrm>
            <a:off x="612140" y="5414645"/>
            <a:ext cx="5483860" cy="1137616"/>
          </a:xfrm>
          <a:prstGeom prst="rect">
            <a:avLst/>
          </a:prstGeom>
        </p:spPr>
      </p:pic>
      <p:pic>
        <p:nvPicPr>
          <p:cNvPr id="13" name="图片 12"/>
          <p:cNvPicPr>
            <a:picLocks noChangeAspect="1"/>
          </p:cNvPicPr>
          <p:nvPr/>
        </p:nvPicPr>
        <p:blipFill>
          <a:blip r:embed="rId4"/>
          <a:stretch>
            <a:fillRect/>
          </a:stretch>
        </p:blipFill>
        <p:spPr>
          <a:xfrm>
            <a:off x="7407910" y="1045845"/>
            <a:ext cx="4038600" cy="568388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64"/>
          <p:cNvSpPr>
            <a:spLocks noChangeArrowheads="1"/>
          </p:cNvSpPr>
          <p:nvPr/>
        </p:nvSpPr>
        <p:spPr bwMode="gray">
          <a:xfrm>
            <a:off x="612617" y="389300"/>
            <a:ext cx="6130506" cy="445726"/>
          </a:xfrm>
          <a:prstGeom prst="roundRect">
            <a:avLst>
              <a:gd name="adj" fmla="val 0"/>
            </a:avLst>
          </a:prstGeom>
          <a:noFill/>
          <a:ln w="38100">
            <a:noFill/>
            <a:round/>
          </a:ln>
          <a:effectLst/>
        </p:spPr>
        <p:txBody>
          <a:bodyPr wrap="none" anchor="ctr"/>
          <a:lstStyle/>
          <a:p>
            <a:pPr algn="l">
              <a:lnSpc>
                <a:spcPct val="150000"/>
              </a:lnSpc>
              <a:buClrTx/>
              <a:buSzTx/>
              <a:buFontTx/>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a:t>
            </a: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调用与部署</a:t>
            </a:r>
            <a:endPar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3537219" y="251750"/>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文本框 8"/>
          <p:cNvSpPr txBox="1"/>
          <p:nvPr>
            <p:custDataLst>
              <p:tags r:id="rId1"/>
            </p:custDataLst>
          </p:nvPr>
        </p:nvSpPr>
        <p:spPr>
          <a:xfrm>
            <a:off x="627767" y="1226820"/>
            <a:ext cx="9701530" cy="398780"/>
          </a:xfrm>
          <a:prstGeom prst="rect">
            <a:avLst/>
          </a:prstGeom>
          <a:noFill/>
        </p:spPr>
        <p:txBody>
          <a:bodyPr wrap="square">
            <a:spAutoFit/>
          </a:bodyPr>
          <a:lstStyle/>
          <a:p>
            <a:pPr fontAlgn="auto">
              <a:spcBef>
                <a:spcPts val="0"/>
              </a:spcBef>
              <a:spcAft>
                <a:spcPts val="0"/>
              </a:spcAft>
            </a:pPr>
            <a:r>
              <a:rPr sz="2000" dirty="0" err="1">
                <a:latin typeface="思源黑体 CN Medium" panose="020B0200000000000000" pitchFamily="34" charset="-122"/>
                <a:ea typeface="思源黑体 CN Medium" panose="020B0200000000000000" pitchFamily="34" charset="-122"/>
                <a:cs typeface="Alibaba PuHuiTi Regular" panose="00020600040101010101" charset="-122"/>
                <a:sym typeface="+mn-ea"/>
              </a:rPr>
              <a:t>DeepSeek</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 R1模型可通过</a:t>
            </a:r>
            <a:r>
              <a:rPr sz="2000" dirty="0">
                <a:solidFill>
                  <a:srgbClr val="C00000"/>
                </a:solidFill>
                <a:latin typeface="思源黑体 CN Medium" panose="020B0200000000000000" pitchFamily="34" charset="-122"/>
                <a:ea typeface="思源黑体 CN Medium" panose="020B0200000000000000" pitchFamily="34" charset="-122"/>
                <a:cs typeface="Alibaba PuHuiTi Regular" panose="00020600040101010101" charset="-122"/>
                <a:sym typeface="+mn-ea"/>
              </a:rPr>
              <a:t>云端调用</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和</a:t>
            </a:r>
            <a:r>
              <a:rPr sz="2000" dirty="0">
                <a:solidFill>
                  <a:srgbClr val="C00000"/>
                </a:solidFill>
                <a:latin typeface="思源黑体 CN Medium" panose="020B0200000000000000" pitchFamily="34" charset="-122"/>
                <a:ea typeface="思源黑体 CN Medium" panose="020B0200000000000000" pitchFamily="34" charset="-122"/>
                <a:cs typeface="Alibaba PuHuiTi Regular" panose="00020600040101010101" charset="-122"/>
                <a:sym typeface="+mn-ea"/>
              </a:rPr>
              <a:t>本地部署</a:t>
            </a:r>
            <a:r>
              <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rPr>
              <a:t>的方式使用</a:t>
            </a:r>
            <a:endPar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endParaRPr>
          </a:p>
        </p:txBody>
      </p:sp>
      <p:sp>
        <p:nvSpPr>
          <p:cNvPr id="8" name="圆角矩形 7"/>
          <p:cNvSpPr/>
          <p:nvPr/>
        </p:nvSpPr>
        <p:spPr bwMode="auto">
          <a:xfrm flipV="1">
            <a:off x="580294" y="1784668"/>
            <a:ext cx="3738172" cy="4471670"/>
          </a:xfrm>
          <a:prstGeom prst="roundRect">
            <a:avLst>
              <a:gd name="adj" fmla="val 6783"/>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10" name="Object16"/>
          <p:cNvSpPr/>
          <p:nvPr/>
        </p:nvSpPr>
        <p:spPr>
          <a:xfrm>
            <a:off x="862434" y="2298383"/>
            <a:ext cx="3173650" cy="3443605"/>
          </a:xfrm>
          <a:prstGeom prst="rect">
            <a:avLst/>
          </a:prstGeom>
          <a:noFill/>
        </p:spPr>
        <p:txBody>
          <a:bodyPr wrap="square" lIns="0" tIns="0" rIns="0" bIns="0" rtlCol="0" anchor="t">
            <a:noAutofit/>
          </a:bodyPr>
          <a:lstStyle/>
          <a:p>
            <a:r>
              <a:rPr sz="1600" dirty="0" err="1" smtClean="0">
                <a:latin typeface="思源黑体 CN Normal" panose="020B0200000000000000" pitchFamily="34" charset="-122"/>
                <a:ea typeface="思源黑体 CN Normal" panose="020B0200000000000000" pitchFamily="34" charset="-122"/>
              </a:rPr>
              <a:t>本地部署</a:t>
            </a:r>
            <a:endParaRPr lang="en-US" sz="1600" dirty="0" smtClean="0">
              <a:latin typeface="思源黑体 CN Normal" panose="020B0200000000000000" pitchFamily="34" charset="-122"/>
              <a:ea typeface="思源黑体 CN Normal" panose="020B0200000000000000" pitchFamily="34" charset="-122"/>
            </a:endParaRPr>
          </a:p>
          <a:p>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rPr>
              <a:t>要本地运行模型</a:t>
            </a:r>
            <a:r>
              <a:rPr sz="1600" dirty="0" err="1">
                <a:latin typeface="思源黑体 CN Normal" panose="020B0200000000000000" pitchFamily="34" charset="-122"/>
                <a:ea typeface="思源黑体 CN Normal" panose="020B0200000000000000" pitchFamily="34" charset="-122"/>
              </a:rPr>
              <a:t>，用户需下载DeepSeek</a:t>
            </a:r>
            <a:r>
              <a:rPr sz="1600" dirty="0">
                <a:latin typeface="思源黑体 CN Normal" panose="020B0200000000000000" pitchFamily="34" charset="-122"/>
                <a:ea typeface="思源黑体 CN Normal" panose="020B0200000000000000" pitchFamily="34" charset="-122"/>
              </a:rPr>
              <a:t> R1满血版或蒸馏版本模型，</a:t>
            </a:r>
            <a:r>
              <a:rPr sz="1600" b="1" dirty="0">
                <a:latin typeface="Source Han Sans CN Bold" panose="020B0200000000000000" charset="-122"/>
                <a:ea typeface="Source Han Sans CN Bold" panose="020B0200000000000000" charset="-122"/>
                <a:cs typeface="Source Han Sans CN Bold" panose="020B0200000000000000" charset="-122"/>
              </a:rPr>
              <a:t>通过Ollama、vLLM等工具启动模型</a:t>
            </a:r>
            <a:r>
              <a:rPr lang="zh-CN" sz="1600" b="1" dirty="0">
                <a:latin typeface="Source Han Sans CN Bold" panose="020B0200000000000000" charset="-122"/>
                <a:ea typeface="Source Han Sans CN Bold" panose="020B0200000000000000" charset="-122"/>
                <a:cs typeface="Source Han Sans CN Bold" panose="020B0200000000000000" charset="-122"/>
              </a:rPr>
              <a:t>实现本地部署</a:t>
            </a:r>
            <a:r>
              <a:rPr sz="1600" dirty="0">
                <a:latin typeface="思源黑体 CN Normal" panose="020B0200000000000000" pitchFamily="34" charset="-122"/>
                <a:ea typeface="思源黑体 CN Normal" panose="020B0200000000000000" pitchFamily="34" charset="-122"/>
              </a:rPr>
              <a:t>，</a:t>
            </a:r>
            <a:r>
              <a:rPr sz="1600" dirty="0" smtClean="0">
                <a:latin typeface="思源黑体 CN Normal" panose="020B0200000000000000" pitchFamily="34" charset="-122"/>
                <a:ea typeface="思源黑体 CN Normal" panose="020B0200000000000000" pitchFamily="34" charset="-122"/>
              </a:rPr>
              <a:t>并借助可视化界面工具与用户交互</a:t>
            </a:r>
            <a:r>
              <a:rPr lang="zh-CN" sz="1600" dirty="0" smtClean="0">
                <a:latin typeface="思源黑体 CN Normal" panose="020B0200000000000000" pitchFamily="34" charset="-122"/>
                <a:ea typeface="思源黑体 CN Normal" panose="020B0200000000000000" pitchFamily="34" charset="-122"/>
              </a:rPr>
              <a:t>；</a:t>
            </a:r>
            <a:endParaRPr lang="en-US" sz="16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rPr>
              <a:t>本地部署优势在于无网络依赖</a:t>
            </a:r>
            <a:r>
              <a:rPr sz="1600" dirty="0" err="1">
                <a:latin typeface="思源黑体 CN Normal" panose="020B0200000000000000" pitchFamily="34" charset="-122"/>
                <a:ea typeface="思源黑体 CN Normal" panose="020B0200000000000000" pitchFamily="34" charset="-122"/>
              </a:rPr>
              <a:t>，</a:t>
            </a:r>
            <a:r>
              <a:rPr sz="1600" b="1" dirty="0" err="1">
                <a:latin typeface="Source Han Sans CN Bold" panose="020B0200000000000000" charset="-122"/>
                <a:ea typeface="Source Han Sans CN Bold" panose="020B0200000000000000" charset="-122"/>
              </a:rPr>
              <a:t>适合对数据安全要求高的场景</a:t>
            </a:r>
            <a:r>
              <a:rPr sz="1600" dirty="0" err="1">
                <a:latin typeface="思源黑体 CN Normal" panose="020B0200000000000000" pitchFamily="34" charset="-122"/>
                <a:ea typeface="思源黑体 CN Normal" panose="020B0200000000000000" pitchFamily="34" charset="-122"/>
              </a:rPr>
              <a:t>，</a:t>
            </a:r>
            <a:r>
              <a:rPr lang="zh-CN" sz="1600" dirty="0" err="1">
                <a:latin typeface="思源黑体 CN Normal" panose="020B0200000000000000" pitchFamily="34" charset="-122"/>
                <a:ea typeface="思源黑体 CN Normal" panose="020B0200000000000000" pitchFamily="34" charset="-122"/>
              </a:rPr>
              <a:t>比如央国企，</a:t>
            </a:r>
            <a:r>
              <a:rPr sz="1600" dirty="0" err="1" smtClean="0">
                <a:latin typeface="思源黑体 CN Normal" panose="020B0200000000000000" pitchFamily="34" charset="-122"/>
                <a:ea typeface="思源黑体 CN Normal" panose="020B0200000000000000" pitchFamily="34" charset="-122"/>
              </a:rPr>
              <a:t>但需满足高性能显卡和服务器的硬件配置要求</a:t>
            </a:r>
            <a:r>
              <a:rPr lang="zh-CN" sz="1600" dirty="0" err="1" smtClean="0">
                <a:latin typeface="思源黑体 CN Normal" panose="020B0200000000000000" pitchFamily="34" charset="-122"/>
                <a:ea typeface="思源黑体 CN Normal" panose="020B0200000000000000" pitchFamily="34" charset="-122"/>
              </a:rPr>
              <a:t>。</a:t>
            </a:r>
            <a:endParaRPr lang="zh-CN" sz="1600" dirty="0" err="1" smtClean="0">
              <a:latin typeface="思源黑体 CN Normal" panose="020B0200000000000000" pitchFamily="34" charset="-122"/>
              <a:ea typeface="思源黑体 CN Normal" panose="020B0200000000000000" pitchFamily="34" charset="-122"/>
            </a:endParaRPr>
          </a:p>
        </p:txBody>
      </p:sp>
      <p:sp>
        <p:nvSpPr>
          <p:cNvPr id="4" name="圆角矩形 3"/>
          <p:cNvSpPr/>
          <p:nvPr/>
        </p:nvSpPr>
        <p:spPr bwMode="auto">
          <a:xfrm flipV="1">
            <a:off x="4671699" y="1776809"/>
            <a:ext cx="6572706" cy="1680677"/>
          </a:xfrm>
          <a:prstGeom prst="roundRect">
            <a:avLst>
              <a:gd name="adj" fmla="val 11162"/>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5" name="Object16"/>
          <p:cNvSpPr/>
          <p:nvPr/>
        </p:nvSpPr>
        <p:spPr>
          <a:xfrm>
            <a:off x="5005862" y="2017394"/>
            <a:ext cx="6175168" cy="1154980"/>
          </a:xfrm>
          <a:prstGeom prst="rect">
            <a:avLst/>
          </a:prstGeom>
          <a:noFill/>
        </p:spPr>
        <p:txBody>
          <a:bodyPr wrap="square" lIns="0" tIns="0" rIns="0" bIns="0" rtlCol="0" anchor="t">
            <a:noAutofit/>
          </a:bodyPr>
          <a:lstStyle/>
          <a:p>
            <a:r>
              <a:rPr sz="1600" dirty="0">
                <a:latin typeface="思源黑体 CN Normal" panose="020B0200000000000000" pitchFamily="34" charset="-122"/>
                <a:ea typeface="思源黑体 CN Normal" panose="020B0200000000000000" pitchFamily="34" charset="-122"/>
              </a:rPr>
              <a:t>满血版R1</a:t>
            </a:r>
            <a:r>
              <a:rPr sz="1600" dirty="0" smtClean="0">
                <a:latin typeface="思源黑体 CN Normal" panose="020B0200000000000000" pitchFamily="34" charset="-122"/>
                <a:ea typeface="思源黑体 CN Normal" panose="020B0200000000000000" pitchFamily="34" charset="-122"/>
              </a:rPr>
              <a:t>模型</a:t>
            </a:r>
            <a:endParaRPr lang="en-US" sz="1600" dirty="0" smtClean="0">
              <a:latin typeface="思源黑体 CN Normal" panose="020B0200000000000000" pitchFamily="34" charset="-122"/>
              <a:ea typeface="思源黑体 CN Normal" panose="020B0200000000000000" pitchFamily="34" charset="-122"/>
            </a:endParaRPr>
          </a:p>
          <a:p>
            <a:endParaRPr sz="1600" dirty="0">
              <a:latin typeface="思源黑体 CN Normal" panose="020B0200000000000000" pitchFamily="34" charset="-122"/>
              <a:ea typeface="思源黑体 CN Normal" panose="020B0200000000000000" pitchFamily="34" charset="-122"/>
            </a:endParaRPr>
          </a:p>
          <a:p>
            <a:r>
              <a:rPr sz="1400" dirty="0">
                <a:latin typeface="思源黑体 CN Normal" panose="020B0200000000000000" pitchFamily="34" charset="-122"/>
                <a:ea typeface="思源黑体 CN Normal" panose="020B0200000000000000" pitchFamily="34" charset="-122"/>
              </a:rPr>
              <a:t>-参数量为671b </a:t>
            </a:r>
            <a:endParaRPr sz="1400" dirty="0">
              <a:latin typeface="思源黑体 CN Normal" panose="020B0200000000000000" pitchFamily="34" charset="-122"/>
              <a:ea typeface="思源黑体 CN Normal" panose="020B0200000000000000" pitchFamily="34" charset="-122"/>
            </a:endParaRPr>
          </a:p>
          <a:p>
            <a:r>
              <a:rPr sz="1400" dirty="0">
                <a:latin typeface="思源黑体 CN Normal" panose="020B0200000000000000" pitchFamily="34" charset="-122"/>
                <a:ea typeface="思源黑体 CN Normal" panose="020B0200000000000000" pitchFamily="34" charset="-122"/>
              </a:rPr>
              <a:t>-显存需求：16位满血版约1300G显存</a:t>
            </a:r>
            <a:endParaRPr sz="1400" dirty="0">
              <a:latin typeface="思源黑体 CN Normal" panose="020B0200000000000000" pitchFamily="34" charset="-122"/>
              <a:ea typeface="思源黑体 CN Normal" panose="020B0200000000000000" pitchFamily="34" charset="-122"/>
            </a:endParaRPr>
          </a:p>
          <a:p>
            <a:r>
              <a:rPr sz="1400" dirty="0">
                <a:latin typeface="思源黑体 CN Normal" panose="020B0200000000000000" pitchFamily="34" charset="-122"/>
                <a:ea typeface="思源黑体 CN Normal" panose="020B0200000000000000" pitchFamily="34" charset="-122"/>
              </a:rPr>
              <a:t>-硬件建议：4台8卡昇腾910B服务器及以上，或2台英伟达H800服务器及以上</a:t>
            </a:r>
            <a:endParaRPr sz="1400" dirty="0">
              <a:latin typeface="思源黑体 CN Normal" panose="020B0200000000000000" pitchFamily="34" charset="-122"/>
              <a:ea typeface="思源黑体 CN Normal" panose="020B0200000000000000" pitchFamily="34" charset="-122"/>
            </a:endParaRPr>
          </a:p>
        </p:txBody>
      </p:sp>
      <p:sp>
        <p:nvSpPr>
          <p:cNvPr id="12" name="圆角矩形 11"/>
          <p:cNvSpPr/>
          <p:nvPr/>
        </p:nvSpPr>
        <p:spPr bwMode="auto">
          <a:xfrm flipV="1">
            <a:off x="4671699" y="3690569"/>
            <a:ext cx="6572706" cy="2565769"/>
          </a:xfrm>
          <a:prstGeom prst="roundRect">
            <a:avLst>
              <a:gd name="adj" fmla="val 10396"/>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13" name="Object16"/>
          <p:cNvSpPr/>
          <p:nvPr/>
        </p:nvSpPr>
        <p:spPr>
          <a:xfrm>
            <a:off x="5069237" y="3880039"/>
            <a:ext cx="6175168" cy="918845"/>
          </a:xfrm>
          <a:prstGeom prst="rect">
            <a:avLst/>
          </a:prstGeom>
          <a:noFill/>
        </p:spPr>
        <p:txBody>
          <a:bodyPr wrap="square" lIns="0" tIns="0" rIns="0" bIns="0" rtlCol="0" anchor="t">
            <a:noAutofit/>
          </a:bodyPr>
          <a:lstStyle/>
          <a:p>
            <a:r>
              <a:rPr sz="1600" dirty="0">
                <a:latin typeface="思源黑体 CN Normal" panose="020B0200000000000000" pitchFamily="34" charset="-122"/>
                <a:ea typeface="思源黑体 CN Normal" panose="020B0200000000000000" pitchFamily="34" charset="-122"/>
              </a:rPr>
              <a:t>蒸馏版R1</a:t>
            </a:r>
            <a:r>
              <a:rPr sz="1600" dirty="0" smtClean="0">
                <a:latin typeface="思源黑体 CN Normal" panose="020B0200000000000000" pitchFamily="34" charset="-122"/>
                <a:ea typeface="思源黑体 CN Normal" panose="020B0200000000000000" pitchFamily="34" charset="-122"/>
              </a:rPr>
              <a:t>模型</a:t>
            </a:r>
            <a:endParaRPr lang="en-US" sz="1600" dirty="0" smtClean="0">
              <a:latin typeface="思源黑体 CN Normal" panose="020B0200000000000000" pitchFamily="34" charset="-122"/>
              <a:ea typeface="思源黑体 CN Normal" panose="020B0200000000000000" pitchFamily="34" charset="-122"/>
            </a:endParaRPr>
          </a:p>
          <a:p>
            <a:endParaRPr sz="1600" dirty="0">
              <a:latin typeface="思源黑体 CN Normal" panose="020B0200000000000000" pitchFamily="34" charset="-122"/>
              <a:ea typeface="思源黑体 CN Normal" panose="020B0200000000000000" pitchFamily="34" charset="-122"/>
            </a:endParaRPr>
          </a:p>
          <a:p>
            <a:r>
              <a:rPr sz="1400" dirty="0" smtClean="0">
                <a:latin typeface="思源黑体 CN Normal" panose="020B0200000000000000" pitchFamily="34" charset="-122"/>
                <a:ea typeface="思源黑体 CN Normal" panose="020B0200000000000000" pitchFamily="34" charset="-122"/>
              </a:rPr>
              <a:t>-</a:t>
            </a:r>
            <a:r>
              <a:rPr sz="1400" dirty="0" err="1">
                <a:latin typeface="思源黑体 CN Normal" panose="020B0200000000000000" pitchFamily="34" charset="-122"/>
                <a:ea typeface="思源黑体 CN Normal" panose="020B0200000000000000" pitchFamily="34" charset="-122"/>
              </a:rPr>
              <a:t>是以Llama模型或Qwen模型作为基座模型，蒸馏训练出的推理模型</a:t>
            </a:r>
            <a:endParaRPr sz="1400" dirty="0">
              <a:latin typeface="思源黑体 CN Normal" panose="020B0200000000000000" pitchFamily="34" charset="-122"/>
              <a:ea typeface="思源黑体 CN Normal" panose="020B0200000000000000" pitchFamily="34" charset="-122"/>
            </a:endParaRPr>
          </a:p>
          <a:p>
            <a:r>
              <a:rPr sz="1400" dirty="0">
                <a:latin typeface="思源黑体 CN Normal" panose="020B0200000000000000" pitchFamily="34" charset="-122"/>
                <a:ea typeface="思源黑体 CN Normal" panose="020B0200000000000000" pitchFamily="34" charset="-122"/>
              </a:rPr>
              <a:t>-有1.5b、7b、8b、14b、32b、70b不同参数量的版本</a:t>
            </a:r>
            <a:endParaRPr sz="1400" dirty="0">
              <a:latin typeface="思源黑体 CN Normal" panose="020B0200000000000000" pitchFamily="34" charset="-122"/>
              <a:ea typeface="思源黑体 CN Normal" panose="020B0200000000000000" pitchFamily="34" charset="-122"/>
            </a:endParaRPr>
          </a:p>
          <a:p>
            <a:r>
              <a:rPr sz="1400" dirty="0">
                <a:latin typeface="思源黑体 CN Normal" panose="020B0200000000000000" pitchFamily="34" charset="-122"/>
                <a:ea typeface="思源黑体 CN Normal" panose="020B0200000000000000" pitchFamily="34" charset="-122"/>
              </a:rPr>
              <a:t>-</a:t>
            </a:r>
            <a:r>
              <a:rPr sz="1400" dirty="0" err="1">
                <a:latin typeface="思源黑体 CN Normal" panose="020B0200000000000000" pitchFamily="34" charset="-122"/>
                <a:ea typeface="思源黑体 CN Normal" panose="020B0200000000000000" pitchFamily="34" charset="-122"/>
              </a:rPr>
              <a:t>显存需求&amp;硬件建议（Ollama</a:t>
            </a:r>
            <a:r>
              <a:rPr sz="1400" dirty="0">
                <a:latin typeface="思源黑体 CN Normal" panose="020B0200000000000000" pitchFamily="34" charset="-122"/>
                <a:ea typeface="思源黑体 CN Normal" panose="020B0200000000000000" pitchFamily="34" charset="-122"/>
              </a:rPr>
              <a:t> 4位量化版为例）：</a:t>
            </a:r>
            <a:endParaRPr sz="1400" dirty="0">
              <a:latin typeface="思源黑体 CN Normal" panose="020B0200000000000000" pitchFamily="34" charset="-122"/>
              <a:ea typeface="思源黑体 CN Normal" panose="020B0200000000000000" pitchFamily="34" charset="-122"/>
            </a:endParaRPr>
          </a:p>
        </p:txBody>
      </p:sp>
      <p:pic>
        <p:nvPicPr>
          <p:cNvPr id="14" name="图片 13"/>
          <p:cNvPicPr>
            <a:picLocks noChangeAspect="1"/>
          </p:cNvPicPr>
          <p:nvPr/>
        </p:nvPicPr>
        <p:blipFill>
          <a:blip r:embed="rId2"/>
          <a:stretch>
            <a:fillRect/>
          </a:stretch>
        </p:blipFill>
        <p:spPr>
          <a:xfrm>
            <a:off x="4830322" y="5266740"/>
            <a:ext cx="6350709" cy="730708"/>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AutoShape 64"/>
          <p:cNvSpPr>
            <a:spLocks noChangeArrowheads="1"/>
          </p:cNvSpPr>
          <p:nvPr/>
        </p:nvSpPr>
        <p:spPr bwMode="gray">
          <a:xfrm>
            <a:off x="612617" y="389300"/>
            <a:ext cx="6130506" cy="445726"/>
          </a:xfrm>
          <a:prstGeom prst="roundRect">
            <a:avLst>
              <a:gd name="adj" fmla="val 0"/>
            </a:avLst>
          </a:prstGeom>
          <a:noFill/>
          <a:ln w="38100">
            <a:noFill/>
            <a:round/>
          </a:ln>
          <a:effectLst/>
        </p:spPr>
        <p:txBody>
          <a:bodyPr wrap="none" anchor="ctr"/>
          <a:lstStyle/>
          <a:p>
            <a:pPr algn="l">
              <a:lnSpc>
                <a:spcPct val="150000"/>
              </a:lnSpc>
              <a:buClrTx/>
              <a:buSzTx/>
              <a:buFontTx/>
              <a:defRPr/>
            </a:pPr>
            <a:r>
              <a:rPr lang="en-US" altLang="zh-CN" sz="2400" b="1" dirty="0" err="1" smtClean="0">
                <a:solidFill>
                  <a:srgbClr val="525EE6"/>
                </a:solidFill>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DeepSeek</a:t>
            </a:r>
            <a:r>
              <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rPr>
              <a:t>调用与部署</a:t>
            </a:r>
            <a:endParaRPr lang="zh-CN" altLang="en-US" sz="2400" b="1" dirty="0" smtClean="0">
              <a:latin typeface="思源黑体 CN Medium" panose="020B0200000000000000" pitchFamily="34" charset="-122"/>
              <a:ea typeface="思源黑体 CN Medium" panose="020B0200000000000000" pitchFamily="34" charset="-122"/>
              <a:cs typeface="Source Han Sans CN Regular" panose="020B0200000000000000" charset="-122"/>
              <a:sym typeface="+mn-ea"/>
            </a:endParaRPr>
          </a:p>
        </p:txBody>
      </p:sp>
      <p:sp>
        <p:nvSpPr>
          <p:cNvPr id="19" name="ï$liḑé"/>
          <p:cNvSpPr/>
          <p:nvPr/>
        </p:nvSpPr>
        <p:spPr>
          <a:xfrm rot="19200000">
            <a:off x="3528168" y="295069"/>
            <a:ext cx="514350" cy="514350"/>
          </a:xfrm>
          <a:prstGeom prst="ellipse">
            <a:avLst/>
          </a:prstGeom>
          <a:gradFill flip="none" rotWithShape="1">
            <a:gsLst>
              <a:gs pos="64000">
                <a:srgbClr val="525EE6">
                  <a:alpha val="57000"/>
                </a:srgbClr>
              </a:gs>
              <a:gs pos="0">
                <a:schemeClr val="accent1">
                  <a:lumMod val="5000"/>
                  <a:lumOff val="95000"/>
                  <a:alpha val="0"/>
                </a:schemeClr>
              </a:gs>
              <a:gs pos="100000">
                <a:srgbClr val="525EE6">
                  <a:alpha val="10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文本框 8"/>
          <p:cNvSpPr txBox="1"/>
          <p:nvPr>
            <p:custDataLst>
              <p:tags r:id="rId1"/>
            </p:custDataLst>
          </p:nvPr>
        </p:nvSpPr>
        <p:spPr>
          <a:xfrm>
            <a:off x="627767" y="1226820"/>
            <a:ext cx="9701530" cy="398780"/>
          </a:xfrm>
          <a:prstGeom prst="rect">
            <a:avLst/>
          </a:prstGeom>
          <a:noFill/>
        </p:spPr>
        <p:txBody>
          <a:bodyPr wrap="square">
            <a:spAutoFit/>
          </a:bodyPr>
          <a:lstStyle/>
          <a:p>
            <a:pPr fontAlgn="auto">
              <a:spcBef>
                <a:spcPts val="0"/>
              </a:spcBef>
              <a:spcAft>
                <a:spcPts val="0"/>
              </a:spcAft>
            </a:pPr>
            <a:r>
              <a:rPr lang="zh-CN" altLang="en-US" sz="2000" dirty="0" smtClean="0">
                <a:latin typeface="思源黑体 CN Medium" panose="020B0200000000000000" pitchFamily="34" charset="-122"/>
                <a:ea typeface="思源黑体 CN Medium" panose="020B0200000000000000" pitchFamily="34" charset="-122"/>
                <a:cs typeface="Alibaba PuHuiTi Regular" panose="00020600040101010101" charset="-122"/>
                <a:sym typeface="+mn-ea"/>
              </a:rPr>
              <a:t>成本</a:t>
            </a:r>
            <a:endParaRPr sz="2000" dirty="0">
              <a:latin typeface="思源黑体 CN Medium" panose="020B0200000000000000" pitchFamily="34" charset="-122"/>
              <a:ea typeface="思源黑体 CN Medium" panose="020B0200000000000000" pitchFamily="34" charset="-122"/>
              <a:cs typeface="Alibaba PuHuiTi Regular" panose="00020600040101010101" charset="-122"/>
              <a:sym typeface="+mn-ea"/>
            </a:endParaRPr>
          </a:p>
        </p:txBody>
      </p:sp>
      <p:sp>
        <p:nvSpPr>
          <p:cNvPr id="8" name="圆角矩形 7"/>
          <p:cNvSpPr/>
          <p:nvPr/>
        </p:nvSpPr>
        <p:spPr bwMode="auto">
          <a:xfrm flipV="1">
            <a:off x="580294" y="1784668"/>
            <a:ext cx="3738172" cy="4471670"/>
          </a:xfrm>
          <a:prstGeom prst="roundRect">
            <a:avLst>
              <a:gd name="adj" fmla="val 6783"/>
            </a:avLst>
          </a:prstGeom>
          <a:solidFill>
            <a:schemeClr val="bg1">
              <a:alpha val="37000"/>
            </a:schemeClr>
          </a:solidFill>
          <a:ln>
            <a:gradFill>
              <a:gsLst>
                <a:gs pos="0">
                  <a:srgbClr val="525EE6">
                    <a:alpha val="38000"/>
                  </a:srgbClr>
                </a:gs>
                <a:gs pos="74000">
                  <a:srgbClr val="525EE6">
                    <a:alpha val="36000"/>
                  </a:srgbClr>
                </a:gs>
                <a:gs pos="83000">
                  <a:srgbClr val="C16BF8">
                    <a:alpha val="45000"/>
                  </a:srgbClr>
                </a:gs>
                <a:gs pos="100000">
                  <a:srgbClr val="C6AEFD">
                    <a:alpha val="3500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ym typeface="+mn-ea"/>
            </a:endParaRPr>
          </a:p>
        </p:txBody>
      </p:sp>
      <p:sp>
        <p:nvSpPr>
          <p:cNvPr id="10" name="Object16"/>
          <p:cNvSpPr/>
          <p:nvPr/>
        </p:nvSpPr>
        <p:spPr>
          <a:xfrm>
            <a:off x="862434" y="2298383"/>
            <a:ext cx="3173650" cy="3443605"/>
          </a:xfrm>
          <a:prstGeom prst="rect">
            <a:avLst/>
          </a:prstGeom>
          <a:noFill/>
        </p:spPr>
        <p:txBody>
          <a:bodyPr wrap="square" lIns="0" tIns="0" rIns="0" bIns="0" rtlCol="0" anchor="t">
            <a:noAutofit/>
          </a:bodyPr>
          <a:lstStyle/>
          <a:p>
            <a:r>
              <a:rPr sz="1600" dirty="0" err="1" smtClean="0">
                <a:latin typeface="思源黑体 CN Normal" panose="020B0200000000000000" pitchFamily="34" charset="-122"/>
                <a:ea typeface="思源黑体 CN Normal" panose="020B0200000000000000" pitchFamily="34" charset="-122"/>
                <a:sym typeface="+mn-ea"/>
              </a:rPr>
              <a:t>本地部署</a:t>
            </a:r>
            <a:endParaRPr lang="en-US" sz="1600" dirty="0" smtClean="0">
              <a:latin typeface="思源黑体 CN Normal" panose="020B0200000000000000" pitchFamily="34" charset="-122"/>
              <a:ea typeface="思源黑体 CN Normal" panose="020B0200000000000000" pitchFamily="34" charset="-122"/>
            </a:endParaRPr>
          </a:p>
          <a:p>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sym typeface="+mn-ea"/>
              </a:rPr>
              <a:t>要本地运行模型</a:t>
            </a:r>
            <a:r>
              <a:rPr sz="1600" dirty="0" err="1">
                <a:latin typeface="思源黑体 CN Normal" panose="020B0200000000000000" pitchFamily="34" charset="-122"/>
                <a:ea typeface="思源黑体 CN Normal" panose="020B0200000000000000" pitchFamily="34" charset="-122"/>
                <a:sym typeface="+mn-ea"/>
              </a:rPr>
              <a:t>，用户需下载DeepSeek</a:t>
            </a:r>
            <a:r>
              <a:rPr sz="1600" dirty="0">
                <a:latin typeface="思源黑体 CN Normal" panose="020B0200000000000000" pitchFamily="34" charset="-122"/>
                <a:ea typeface="思源黑体 CN Normal" panose="020B0200000000000000" pitchFamily="34" charset="-122"/>
                <a:sym typeface="+mn-ea"/>
              </a:rPr>
              <a:t> R1满血版或蒸馏版本模型，</a:t>
            </a:r>
            <a:r>
              <a:rPr sz="1600" b="1" dirty="0">
                <a:latin typeface="Source Han Sans CN Bold" panose="020B0200000000000000" charset="-122"/>
                <a:ea typeface="Source Han Sans CN Bold" panose="020B0200000000000000" charset="-122"/>
                <a:cs typeface="Source Han Sans CN Bold" panose="020B0200000000000000" charset="-122"/>
                <a:sym typeface="+mn-ea"/>
              </a:rPr>
              <a:t>通过Ollama、vLLM等工具启动模型</a:t>
            </a:r>
            <a:r>
              <a:rPr lang="zh-CN" sz="1600" b="1" dirty="0">
                <a:latin typeface="Source Han Sans CN Bold" panose="020B0200000000000000" charset="-122"/>
                <a:ea typeface="Source Han Sans CN Bold" panose="020B0200000000000000" charset="-122"/>
                <a:cs typeface="Source Han Sans CN Bold" panose="020B0200000000000000" charset="-122"/>
                <a:sym typeface="+mn-ea"/>
              </a:rPr>
              <a:t>实现本地部署</a:t>
            </a:r>
            <a:r>
              <a:rPr sz="1600" dirty="0">
                <a:latin typeface="思源黑体 CN Normal" panose="020B0200000000000000" pitchFamily="34" charset="-122"/>
                <a:ea typeface="思源黑体 CN Normal" panose="020B0200000000000000" pitchFamily="34" charset="-122"/>
                <a:sym typeface="+mn-ea"/>
              </a:rPr>
              <a:t>，</a:t>
            </a:r>
            <a:r>
              <a:rPr sz="1600" dirty="0" smtClean="0">
                <a:latin typeface="思源黑体 CN Normal" panose="020B0200000000000000" pitchFamily="34" charset="-122"/>
                <a:ea typeface="思源黑体 CN Normal" panose="020B0200000000000000" pitchFamily="34" charset="-122"/>
                <a:sym typeface="+mn-ea"/>
              </a:rPr>
              <a:t>并借助可视化界面工具与用户交互</a:t>
            </a:r>
            <a:r>
              <a:rPr lang="zh-CN" sz="1600" dirty="0" smtClean="0">
                <a:latin typeface="思源黑体 CN Normal" panose="020B0200000000000000" pitchFamily="34" charset="-122"/>
                <a:ea typeface="思源黑体 CN Normal" panose="020B0200000000000000" pitchFamily="34" charset="-122"/>
                <a:sym typeface="+mn-ea"/>
              </a:rPr>
              <a:t>；</a:t>
            </a:r>
            <a:endParaRPr lang="en-US" sz="1600" dirty="0" smtClean="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endParaRPr sz="1600" dirty="0">
              <a:latin typeface="思源黑体 CN Normal" panose="020B0200000000000000" pitchFamily="34" charset="-122"/>
              <a:ea typeface="思源黑体 CN Normal" panose="020B0200000000000000" pitchFamily="34" charset="-122"/>
            </a:endParaRPr>
          </a:p>
          <a:p>
            <a:pPr marL="285750" indent="-285750">
              <a:buFont typeface="Arial" panose="020B0604020202020204" pitchFamily="34" charset="0"/>
              <a:buChar char="•"/>
            </a:pPr>
            <a:r>
              <a:rPr sz="1600" dirty="0" err="1" smtClean="0">
                <a:latin typeface="思源黑体 CN Normal" panose="020B0200000000000000" pitchFamily="34" charset="-122"/>
                <a:ea typeface="思源黑体 CN Normal" panose="020B0200000000000000" pitchFamily="34" charset="-122"/>
                <a:sym typeface="+mn-ea"/>
              </a:rPr>
              <a:t>本地部署优势在于无网络依赖</a:t>
            </a:r>
            <a:r>
              <a:rPr sz="1600" dirty="0" err="1">
                <a:latin typeface="思源黑体 CN Normal" panose="020B0200000000000000" pitchFamily="34" charset="-122"/>
                <a:ea typeface="思源黑体 CN Normal" panose="020B0200000000000000" pitchFamily="34" charset="-122"/>
                <a:sym typeface="+mn-ea"/>
              </a:rPr>
              <a:t>，</a:t>
            </a:r>
            <a:r>
              <a:rPr sz="1600" b="1" dirty="0" err="1">
                <a:latin typeface="Source Han Sans CN Bold" panose="020B0200000000000000" charset="-122"/>
                <a:ea typeface="Source Han Sans CN Bold" panose="020B0200000000000000" charset="-122"/>
                <a:sym typeface="+mn-ea"/>
              </a:rPr>
              <a:t>适合对数据安全要求高的场景</a:t>
            </a:r>
            <a:r>
              <a:rPr sz="1600" dirty="0" err="1">
                <a:latin typeface="思源黑体 CN Normal" panose="020B0200000000000000" pitchFamily="34" charset="-122"/>
                <a:ea typeface="思源黑体 CN Normal" panose="020B0200000000000000" pitchFamily="34" charset="-122"/>
                <a:sym typeface="+mn-ea"/>
              </a:rPr>
              <a:t>，</a:t>
            </a:r>
            <a:r>
              <a:rPr lang="zh-CN" sz="1600" dirty="0" err="1">
                <a:latin typeface="思源黑体 CN Normal" panose="020B0200000000000000" pitchFamily="34" charset="-122"/>
                <a:ea typeface="思源黑体 CN Normal" panose="020B0200000000000000" pitchFamily="34" charset="-122"/>
                <a:sym typeface="+mn-ea"/>
              </a:rPr>
              <a:t>比如央国企，</a:t>
            </a:r>
            <a:r>
              <a:rPr sz="1600" dirty="0" err="1" smtClean="0">
                <a:latin typeface="思源黑体 CN Normal" panose="020B0200000000000000" pitchFamily="34" charset="-122"/>
                <a:ea typeface="思源黑体 CN Normal" panose="020B0200000000000000" pitchFamily="34" charset="-122"/>
                <a:sym typeface="+mn-ea"/>
              </a:rPr>
              <a:t>但需满足高性能显卡和服务器的硬件配置要求</a:t>
            </a:r>
            <a:r>
              <a:rPr lang="zh-CN" sz="1600" dirty="0" err="1" smtClean="0">
                <a:latin typeface="思源黑体 CN Normal" panose="020B0200000000000000" pitchFamily="34" charset="-122"/>
                <a:ea typeface="思源黑体 CN Normal" panose="020B0200000000000000" pitchFamily="34" charset="-122"/>
                <a:sym typeface="+mn-ea"/>
              </a:rPr>
              <a:t>。</a:t>
            </a:r>
            <a:endParaRPr lang="zh-CN" sz="1600" dirty="0" err="1" smtClean="0">
              <a:latin typeface="思源黑体 CN Normal" panose="020B0200000000000000" pitchFamily="34" charset="-122"/>
              <a:ea typeface="思源黑体 CN Normal" panose="020B0200000000000000" pitchFamily="34" charset="-122"/>
            </a:endParaRPr>
          </a:p>
        </p:txBody>
      </p:sp>
      <p:pic>
        <p:nvPicPr>
          <p:cNvPr id="15" name="图片 14"/>
          <p:cNvPicPr>
            <a:picLocks noChangeAspect="1"/>
          </p:cNvPicPr>
          <p:nvPr/>
        </p:nvPicPr>
        <p:blipFill>
          <a:blip r:embed="rId2"/>
          <a:stretch>
            <a:fillRect/>
          </a:stretch>
        </p:blipFill>
        <p:spPr>
          <a:xfrm>
            <a:off x="4973508" y="2209482"/>
            <a:ext cx="6249670" cy="3621405"/>
          </a:xfrm>
          <a:prstGeom prst="rect">
            <a:avLst/>
          </a:prstGeom>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ISPRING_PRESENTATION_TITLE" val="项目流程进展工作汇报PPT模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2910</Words>
  <Application>WPS 演示</Application>
  <PresentationFormat>宽屏</PresentationFormat>
  <Paragraphs>192</Paragraphs>
  <Slides>14</Slides>
  <Notes>45</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14</vt:i4>
      </vt:variant>
    </vt:vector>
  </HeadingPairs>
  <TitlesOfParts>
    <vt:vector size="45" baseType="lpstr">
      <vt:lpstr>Arial</vt:lpstr>
      <vt:lpstr>宋体</vt:lpstr>
      <vt:lpstr>Wingdings</vt:lpstr>
      <vt:lpstr>思源黑体 CN</vt:lpstr>
      <vt:lpstr>Source Han Sans CN Medium</vt:lpstr>
      <vt:lpstr>思源黑体 CN Heavy</vt:lpstr>
      <vt:lpstr>黑体</vt:lpstr>
      <vt:lpstr>思源黑体 CN Medium</vt:lpstr>
      <vt:lpstr>HarmonyOS Sans SC</vt:lpstr>
      <vt:lpstr>HarmonyOS Sans SC</vt:lpstr>
      <vt:lpstr>思源黑体 CN Bold</vt:lpstr>
      <vt:lpstr>Source Han Sans CN Bold</vt:lpstr>
      <vt:lpstr>方正兰亭大黑_GBK</vt:lpstr>
      <vt:lpstr>Calibri</vt:lpstr>
      <vt:lpstr>微软雅黑</vt:lpstr>
      <vt:lpstr>Arial Unicode MS</vt:lpstr>
      <vt:lpstr>Source Han Sans CN Regular</vt:lpstr>
      <vt:lpstr>Alibaba PuHuiTi Regular</vt:lpstr>
      <vt:lpstr>思源黑体 CN Normal</vt:lpstr>
      <vt:lpstr>Source Han Sans CN Normal</vt:lpstr>
      <vt:lpstr>阿里巴巴普惠体 3.0 45 Light</vt:lpstr>
      <vt:lpstr>Alibaba Sans Medium</vt:lpstr>
      <vt:lpstr>Segoe Print</vt:lpstr>
      <vt:lpstr>OPPOSans B</vt:lpstr>
      <vt:lpstr>Wingdings</vt:lpstr>
      <vt:lpstr>Spline Sans Bold</vt:lpstr>
      <vt:lpstr>JetBrains Mono</vt:lpstr>
      <vt:lpstr>Spline Sans Bold</vt:lpstr>
      <vt:lpstr>Spline Sans Bold</vt:lpstr>
      <vt:lpstr>Microsoft YaHei Bold</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项目流程进展工作汇报PPT模板</dc:title>
  <dc:creator>andy</dc:creator>
  <cp:lastModifiedBy>欢乐马</cp:lastModifiedBy>
  <cp:revision>1255</cp:revision>
  <dcterms:created xsi:type="dcterms:W3CDTF">2025-03-01T08:18:00Z</dcterms:created>
  <dcterms:modified xsi:type="dcterms:W3CDTF">2025-07-29T15:29:08Z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6FC5246A7C418AE055C2C267A75BA83F_43</vt:lpwstr>
  </property>
</Properties>
</file>