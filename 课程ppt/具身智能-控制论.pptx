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6" r:id="rId12"/>
    <p:sldId id="265" r:id="rId13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657350" y="1136650"/>
            <a:ext cx="8180705" cy="35458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60000"/>
              </a:spcAft>
            </a:pPr>
            <a:r>
              <a:rPr lang="zh-CN" altLang="en-US" sz="3600" b="1" i="0">
                <a:solidFill>
                  <a:srgbClr val="003366"/>
                </a:solidFill>
                <a:latin typeface="-apple-system"/>
                <a:ea typeface="-apple-system"/>
              </a:rPr>
              <a:t>从“指令”到“结果”的</a:t>
            </a:r>
            <a:r>
              <a:rPr lang="en-US" altLang="zh-CN" sz="3600" b="1" i="0">
                <a:solidFill>
                  <a:srgbClr val="003366"/>
                </a:solidFill>
                <a:latin typeface="-apple-system"/>
                <a:ea typeface="-apple-system"/>
              </a:rPr>
              <a:t> </a:t>
            </a:r>
            <a:r>
              <a:rPr lang="zh-CN" altLang="en-US" sz="3600" b="1" i="0">
                <a:solidFill>
                  <a:srgbClr val="003366"/>
                </a:solidFill>
                <a:latin typeface="-apple-system"/>
                <a:ea typeface="-apple-system"/>
              </a:rPr>
              <a:t>鸿沟</a:t>
            </a:r>
            <a:endParaRPr lang="zh-CN" altLang="en-US" sz="3600" b="1" i="0">
              <a:solidFill>
                <a:srgbClr val="003366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b="0" i="1">
                <a:solidFill>
                  <a:srgbClr val="333333"/>
                </a:solidFill>
                <a:latin typeface="-apple-system"/>
                <a:ea typeface="-apple-system"/>
              </a:rPr>
              <a:t>思考：</a:t>
            </a:r>
            <a:r>
              <a:rPr lang="en-US" altLang="zh-CN" sz="2000" b="0" i="1">
                <a:solidFill>
                  <a:srgbClr val="333333"/>
                </a:solidFill>
                <a:latin typeface="-apple-system"/>
                <a:ea typeface="-apple-system"/>
              </a:rPr>
              <a:t> </a:t>
            </a:r>
            <a:r>
              <a:rPr lang="zh-CN" altLang="en-US" sz="2000" b="0" i="1">
                <a:solidFill>
                  <a:srgbClr val="333333"/>
                </a:solidFill>
                <a:latin typeface="-apple-system"/>
                <a:ea typeface="-apple-system"/>
              </a:rPr>
              <a:t>要让它的第一个关节（腰部）旋转 </a:t>
            </a:r>
            <a:r>
              <a:rPr lang="en-US" altLang="zh-CN" sz="2000" b="0" i="1">
                <a:solidFill>
                  <a:srgbClr val="333333"/>
                </a:solidFill>
                <a:latin typeface="-apple-system"/>
                <a:ea typeface="-apple-system"/>
              </a:rPr>
              <a:t>30</a:t>
            </a:r>
            <a:r>
              <a:rPr lang="zh-CN" altLang="en-US" sz="2000" b="0" i="1">
                <a:solidFill>
                  <a:srgbClr val="333333"/>
                </a:solidFill>
                <a:latin typeface="-apple-system"/>
                <a:ea typeface="-apple-system"/>
              </a:rPr>
              <a:t>度。</a:t>
            </a:r>
            <a:endParaRPr lang="zh-CN" altLang="en-US" sz="2000" b="0" i="1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endParaRPr lang="zh-CN" altLang="en-US" sz="2000" b="0" i="1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None/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能一瞬间转过去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吗？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None/>
            </a:pP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None/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电压跟转速有关系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吗？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None/>
            </a:pP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728470" y="1574800"/>
            <a:ext cx="8179435" cy="2722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60000"/>
              </a:spcAft>
            </a:pPr>
            <a:r>
              <a:rPr lang="zh-CN" altLang="en-US" sz="2900" b="1" i="0">
                <a:solidFill>
                  <a:srgbClr val="003366"/>
                </a:solidFill>
                <a:latin typeface="-apple-system"/>
                <a:ea typeface="-apple-system"/>
              </a:rPr>
              <a:t>现实世界的挑战</a:t>
            </a:r>
            <a:endParaRPr lang="zh-CN" altLang="en-US" sz="2900" b="1" i="0">
              <a:solidFill>
                <a:srgbClr val="003366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但现实世界充满了不确定性。我们那个“精确”的指令，还能得到“精确”的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30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度结果吗？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电源波动：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如果今天实验室的电源电压有点不稳怎么办？电池电量下降了怎么办？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负载变化：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如果机械臂上放了个重物，负载变大了怎么办？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系统老化：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如果齿轮有点磨损，内部润滑油粘性变了，摩擦力变了怎么办？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环境干扰：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如果操作时有人不小心碰了它一下怎么办？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zh-CN" altLang="en-US" sz="1700" b="0" i="1">
                <a:solidFill>
                  <a:srgbClr val="333333"/>
                </a:solidFill>
                <a:latin typeface="-apple-system"/>
                <a:ea typeface="-apple-system"/>
              </a:rPr>
              <a:t>这个“指令”与“结果”之间可能存在的巨大鸿沟，就是我们今天要探讨的控制论的核心问题。</a:t>
            </a:r>
            <a:endParaRPr lang="zh-CN" altLang="en-US" sz="1700" b="0" i="1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60737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为了解决这个问题，工程领域发展出了两种截然不同的“世界观”或者说控制策略。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715010" y="2557463"/>
          <a:ext cx="10485120" cy="1356360"/>
        </p:xfrm>
        <a:graphic>
          <a:graphicData uri="http://schemas.openxmlformats.org/drawingml/2006/table">
            <a:tbl>
              <a:tblPr/>
              <a:tblGrid>
                <a:gridCol w="5242560"/>
                <a:gridCol w="5242560"/>
              </a:tblGrid>
              <a:tr h="0">
                <a:tc>
                  <a:txBody>
                    <a:bodyPr/>
                    <a:p>
                      <a:pPr algn="l" fontAlgn="t"/>
                      <a:r>
                        <a:rPr lang="zh-CN" altLang="en-US" sz="2000" b="0" i="0">
                          <a:solidFill>
                            <a:srgbClr val="003366"/>
                          </a:solidFill>
                          <a:latin typeface="-apple-system"/>
                          <a:ea typeface="-apple-system"/>
                        </a:rPr>
                        <a:t>开环控制 </a:t>
                      </a:r>
                      <a:r>
                        <a:rPr lang="en-US" altLang="zh-CN" sz="2000" b="0" i="0">
                          <a:solidFill>
                            <a:srgbClr val="003366"/>
                          </a:solidFill>
                          <a:latin typeface="-apple-system"/>
                          <a:ea typeface="-apple-system"/>
                        </a:rPr>
                        <a:t>(Open-Loop Control)</a:t>
                      </a:r>
                      <a:endParaRPr lang="en-US" altLang="zh-CN" sz="2000" b="0" i="0">
                        <a:solidFill>
                          <a:srgbClr val="003366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2000" b="0" i="0">
                          <a:solidFill>
                            <a:srgbClr val="003366"/>
                          </a:solidFill>
                          <a:latin typeface="-apple-system"/>
                          <a:ea typeface="-apple-system"/>
                        </a:rPr>
                        <a:t>闭环控制 </a:t>
                      </a:r>
                      <a:r>
                        <a:rPr lang="en-US" altLang="zh-CN" sz="2000" b="0" i="0">
                          <a:solidFill>
                            <a:srgbClr val="003366"/>
                          </a:solidFill>
                          <a:latin typeface="-apple-system"/>
                          <a:ea typeface="-apple-system"/>
                        </a:rPr>
                        <a:t>(Closed-Loop Control)</a:t>
                      </a:r>
                      <a:endParaRPr lang="en-US" altLang="zh-CN" sz="2000" b="0" i="0">
                        <a:solidFill>
                          <a:srgbClr val="003366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乐观的理想主义者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谨慎的现实主义者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“我相信我的模型是完美的，世界是可预测的。我只需发出正确的指令。”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“我承认世界充满不确定性，我必须时刻观察结果，并与期望对比，然后不断修正我的行为。”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644208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60000"/>
              </a:spcAft>
            </a:pPr>
            <a:r>
              <a:rPr lang="zh-CN" altLang="en-US" sz="2800" b="1" i="0">
                <a:solidFill>
                  <a:srgbClr val="003366"/>
                </a:solidFill>
                <a:latin typeface="-apple-system"/>
                <a:ea typeface="-apple-system"/>
              </a:rPr>
              <a:t>开环控制</a:t>
            </a:r>
            <a:endParaRPr lang="zh-CN" altLang="en-US" sz="2800" b="1" i="0">
              <a:solidFill>
                <a:srgbClr val="003366"/>
              </a:solidFill>
              <a:latin typeface="-apple-system"/>
              <a:ea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5025" y="1555750"/>
            <a:ext cx="7719060" cy="838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424555" y="3311525"/>
            <a:ext cx="5080000" cy="156845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信息流：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严格的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单向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链条。从指令发出到结果产生，中间没有任何信息回流。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核心信念：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控制器下达命令后，就“假设”系统已经完美地执行了。它建立在一个强大的信念之上：我对被控系统（机器人）的模型是完美、精确的，并且外界没有任何未知的干扰。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853440" y="2186940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algn="l" fontAlgn="t"/>
                      <a:r>
                        <a:rPr lang="zh-CN" altLang="en-US" sz="1600" b="0" i="0">
                          <a:solidFill>
                            <a:srgbClr val="003366"/>
                          </a:solidFill>
                          <a:latin typeface="-apple-system"/>
                          <a:ea typeface="-apple-system"/>
                        </a:rPr>
                        <a:t>系统</a:t>
                      </a:r>
                      <a:endParaRPr lang="zh-CN" altLang="en-US" sz="1600" b="0" i="0">
                        <a:solidFill>
                          <a:srgbClr val="003366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600" b="0" i="0">
                          <a:solidFill>
                            <a:srgbClr val="003366"/>
                          </a:solidFill>
                          <a:latin typeface="-apple-system"/>
                          <a:ea typeface="-apple-system"/>
                        </a:rPr>
                        <a:t>工作方式</a:t>
                      </a:r>
                      <a:endParaRPr lang="zh-CN" altLang="en-US" sz="1600" b="0" i="0">
                        <a:solidFill>
                          <a:srgbClr val="003366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600" b="0" i="0">
                          <a:solidFill>
                            <a:srgbClr val="003366"/>
                          </a:solidFill>
                          <a:latin typeface="-apple-system"/>
                          <a:ea typeface="-apple-system"/>
                        </a:rPr>
                        <a:t>“盲目”之处</a:t>
                      </a:r>
                      <a:endParaRPr lang="zh-CN" altLang="en-US" sz="1600" b="0" i="0">
                        <a:solidFill>
                          <a:srgbClr val="003366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烤面包机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你设定了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3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分钟，按下开关。它就忠实地加热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3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分钟。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它完全不管面包是薄是厚，是干是湿，也不管今天的室温是高是低。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3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分钟后，它就“认为”面包烤好了。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老式洗衣机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你选择了“标准洗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15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分钟”。它就正转反转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15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分钟。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它不关心衣服到底洗干净了没有，哪怕衣服上还有明显的污渍。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定时浇水器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你设定每天早上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8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点浇水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30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分钟。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它不关心昨天是否下过暴雨，也不关心今天是否是阴天。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我们最初的设想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给电机一个持续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0.5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秒的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5V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电压。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然后就“相信”它转了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30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度，对负载、摩擦一无所知。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556000" y="644208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60000"/>
              </a:spcAft>
            </a:pPr>
            <a:r>
              <a:rPr lang="zh-CN" altLang="en-US" sz="2800" b="1" i="0">
                <a:solidFill>
                  <a:srgbClr val="003366"/>
                </a:solidFill>
                <a:latin typeface="-apple-system"/>
                <a:ea typeface="-apple-system"/>
              </a:rPr>
              <a:t>生活中</a:t>
            </a:r>
            <a:r>
              <a:rPr lang="zh-CN" altLang="en-US" sz="2800" b="1" i="0">
                <a:solidFill>
                  <a:srgbClr val="003366"/>
                </a:solidFill>
                <a:latin typeface="-apple-system"/>
                <a:ea typeface="-apple-system"/>
              </a:rPr>
              <a:t>的开环控制</a:t>
            </a:r>
            <a:endParaRPr lang="zh-CN" altLang="en-US" sz="2800" b="1" i="0">
              <a:solidFill>
                <a:srgbClr val="003366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556000" y="644208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60000"/>
              </a:spcAft>
            </a:pPr>
            <a:r>
              <a:rPr lang="zh-CN" altLang="en-US" sz="2800" b="1" i="0">
                <a:solidFill>
                  <a:srgbClr val="003366"/>
                </a:solidFill>
                <a:latin typeface="-apple-system"/>
                <a:ea typeface="-apple-system"/>
              </a:rPr>
              <a:t>开环控制的</a:t>
            </a:r>
            <a:r>
              <a:rPr lang="zh-CN" altLang="en-US" sz="2800" b="1" i="0">
                <a:solidFill>
                  <a:srgbClr val="003366"/>
                </a:solidFill>
                <a:latin typeface="-apple-system"/>
                <a:ea typeface="-apple-system"/>
              </a:rPr>
              <a:t>缺陷</a:t>
            </a:r>
            <a:endParaRPr lang="zh-CN" altLang="en-US" sz="2800" b="1" i="0">
              <a:solidFill>
                <a:srgbClr val="003366"/>
              </a:solidFill>
              <a:latin typeface="-apple-system"/>
              <a:ea typeface="-apple-system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58950" y="2105660"/>
            <a:ext cx="8806180" cy="19069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ts val="600"/>
              </a:spcAft>
            </a:pPr>
            <a:r>
              <a:rPr lang="en-US" altLang="zh-CN" sz="1700" b="1" i="0">
                <a:solidFill>
                  <a:srgbClr val="333333"/>
                </a:solidFill>
                <a:latin typeface="-apple-system"/>
                <a:ea typeface="-apple-system"/>
              </a:rPr>
              <a:t>a) </a:t>
            </a:r>
            <a:r>
              <a:rPr lang="zh-CN" altLang="en-US" sz="1700" b="1" i="0">
                <a:solidFill>
                  <a:srgbClr val="333333"/>
                </a:solidFill>
                <a:latin typeface="-apple-system"/>
                <a:ea typeface="-apple-system"/>
              </a:rPr>
              <a:t>对模型不准</a:t>
            </a:r>
            <a:r>
              <a:rPr lang="en-US" altLang="zh-CN" sz="1700" b="1" i="0">
                <a:solidFill>
                  <a:srgbClr val="333333"/>
                </a:solidFill>
                <a:latin typeface="-apple-system"/>
                <a:ea typeface="-apple-system"/>
              </a:rPr>
              <a:t>/</a:t>
            </a:r>
            <a:r>
              <a:rPr lang="zh-CN" altLang="en-US" sz="1700" b="1" i="0">
                <a:solidFill>
                  <a:srgbClr val="333333"/>
                </a:solidFill>
                <a:latin typeface="-apple-system"/>
                <a:ea typeface="-apple-system"/>
              </a:rPr>
              <a:t>系统变化的无能为力</a:t>
            </a:r>
            <a:endParaRPr lang="zh-CN" altLang="en-US" sz="1700" b="1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问题根源：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我们建立的“电压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-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角度”模型是基于出厂时的理想数据。但物理系统是会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 </a:t>
            </a:r>
            <a:r>
              <a:rPr lang="zh-CN" altLang="en-US" sz="1600" b="1" i="0">
                <a:solidFill>
                  <a:srgbClr val="333333"/>
                </a:solidFill>
                <a:latin typeface="-apple-system"/>
                <a:ea typeface="-apple-system"/>
              </a:rPr>
              <a:t>变化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的。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具体场景：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使用一段时间后，电机老化，效率降低；或者齿轮润滑油变得粘稠，摩擦力增大。我们称之为“系统参数漂移”。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灾难性后果：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原本能让它转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30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度的指令，现在可能只能转到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28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度。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开环系统的困境：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它对此一无所知，也无能为力。它会一直重复这个错误的动作，产生持续的、固定的误差。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556000" y="644208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60000"/>
              </a:spcAft>
            </a:pPr>
            <a:r>
              <a:rPr lang="zh-CN" altLang="en-US" sz="2800" b="1" i="0">
                <a:solidFill>
                  <a:srgbClr val="003366"/>
                </a:solidFill>
                <a:latin typeface="-apple-system"/>
                <a:ea typeface="-apple-system"/>
              </a:rPr>
              <a:t>开环控制的</a:t>
            </a:r>
            <a:r>
              <a:rPr lang="zh-CN" altLang="en-US" sz="2800" b="1" i="0">
                <a:solidFill>
                  <a:srgbClr val="003366"/>
                </a:solidFill>
                <a:latin typeface="-apple-system"/>
                <a:ea typeface="-apple-system"/>
              </a:rPr>
              <a:t>缺陷</a:t>
            </a:r>
            <a:endParaRPr lang="zh-CN" altLang="en-US" sz="2800" b="1" i="0">
              <a:solidFill>
                <a:srgbClr val="003366"/>
              </a:solidFill>
              <a:latin typeface="-apple-system"/>
              <a:ea typeface="-apple-system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58950" y="2105660"/>
            <a:ext cx="8806180" cy="15532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ts val="600"/>
              </a:spcAft>
            </a:pPr>
            <a:r>
              <a:rPr lang="en-US" altLang="zh-CN" sz="1600" b="1" i="0">
                <a:solidFill>
                  <a:srgbClr val="333333"/>
                </a:solidFill>
                <a:latin typeface="-apple-system"/>
                <a:ea typeface="-apple-system"/>
              </a:rPr>
              <a:t>b) </a:t>
            </a:r>
            <a:r>
              <a:rPr lang="zh-CN" altLang="en-US" sz="1600" b="1" i="0">
                <a:solidFill>
                  <a:srgbClr val="333333"/>
                </a:solidFill>
                <a:latin typeface="-apple-system"/>
                <a:ea typeface="-apple-system"/>
              </a:rPr>
              <a:t>对外部干扰的毫无防备</a:t>
            </a:r>
            <a:endParaRPr lang="zh-CN" altLang="en-US" sz="1600" b="1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Aft>
                <a:spcPts val="600"/>
              </a:spcAft>
            </a:pPr>
            <a:r>
              <a:rPr lang="zh-CN" altLang="en-US" sz="1600" i="0">
                <a:solidFill>
                  <a:srgbClr val="333333"/>
                </a:solidFill>
                <a:latin typeface="-apple-system"/>
                <a:ea typeface="-apple-system"/>
              </a:rPr>
              <a:t>干扰定义：</a:t>
            </a:r>
            <a:r>
              <a:rPr lang="en-US" altLang="zh-CN" sz="1600" i="0">
                <a:solidFill>
                  <a:srgbClr val="333333"/>
                </a:solidFill>
                <a:latin typeface="-apple-system"/>
                <a:ea typeface="-apple-system"/>
              </a:rPr>
              <a:t> </a:t>
            </a:r>
            <a:r>
              <a:rPr lang="zh-CN" altLang="en-US" sz="1600" i="0">
                <a:solidFill>
                  <a:srgbClr val="333333"/>
                </a:solidFill>
                <a:latin typeface="-apple-system"/>
                <a:ea typeface="-apple-system"/>
              </a:rPr>
              <a:t>一个未被建模的、会影响系统输出的外部输入。</a:t>
            </a:r>
            <a:endParaRPr lang="zh-CN" altLang="en-US" sz="160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Aft>
                <a:spcPts val="600"/>
              </a:spcAft>
            </a:pPr>
            <a:r>
              <a:rPr lang="zh-CN" altLang="en-US" sz="1600" i="0">
                <a:solidFill>
                  <a:srgbClr val="333333"/>
                </a:solidFill>
                <a:latin typeface="-apple-system"/>
                <a:ea typeface="-apple-system"/>
              </a:rPr>
              <a:t>具体场景：</a:t>
            </a:r>
            <a:r>
              <a:rPr lang="en-US" altLang="zh-CN" sz="1600" i="0">
                <a:solidFill>
                  <a:srgbClr val="333333"/>
                </a:solidFill>
                <a:latin typeface="-apple-system"/>
                <a:ea typeface="-apple-system"/>
              </a:rPr>
              <a:t> </a:t>
            </a:r>
            <a:r>
              <a:rPr lang="zh-CN" altLang="en-US" sz="1600" i="0">
                <a:solidFill>
                  <a:srgbClr val="333333"/>
                </a:solidFill>
                <a:latin typeface="-apple-system"/>
                <a:ea typeface="-apple-system"/>
              </a:rPr>
              <a:t>机械臂正在旋转时，旁边有人轻轻推了它一下。这个</a:t>
            </a:r>
            <a:r>
              <a:rPr lang="en-US" altLang="zh-CN" sz="1600" i="0">
                <a:solidFill>
                  <a:srgbClr val="333333"/>
                </a:solidFill>
                <a:latin typeface="-apple-system"/>
                <a:ea typeface="-apple-system"/>
              </a:rPr>
              <a:t>“</a:t>
            </a:r>
            <a:r>
              <a:rPr lang="zh-CN" altLang="en-US" sz="1600" i="0">
                <a:solidFill>
                  <a:srgbClr val="333333"/>
                </a:solidFill>
                <a:latin typeface="-apple-system"/>
                <a:ea typeface="-apple-system"/>
              </a:rPr>
              <a:t>推力</a:t>
            </a:r>
            <a:r>
              <a:rPr lang="en-US" altLang="zh-CN" sz="1600" i="0">
                <a:solidFill>
                  <a:srgbClr val="333333"/>
                </a:solidFill>
                <a:latin typeface="-apple-system"/>
                <a:ea typeface="-apple-system"/>
              </a:rPr>
              <a:t>”</a:t>
            </a:r>
            <a:r>
              <a:rPr lang="zh-CN" altLang="en-US" sz="1600" i="0">
                <a:solidFill>
                  <a:srgbClr val="333333"/>
                </a:solidFill>
                <a:latin typeface="-apple-system"/>
                <a:ea typeface="-apple-system"/>
              </a:rPr>
              <a:t>就是一个外部干扰。</a:t>
            </a:r>
            <a:endParaRPr lang="zh-CN" altLang="en-US" sz="160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Aft>
                <a:spcPts val="600"/>
              </a:spcAft>
            </a:pPr>
            <a:r>
              <a:rPr lang="zh-CN" altLang="en-US" sz="1600" i="0">
                <a:solidFill>
                  <a:srgbClr val="333333"/>
                </a:solidFill>
                <a:latin typeface="-apple-system"/>
                <a:ea typeface="-apple-system"/>
              </a:rPr>
              <a:t>开环系统的困境：</a:t>
            </a:r>
            <a:r>
              <a:rPr lang="en-US" altLang="zh-CN" sz="1600" i="0">
                <a:solidFill>
                  <a:srgbClr val="333333"/>
                </a:solidFill>
                <a:latin typeface="-apple-system"/>
                <a:ea typeface="-apple-system"/>
              </a:rPr>
              <a:t> </a:t>
            </a:r>
            <a:r>
              <a:rPr lang="zh-CN" altLang="en-US" sz="1600" i="0">
                <a:solidFill>
                  <a:srgbClr val="333333"/>
                </a:solidFill>
                <a:latin typeface="-apple-system"/>
                <a:ea typeface="-apple-system"/>
              </a:rPr>
              <a:t>系统完全</a:t>
            </a:r>
            <a:r>
              <a:rPr lang="en-US" altLang="zh-CN" sz="1600" i="0">
                <a:solidFill>
                  <a:srgbClr val="333333"/>
                </a:solidFill>
                <a:latin typeface="-apple-system"/>
                <a:ea typeface="-apple-system"/>
              </a:rPr>
              <a:t>“</a:t>
            </a:r>
            <a:r>
              <a:rPr lang="zh-CN" altLang="en-US" sz="1600" i="0">
                <a:solidFill>
                  <a:srgbClr val="333333"/>
                </a:solidFill>
                <a:latin typeface="-apple-system"/>
                <a:ea typeface="-apple-system"/>
              </a:rPr>
              <a:t>感觉</a:t>
            </a:r>
            <a:r>
              <a:rPr lang="en-US" altLang="zh-CN" sz="1600" i="0">
                <a:solidFill>
                  <a:srgbClr val="333333"/>
                </a:solidFill>
                <a:latin typeface="-apple-system"/>
                <a:ea typeface="-apple-system"/>
              </a:rPr>
              <a:t>”</a:t>
            </a:r>
            <a:r>
              <a:rPr lang="zh-CN" altLang="en-US" sz="1600" i="0">
                <a:solidFill>
                  <a:srgbClr val="333333"/>
                </a:solidFill>
                <a:latin typeface="-apple-system"/>
                <a:ea typeface="-apple-system"/>
              </a:rPr>
              <a:t>不到这个干扰，更不会去采取任何补偿措施把它推回去。干扰造成的影响将永久地留在最终结果里。</a:t>
            </a:r>
            <a:endParaRPr lang="zh-CN" altLang="en-US" sz="160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556000" y="644208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60000"/>
              </a:spcAft>
            </a:pPr>
            <a:r>
              <a:rPr lang="zh-CN" altLang="en-US" sz="2800" b="1" i="0">
                <a:solidFill>
                  <a:srgbClr val="003366"/>
                </a:solidFill>
                <a:latin typeface="-apple-system"/>
                <a:ea typeface="-apple-system"/>
              </a:rPr>
              <a:t>开环控制的</a:t>
            </a:r>
            <a:r>
              <a:rPr lang="zh-CN" altLang="en-US" sz="2800" b="1" i="0">
                <a:solidFill>
                  <a:srgbClr val="003366"/>
                </a:solidFill>
                <a:latin typeface="-apple-system"/>
                <a:ea typeface="-apple-system"/>
              </a:rPr>
              <a:t>缺陷</a:t>
            </a:r>
            <a:endParaRPr lang="zh-CN" altLang="en-US" sz="2800" b="1" i="0">
              <a:solidFill>
                <a:srgbClr val="003366"/>
              </a:solidFill>
              <a:latin typeface="-apple-system"/>
              <a:ea typeface="-apple-system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58950" y="2105660"/>
            <a:ext cx="8806180" cy="12299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ts val="600"/>
              </a:spcAft>
            </a:pPr>
            <a:r>
              <a:rPr lang="en-US" altLang="zh-CN" sz="1600" b="1" i="0">
                <a:solidFill>
                  <a:srgbClr val="333333"/>
                </a:solidFill>
                <a:latin typeface="-apple-system"/>
                <a:ea typeface="-apple-system"/>
              </a:rPr>
              <a:t>c) </a:t>
            </a:r>
            <a:r>
              <a:rPr lang="zh-CN" altLang="en-US" sz="1600" b="1" i="0">
                <a:solidFill>
                  <a:srgbClr val="333333"/>
                </a:solidFill>
                <a:latin typeface="-apple-system"/>
                <a:ea typeface="-apple-system"/>
              </a:rPr>
              <a:t>对变化的负载无法适应</a:t>
            </a:r>
            <a:endParaRPr lang="zh-CN" altLang="en-US" sz="1600" b="1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Aft>
                <a:spcPts val="600"/>
              </a:spcAft>
            </a:pPr>
            <a:r>
              <a:rPr lang="zh-CN" altLang="en-US" sz="1600" i="0">
                <a:solidFill>
                  <a:srgbClr val="333333"/>
                </a:solidFill>
                <a:latin typeface="-apple-system"/>
                <a:ea typeface="-apple-system"/>
              </a:rPr>
              <a:t>具体场景：</a:t>
            </a:r>
            <a:r>
              <a:rPr lang="en-US" altLang="zh-CN" sz="1600" i="0">
                <a:solidFill>
                  <a:srgbClr val="333333"/>
                </a:solidFill>
                <a:latin typeface="-apple-system"/>
                <a:ea typeface="-apple-system"/>
              </a:rPr>
              <a:t> </a:t>
            </a:r>
            <a:r>
              <a:rPr lang="zh-CN" altLang="en-US" sz="1600" i="0">
                <a:solidFill>
                  <a:srgbClr val="333333"/>
                </a:solidFill>
                <a:latin typeface="-apple-system"/>
                <a:ea typeface="-apple-system"/>
              </a:rPr>
              <a:t>空载时，指令能让它转</a:t>
            </a:r>
            <a:r>
              <a:rPr lang="en-US" altLang="zh-CN" sz="1600" i="0">
                <a:solidFill>
                  <a:srgbClr val="333333"/>
                </a:solidFill>
                <a:latin typeface="-apple-system"/>
                <a:ea typeface="-apple-system"/>
              </a:rPr>
              <a:t>30</a:t>
            </a:r>
            <a:r>
              <a:rPr lang="zh-CN" altLang="en-US" sz="1600" i="0">
                <a:solidFill>
                  <a:srgbClr val="333333"/>
                </a:solidFill>
                <a:latin typeface="-apple-system"/>
                <a:ea typeface="-apple-system"/>
              </a:rPr>
              <a:t>度。但今天我们让它拿起一个水杯（负载变化），同样的指令，由于负载带来的额外阻力，它可能只转了</a:t>
            </a:r>
            <a:r>
              <a:rPr lang="en-US" altLang="zh-CN" sz="1600" i="0">
                <a:solidFill>
                  <a:srgbClr val="333333"/>
                </a:solidFill>
                <a:latin typeface="-apple-system"/>
                <a:ea typeface="-apple-system"/>
              </a:rPr>
              <a:t>25</a:t>
            </a:r>
            <a:r>
              <a:rPr lang="zh-CN" altLang="en-US" sz="1600" i="0">
                <a:solidFill>
                  <a:srgbClr val="333333"/>
                </a:solidFill>
                <a:latin typeface="-apple-system"/>
                <a:ea typeface="-apple-system"/>
              </a:rPr>
              <a:t>度。</a:t>
            </a:r>
            <a:endParaRPr lang="zh-CN" altLang="en-US" sz="160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Aft>
                <a:spcPts val="600"/>
              </a:spcAft>
            </a:pPr>
            <a:r>
              <a:rPr lang="zh-CN" altLang="en-US" sz="1600" i="0">
                <a:solidFill>
                  <a:srgbClr val="333333"/>
                </a:solidFill>
                <a:latin typeface="-apple-system"/>
                <a:ea typeface="-apple-system"/>
              </a:rPr>
              <a:t>开环系统的困境：</a:t>
            </a:r>
            <a:r>
              <a:rPr lang="en-US" altLang="zh-CN" sz="1600" i="0">
                <a:solidFill>
                  <a:srgbClr val="333333"/>
                </a:solidFill>
                <a:latin typeface="-apple-system"/>
                <a:ea typeface="-apple-system"/>
              </a:rPr>
              <a:t> </a:t>
            </a:r>
            <a:r>
              <a:rPr lang="zh-CN" altLang="en-US" sz="1600" i="0">
                <a:solidFill>
                  <a:srgbClr val="333333"/>
                </a:solidFill>
                <a:latin typeface="-apple-system"/>
                <a:ea typeface="-apple-system"/>
              </a:rPr>
              <a:t>它无法适应负载的变化。为轻载设计的指令，在重载下必然失效。</a:t>
            </a:r>
            <a:endParaRPr lang="zh-CN" altLang="en-US" sz="160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6000" y="140874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60000"/>
              </a:spcAft>
            </a:pPr>
            <a:r>
              <a:rPr lang="zh-CN" altLang="en-US" sz="3200" b="1" i="0">
                <a:solidFill>
                  <a:srgbClr val="003366"/>
                </a:solidFill>
                <a:latin typeface="-apple-system"/>
                <a:ea typeface="-apple-system"/>
              </a:rPr>
              <a:t>开环控制 </a:t>
            </a:r>
            <a:r>
              <a:rPr lang="en-US" altLang="zh-CN" sz="3200" b="1" i="0">
                <a:solidFill>
                  <a:srgbClr val="003366"/>
                </a:solidFill>
                <a:latin typeface="-apple-system"/>
                <a:ea typeface="-apple-system"/>
              </a:rPr>
              <a:t>· </a:t>
            </a:r>
            <a:r>
              <a:rPr lang="zh-CN" altLang="en-US" sz="3200" b="1" i="0">
                <a:solidFill>
                  <a:srgbClr val="003366"/>
                </a:solidFill>
                <a:latin typeface="-apple-system"/>
                <a:ea typeface="-apple-system"/>
              </a:rPr>
              <a:t>小结</a:t>
            </a:r>
            <a:endParaRPr lang="zh-CN" altLang="en-US" sz="3200" b="1" i="0">
              <a:solidFill>
                <a:srgbClr val="003366"/>
              </a:solidFill>
              <a:latin typeface="-apple-system"/>
              <a:ea typeface="-apple-system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1016000" y="2159953"/>
          <a:ext cx="10485120" cy="0"/>
        </p:xfrm>
        <a:graphic>
          <a:graphicData uri="http://schemas.openxmlformats.org/drawingml/2006/table">
            <a:tbl>
              <a:tblPr/>
              <a:tblGrid>
                <a:gridCol w="5242560"/>
                <a:gridCol w="5242560"/>
              </a:tblGrid>
              <a:tr h="0">
                <a:tc>
                  <a:txBody>
                    <a:bodyPr/>
                    <a:p>
                      <a:pPr algn="l" fontAlgn="t"/>
                      <a:r>
                        <a:rPr lang="zh-CN" altLang="en-US" sz="2000" b="0" i="0">
                          <a:solidFill>
                            <a:srgbClr val="003366"/>
                          </a:solidFill>
                          <a:latin typeface="-apple-system"/>
                          <a:ea typeface="-apple-system"/>
                        </a:rPr>
                        <a:t>优点 </a:t>
                      </a:r>
                      <a:r>
                        <a:rPr lang="en-US" altLang="zh-CN" sz="2000" b="0" i="0">
                          <a:solidFill>
                            <a:srgbClr val="003366"/>
                          </a:solidFill>
                          <a:latin typeface="-apple-system"/>
                          <a:ea typeface="-apple-system"/>
                        </a:rPr>
                        <a:t>(Pros)</a:t>
                      </a:r>
                      <a:endParaRPr lang="en-US" altLang="zh-CN" sz="2000" b="0" i="0">
                        <a:solidFill>
                          <a:srgbClr val="003366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2000" b="0" i="0">
                          <a:solidFill>
                            <a:srgbClr val="003366"/>
                          </a:solidFill>
                          <a:latin typeface="-apple-system"/>
                          <a:ea typeface="-apple-system"/>
                        </a:rPr>
                        <a:t>缺点 </a:t>
                      </a:r>
                      <a:r>
                        <a:rPr lang="en-US" altLang="zh-CN" sz="2000" b="0" i="0">
                          <a:solidFill>
                            <a:srgbClr val="003366"/>
                          </a:solidFill>
                          <a:latin typeface="-apple-system"/>
                          <a:ea typeface="-apple-system"/>
                        </a:rPr>
                        <a:t>(Cons)</a:t>
                      </a:r>
                      <a:endParaRPr lang="en-US" altLang="zh-CN" sz="2000" b="0" i="0">
                        <a:solidFill>
                          <a:srgbClr val="003366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2000" b="1" i="0">
                          <a:solidFill>
                            <a:srgbClr val="28A745"/>
                          </a:solidFill>
                          <a:latin typeface="-apple-system"/>
                          <a:ea typeface="-apple-system"/>
                        </a:rPr>
                        <a:t>✅ </a:t>
                      </a:r>
                      <a:r>
                        <a:rPr lang="zh-CN" altLang="en-US" sz="2000" b="1" i="0">
                          <a:solidFill>
                            <a:srgbClr val="28A745"/>
                          </a:solidFill>
                          <a:latin typeface="-apple-system"/>
                          <a:ea typeface="-apple-system"/>
                        </a:rPr>
                        <a:t>系统简单，易于设计和实现</a:t>
                      </a:r>
                      <a:endParaRPr lang="zh-CN" altLang="en-US" sz="2000" b="1" i="0">
                        <a:solidFill>
                          <a:srgbClr val="28A74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2000" b="1" i="0">
                          <a:solidFill>
                            <a:srgbClr val="DC3545"/>
                          </a:solidFill>
                          <a:latin typeface="-apple-system"/>
                          <a:ea typeface="-apple-system"/>
                        </a:rPr>
                        <a:t>❌ </a:t>
                      </a:r>
                      <a:r>
                        <a:rPr lang="zh-CN" altLang="en-US" sz="2000" b="1" i="0">
                          <a:solidFill>
                            <a:srgbClr val="DC3545"/>
                          </a:solidFill>
                          <a:latin typeface="-apple-system"/>
                          <a:ea typeface="-apple-system"/>
                        </a:rPr>
                        <a:t>精度差，严重依赖精确的模型</a:t>
                      </a:r>
                      <a:endParaRPr lang="zh-CN" altLang="en-US" sz="2000" b="1" i="0">
                        <a:solidFill>
                          <a:srgbClr val="DC354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2000" b="1" i="0">
                          <a:solidFill>
                            <a:srgbClr val="28A745"/>
                          </a:solidFill>
                          <a:latin typeface="-apple-system"/>
                          <a:ea typeface="-apple-system"/>
                        </a:rPr>
                        <a:t>✅ </a:t>
                      </a:r>
                      <a:r>
                        <a:rPr lang="zh-CN" altLang="en-US" sz="2000" b="1" i="0">
                          <a:solidFill>
                            <a:srgbClr val="28A745"/>
                          </a:solidFill>
                          <a:latin typeface="-apple-system"/>
                          <a:ea typeface="-apple-system"/>
                        </a:rPr>
                        <a:t>成本低廉，无需昂贵的传感器</a:t>
                      </a:r>
                      <a:endParaRPr lang="zh-CN" altLang="en-US" sz="2000" b="1" i="0">
                        <a:solidFill>
                          <a:srgbClr val="28A74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2000" b="1" i="0">
                          <a:solidFill>
                            <a:srgbClr val="DC3545"/>
                          </a:solidFill>
                          <a:latin typeface="-apple-system"/>
                          <a:ea typeface="-apple-system"/>
                        </a:rPr>
                        <a:t>❌ </a:t>
                      </a:r>
                      <a:r>
                        <a:rPr lang="zh-CN" altLang="en-US" sz="2000" b="1" i="0">
                          <a:solidFill>
                            <a:srgbClr val="DC3545"/>
                          </a:solidFill>
                          <a:latin typeface="-apple-system"/>
                          <a:ea typeface="-apple-system"/>
                        </a:rPr>
                        <a:t>抗干扰能力极弱</a:t>
                      </a:r>
                      <a:endParaRPr lang="zh-CN" altLang="en-US" sz="2000" b="1" i="0">
                        <a:solidFill>
                          <a:srgbClr val="DC354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2000" b="1" i="0">
                          <a:solidFill>
                            <a:srgbClr val="28A745"/>
                          </a:solidFill>
                          <a:latin typeface="-apple-system"/>
                          <a:ea typeface="-apple-system"/>
                        </a:rPr>
                        <a:t>✅ </a:t>
                      </a:r>
                      <a:r>
                        <a:rPr lang="zh-CN" altLang="en-US" sz="2000" b="1" i="0">
                          <a:solidFill>
                            <a:srgbClr val="28A745"/>
                          </a:solidFill>
                          <a:latin typeface="-apple-system"/>
                          <a:ea typeface="-apple-system"/>
                        </a:rPr>
                        <a:t>固有稳定（不会产生振荡）</a:t>
                      </a:r>
                      <a:endParaRPr lang="zh-CN" altLang="en-US" sz="2000" b="1" i="0">
                        <a:solidFill>
                          <a:srgbClr val="28A74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2000" b="1" i="0">
                          <a:solidFill>
                            <a:srgbClr val="DC3545"/>
                          </a:solidFill>
                          <a:latin typeface="-apple-system"/>
                          <a:ea typeface="-apple-system"/>
                        </a:rPr>
                        <a:t>❌ </a:t>
                      </a:r>
                      <a:r>
                        <a:rPr lang="zh-CN" altLang="en-US" sz="2000" b="1" i="0">
                          <a:solidFill>
                            <a:srgbClr val="DC3545"/>
                          </a:solidFill>
                          <a:latin typeface="-apple-system"/>
                          <a:ea typeface="-apple-system"/>
                        </a:rPr>
                        <a:t>无法适应系统自身和环境的变化</a:t>
                      </a:r>
                      <a:endParaRPr lang="zh-CN" altLang="en-US" sz="2000" b="1" i="0">
                        <a:solidFill>
                          <a:srgbClr val="DC354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293745" y="480345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0" i="1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1">
                <a:solidFill>
                  <a:srgbClr val="333333"/>
                </a:solidFill>
                <a:latin typeface="-apple-system"/>
                <a:ea typeface="-apple-system"/>
              </a:rPr>
              <a:t>开环控制只适用于那些模型非常精确、外界干扰极小、或者对结果精度要求不高的简单场合。</a:t>
            </a:r>
            <a:endParaRPr lang="zh-CN" altLang="en-US" sz="1600" b="0" i="1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768475" y="405130"/>
            <a:ext cx="8089265" cy="535940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Bef>
                <a:spcPct val="0"/>
              </a:spcBef>
              <a:spcAft>
                <a:spcPct val="60000"/>
              </a:spcAft>
            </a:pPr>
            <a:r>
              <a:rPr lang="en-US" altLang="zh-CN" sz="2900" b="1" i="0">
                <a:solidFill>
                  <a:srgbClr val="003366"/>
                </a:solidFill>
                <a:latin typeface="-apple-system"/>
                <a:ea typeface="-apple-system"/>
              </a:rPr>
              <a:t> </a:t>
            </a:r>
            <a:r>
              <a:rPr lang="zh-CN" altLang="en-US" sz="2900" b="1" i="0">
                <a:solidFill>
                  <a:srgbClr val="003366"/>
                </a:solidFill>
                <a:latin typeface="-apple-system"/>
                <a:ea typeface="-apple-system"/>
              </a:rPr>
              <a:t>闭环控制：引入“反馈”的革命</a:t>
            </a:r>
            <a:endParaRPr lang="zh-CN" altLang="en-US" sz="2900" b="1" i="0">
              <a:solidFill>
                <a:srgbClr val="003366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800"/>
              </a:spcBef>
              <a:spcAft>
                <a:spcPct val="60000"/>
              </a:spcAft>
            </a:pPr>
            <a:r>
              <a:rPr lang="zh-CN" altLang="en-US" sz="1900" b="1" i="0">
                <a:solidFill>
                  <a:srgbClr val="005A9C"/>
                </a:solidFill>
                <a:latin typeface="-apple-system"/>
                <a:ea typeface="-apple-system"/>
              </a:rPr>
              <a:t>革命的核心：反馈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“现实主义者”是如何解决这些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800"/>
              </a:spcBef>
              <a:spcAft>
                <a:spcPct val="60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问题的呢？它只引入了一个看似简单，却极具革命性的东西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——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反馈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(Feedback)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定义：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反馈，就是将系统的实际输出，通过传感器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(Sensor)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测量出来，并将其“反馈”回输入端，与期望输入进行比较。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产生“误差”：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这个比较会产生一个至关重要的信号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——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误差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(Error)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  <a:spcAft>
                <a:spcPts val="1200"/>
              </a:spcAft>
            </a:pPr>
            <a:r>
              <a:rPr lang="en-US" altLang="zh-CN" sz="1700" b="0" i="1">
                <a:solidFill>
                  <a:srgbClr val="333333"/>
                </a:solidFill>
                <a:latin typeface="-apple-system"/>
                <a:ea typeface="-apple-system"/>
              </a:rPr>
              <a:t>Error = </a:t>
            </a:r>
            <a:r>
              <a:rPr lang="zh-CN" altLang="en-US" sz="1700" b="0" i="1">
                <a:solidFill>
                  <a:srgbClr val="333333"/>
                </a:solidFill>
                <a:latin typeface="-apple-system"/>
                <a:ea typeface="-apple-system"/>
              </a:rPr>
              <a:t>期望值 </a:t>
            </a:r>
            <a:r>
              <a:rPr lang="en-US" altLang="zh-CN" sz="1700" b="0" i="1">
                <a:solidFill>
                  <a:srgbClr val="333333"/>
                </a:solidFill>
                <a:latin typeface="-apple-system"/>
                <a:ea typeface="-apple-system"/>
              </a:rPr>
              <a:t>(Setpoint) - </a:t>
            </a:r>
            <a:r>
              <a:rPr lang="zh-CN" altLang="en-US" sz="1700" b="0" i="1">
                <a:solidFill>
                  <a:srgbClr val="333333"/>
                </a:solidFill>
                <a:latin typeface="-apple-system"/>
                <a:ea typeface="-apple-system"/>
              </a:rPr>
              <a:t>实际值 </a:t>
            </a:r>
            <a:r>
              <a:rPr lang="en-US" altLang="zh-CN" sz="1700" b="0" i="1">
                <a:solidFill>
                  <a:srgbClr val="333333"/>
                </a:solidFill>
                <a:latin typeface="-apple-system"/>
                <a:ea typeface="-apple-system"/>
              </a:rPr>
              <a:t>(Actual Value)</a:t>
            </a:r>
            <a:endParaRPr lang="en-US" altLang="zh-CN" sz="1700" b="0" i="1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“基于误差进行控制”：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闭环控制的全部智慧，都体现在这句话里。它的控制器不再是盲目地执行预设指令，而是时刻盯着误差，并根据误差的大小和方向，动态地调整自己的输出，其唯一目的就是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——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想方设法将误差降为零！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700" y="1497965"/>
            <a:ext cx="8610600" cy="1013460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 flipH="1">
            <a:off x="10130790" y="2342515"/>
            <a:ext cx="10160" cy="13639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1">
            <a:off x="2364105" y="3686175"/>
            <a:ext cx="769556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2414270" y="2251710"/>
            <a:ext cx="0" cy="13233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474335" y="3352800"/>
            <a:ext cx="1610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传感器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142615" y="4562475"/>
            <a:ext cx="610933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i="0">
                <a:solidFill>
                  <a:srgbClr val="333333"/>
                </a:solidFill>
                <a:latin typeface="-apple-system"/>
                <a:ea typeface="-apple-system"/>
              </a:rPr>
              <a:t>去测量系统的真实输出，然后把这个测量值送回到系统的最前端</a:t>
            </a:r>
            <a:endParaRPr lang="zh-CN" altLang="en-US" sz="160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73501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003366"/>
                </a:solidFill>
                <a:latin typeface="-apple-system"/>
                <a:ea typeface="-apple-system"/>
              </a:rPr>
              <a:t>生活中的闭环系统</a:t>
            </a:r>
            <a:endParaRPr lang="zh-CN" altLang="en-US" sz="1600" b="1" i="0">
              <a:solidFill>
                <a:srgbClr val="003366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26995" y="1736725"/>
            <a:ext cx="7038975" cy="28917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ts val="600"/>
              </a:spcAft>
            </a:pPr>
            <a:r>
              <a:rPr lang="zh-CN" altLang="en-US" sz="1700" b="1" i="0">
                <a:solidFill>
                  <a:srgbClr val="333333"/>
                </a:solidFill>
                <a:latin typeface="-apple-system"/>
                <a:ea typeface="-apple-system"/>
              </a:rPr>
              <a:t>人开车保持车道：一个完美的生物闭环系统</a:t>
            </a:r>
            <a:endParaRPr lang="zh-CN" altLang="en-US" sz="1700" b="1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期望输入：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道路中线。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实际输出：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汽车的当前位置。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传感器：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你的眼睛。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控制器：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你的大脑。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执行器：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你的手和方向盘。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过程：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你的眼睛（传感器）时刻在看汽车偏离中线了没有（测量输出），将这个信息传给大脑（控制器）。大脑计算出“向左偏了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10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厘米”（误差），然后命令你的手（执行器）向右打一点方向盘。你不会一把打死，而是根据偏离的程度，持续地、微小地修正。这就是一个完美的闭环控制。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其他例子：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调节洗澡水温、现代空调恒温系统。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2305" y="432753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60000"/>
              </a:spcAft>
            </a:pPr>
            <a:r>
              <a:rPr lang="zh-CN" altLang="en-US" sz="2800" b="1" i="0">
                <a:solidFill>
                  <a:srgbClr val="003366"/>
                </a:solidFill>
                <a:latin typeface="-apple-system"/>
                <a:ea typeface="-apple-system"/>
              </a:rPr>
              <a:t>闭环控制的巨大优势</a:t>
            </a:r>
            <a:endParaRPr lang="zh-CN" altLang="en-US" sz="2800" b="1" i="0">
              <a:solidFill>
                <a:srgbClr val="003366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37665" y="1153795"/>
            <a:ext cx="9371965" cy="16148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ts val="600"/>
              </a:spcAft>
            </a:pPr>
            <a:r>
              <a:rPr lang="en-US" altLang="zh-CN" sz="1600" b="1" i="0">
                <a:solidFill>
                  <a:srgbClr val="333333"/>
                </a:solidFill>
                <a:latin typeface="-apple-system"/>
                <a:ea typeface="-apple-system"/>
              </a:rPr>
              <a:t>a) </a:t>
            </a:r>
            <a:r>
              <a:rPr lang="zh-CN" altLang="en-US" sz="1600" b="1" i="0">
                <a:solidFill>
                  <a:srgbClr val="333333"/>
                </a:solidFill>
                <a:latin typeface="-apple-system"/>
                <a:ea typeface="-apple-system"/>
              </a:rPr>
              <a:t>精度高，能补偿模型不准</a:t>
            </a:r>
            <a:r>
              <a:rPr lang="en-US" altLang="zh-CN" sz="1600" b="1" i="0">
                <a:solidFill>
                  <a:srgbClr val="333333"/>
                </a:solidFill>
                <a:latin typeface="-apple-system"/>
                <a:ea typeface="-apple-system"/>
              </a:rPr>
              <a:t>/</a:t>
            </a:r>
            <a:r>
              <a:rPr lang="zh-CN" altLang="en-US" sz="1600" b="1" i="0">
                <a:solidFill>
                  <a:srgbClr val="333333"/>
                </a:solidFill>
                <a:latin typeface="-apple-system"/>
                <a:ea typeface="-apple-system"/>
              </a:rPr>
              <a:t>系统老化</a:t>
            </a:r>
            <a:endParaRPr lang="zh-CN" altLang="en-US" sz="1600" b="1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zh-CN" altLang="en-US" sz="1600" b="0" i="1">
                <a:solidFill>
                  <a:srgbClr val="333333"/>
                </a:solidFill>
                <a:latin typeface="-apple-system"/>
                <a:ea typeface="-apple-system"/>
              </a:rPr>
              <a:t>因为</a:t>
            </a:r>
            <a:r>
              <a:rPr lang="en-US" altLang="zh-CN" sz="1600" b="0" i="1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1">
                <a:solidFill>
                  <a:srgbClr val="333333"/>
                </a:solidFill>
                <a:latin typeface="-apple-system"/>
                <a:ea typeface="-apple-system"/>
              </a:rPr>
              <a:t>控制器关心的是“实际结果”与“期望目标”的误差，而非依赖于一个不完美的模型。</a:t>
            </a:r>
            <a:endParaRPr lang="zh-CN" altLang="en-US" sz="1600" b="0" i="1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zh-CN" altLang="en-US" sz="1600" b="0" i="1">
                <a:solidFill>
                  <a:srgbClr val="333333"/>
                </a:solidFill>
                <a:latin typeface="-apple-system"/>
                <a:ea typeface="-apple-system"/>
              </a:rPr>
              <a:t>所以</a:t>
            </a:r>
            <a:r>
              <a:rPr lang="en-US" altLang="zh-CN" sz="1600" b="0" i="1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1">
                <a:solidFill>
                  <a:srgbClr val="333333"/>
                </a:solidFill>
                <a:latin typeface="-apple-system"/>
                <a:ea typeface="-apple-system"/>
              </a:rPr>
              <a:t>即使电机老化了，只要传感器测量的当前角度是</a:t>
            </a:r>
            <a:r>
              <a:rPr lang="en-US" altLang="zh-CN" sz="1600" b="0" i="1">
                <a:solidFill>
                  <a:srgbClr val="333333"/>
                </a:solidFill>
                <a:latin typeface="-apple-system"/>
                <a:ea typeface="-apple-system"/>
              </a:rPr>
              <a:t>28</a:t>
            </a:r>
            <a:r>
              <a:rPr lang="zh-CN" altLang="en-US" sz="1600" b="0" i="1">
                <a:solidFill>
                  <a:srgbClr val="333333"/>
                </a:solidFill>
                <a:latin typeface="-apple-system"/>
                <a:ea typeface="-apple-system"/>
              </a:rPr>
              <a:t>度，那么</a:t>
            </a:r>
            <a:r>
              <a:rPr lang="en-US" altLang="zh-CN" sz="1600" b="0" i="1">
                <a:solidFill>
                  <a:srgbClr val="333333"/>
                </a:solidFill>
                <a:latin typeface="-apple-system"/>
                <a:ea typeface="-apple-system"/>
              </a:rPr>
              <a:t>2</a:t>
            </a:r>
            <a:r>
              <a:rPr lang="zh-CN" altLang="en-US" sz="1600" b="0" i="1">
                <a:solidFill>
                  <a:srgbClr val="333333"/>
                </a:solidFill>
                <a:latin typeface="-apple-system"/>
                <a:ea typeface="-apple-system"/>
              </a:rPr>
              <a:t>度的误差就依然存在，控制器就会持续输出能量，直到编码器读数达到</a:t>
            </a:r>
            <a:r>
              <a:rPr lang="en-US" altLang="zh-CN" sz="1600" b="0" i="1">
                <a:solidFill>
                  <a:srgbClr val="333333"/>
                </a:solidFill>
                <a:latin typeface="-apple-system"/>
                <a:ea typeface="-apple-system"/>
              </a:rPr>
              <a:t>30</a:t>
            </a:r>
            <a:r>
              <a:rPr lang="zh-CN" altLang="en-US" sz="1600" b="0" i="1">
                <a:solidFill>
                  <a:srgbClr val="333333"/>
                </a:solidFill>
                <a:latin typeface="-apple-system"/>
                <a:ea typeface="-apple-system"/>
              </a:rPr>
              <a:t>度为止。</a:t>
            </a:r>
            <a:endParaRPr lang="zh-CN" altLang="en-US" sz="1600" b="0" i="1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37665" y="2870200"/>
            <a:ext cx="9097645" cy="16148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ts val="600"/>
              </a:spcAft>
            </a:pPr>
            <a:r>
              <a:rPr lang="en-US" altLang="zh-CN" sz="1600" b="1" i="0">
                <a:solidFill>
                  <a:srgbClr val="333333"/>
                </a:solidFill>
                <a:latin typeface="-apple-system"/>
                <a:ea typeface="-apple-system"/>
              </a:rPr>
              <a:t>b) </a:t>
            </a:r>
            <a:r>
              <a:rPr lang="zh-CN" altLang="en-US" sz="1600" b="1" i="0">
                <a:solidFill>
                  <a:srgbClr val="333333"/>
                </a:solidFill>
                <a:latin typeface="-apple-system"/>
                <a:ea typeface="-apple-system"/>
              </a:rPr>
              <a:t>抗干扰能力强</a:t>
            </a:r>
            <a:endParaRPr lang="zh-CN" altLang="en-US" sz="1600" b="1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zh-CN" altLang="en-US" sz="1600" b="0" i="1">
                <a:solidFill>
                  <a:srgbClr val="333333"/>
                </a:solidFill>
                <a:latin typeface="-apple-system"/>
                <a:ea typeface="-apple-system"/>
              </a:rPr>
              <a:t>因为</a:t>
            </a:r>
            <a:r>
              <a:rPr lang="en-US" altLang="zh-CN" sz="1600" b="0" i="1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1">
                <a:solidFill>
                  <a:srgbClr val="333333"/>
                </a:solidFill>
                <a:latin typeface="-apple-system"/>
                <a:ea typeface="-apple-system"/>
              </a:rPr>
              <a:t>任何外部干扰都会立刻体现在“实际输出”上，从而被传感器捕捉到。</a:t>
            </a:r>
            <a:endParaRPr lang="zh-CN" altLang="en-US" sz="1600" b="0" i="1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zh-CN" altLang="en-US" sz="1600" b="0" i="1">
                <a:solidFill>
                  <a:srgbClr val="333333"/>
                </a:solidFill>
                <a:latin typeface="-apple-system"/>
                <a:ea typeface="-apple-system"/>
              </a:rPr>
              <a:t>所以</a:t>
            </a:r>
            <a:r>
              <a:rPr lang="en-US" altLang="zh-CN" sz="1600" b="0" i="1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1">
                <a:solidFill>
                  <a:srgbClr val="333333"/>
                </a:solidFill>
                <a:latin typeface="-apple-system"/>
                <a:ea typeface="-apple-system"/>
              </a:rPr>
              <a:t>当有人推了机械臂一下，导致它偏离目标，编码器立刻检测到这个偏差，产生误差，控制器马上就会反向施力，把它拉回目标位置。</a:t>
            </a:r>
            <a:endParaRPr lang="zh-CN" altLang="en-US" sz="1600" b="0" i="1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17675" y="4710430"/>
            <a:ext cx="8907145" cy="16148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ts val="600"/>
              </a:spcAft>
            </a:pPr>
            <a:r>
              <a:rPr lang="en-US" altLang="zh-CN" sz="1600" b="1" i="0">
                <a:solidFill>
                  <a:srgbClr val="333333"/>
                </a:solidFill>
                <a:latin typeface="-apple-system"/>
                <a:ea typeface="-apple-system"/>
              </a:rPr>
              <a:t>c) </a:t>
            </a:r>
            <a:r>
              <a:rPr lang="zh-CN" altLang="en-US" sz="1600" b="1" i="0">
                <a:solidFill>
                  <a:srgbClr val="333333"/>
                </a:solidFill>
                <a:latin typeface="-apple-system"/>
                <a:ea typeface="-apple-system"/>
              </a:rPr>
              <a:t>适应负载变化</a:t>
            </a:r>
            <a:endParaRPr lang="zh-CN" altLang="en-US" sz="1600" b="1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zh-CN" altLang="en-US" sz="1600" b="0" i="1">
                <a:solidFill>
                  <a:srgbClr val="333333"/>
                </a:solidFill>
                <a:latin typeface="-apple-system"/>
                <a:ea typeface="-apple-system"/>
              </a:rPr>
              <a:t>因为</a:t>
            </a:r>
            <a:r>
              <a:rPr lang="en-US" altLang="zh-CN" sz="1600" b="0" i="1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1">
                <a:solidFill>
                  <a:srgbClr val="333333"/>
                </a:solidFill>
                <a:latin typeface="-apple-system"/>
                <a:ea typeface="-apple-system"/>
              </a:rPr>
              <a:t>系统只关心最终结果是否达成。</a:t>
            </a:r>
            <a:endParaRPr lang="zh-CN" altLang="en-US" sz="1600" b="0" i="1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zh-CN" altLang="en-US" sz="1600" b="0" i="1">
                <a:solidFill>
                  <a:srgbClr val="333333"/>
                </a:solidFill>
                <a:latin typeface="-apple-system"/>
                <a:ea typeface="-apple-system"/>
              </a:rPr>
              <a:t>所以</a:t>
            </a:r>
            <a:r>
              <a:rPr lang="en-US" altLang="zh-CN" sz="1600" b="0" i="1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1">
                <a:solidFill>
                  <a:srgbClr val="333333"/>
                </a:solidFill>
                <a:latin typeface="-apple-system"/>
                <a:ea typeface="-apple-system"/>
              </a:rPr>
              <a:t>拿起水杯后，同样的能量可能只能让它转得慢一点，但只要没到</a:t>
            </a:r>
            <a:r>
              <a:rPr lang="en-US" altLang="zh-CN" sz="1600" b="0" i="1">
                <a:solidFill>
                  <a:srgbClr val="333333"/>
                </a:solidFill>
                <a:latin typeface="-apple-system"/>
                <a:ea typeface="-apple-system"/>
              </a:rPr>
              <a:t>30</a:t>
            </a:r>
            <a:r>
              <a:rPr lang="zh-CN" altLang="en-US" sz="1600" b="0" i="1">
                <a:solidFill>
                  <a:srgbClr val="333333"/>
                </a:solidFill>
                <a:latin typeface="-apple-system"/>
                <a:ea typeface="-apple-system"/>
              </a:rPr>
              <a:t>度，误差就存在，控制器就会一直“努力”，直到目标达成。</a:t>
            </a:r>
            <a:endParaRPr lang="zh-CN" altLang="en-US" sz="1600" b="0" i="1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53795" y="1098550"/>
            <a:ext cx="9845040" cy="39135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60000"/>
              </a:spcAft>
            </a:pPr>
            <a:r>
              <a:rPr lang="zh-CN" altLang="en-US" sz="3600" b="1" i="0">
                <a:solidFill>
                  <a:srgbClr val="003366"/>
                </a:solidFill>
                <a:latin typeface="-apple-system"/>
                <a:ea typeface="-apple-system"/>
              </a:rPr>
              <a:t>闭环控制引入的新挑战：稳定性</a:t>
            </a:r>
            <a:endParaRPr lang="zh-CN" altLang="en-US" sz="3600" b="1" i="0">
              <a:solidFill>
                <a:srgbClr val="003366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闭环控制如此强大，但它也引入了新的复杂性：系统可能会变得不稳定 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(Instability)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问题根源：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如果控制器对误差的反应“过度”（我们称之为“增益太高”），或者反馈信号存在延迟 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(Delay)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，会发生什么？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可能现象：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lvl="1" indent="0">
              <a:buFont typeface="Arial" panose="020B0604020202020204"/>
              <a:buChar char="◦"/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超调 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(Overshoot): 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系统会冲过目标点。比如目标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30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度，它冲到了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35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度。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lvl="1" indent="0">
              <a:buFont typeface="Arial" panose="020B0604020202020204"/>
              <a:buChar char="◦"/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振荡 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(Oscillation): 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在目标点附近来回摆动，无法稳定下来。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b="0" i="1">
                <a:solidFill>
                  <a:srgbClr val="333333"/>
                </a:solidFill>
                <a:latin typeface="-apple-system"/>
                <a:ea typeface="-apple-system"/>
              </a:rPr>
              <a:t>新的核心课题：</a:t>
            </a:r>
            <a:r>
              <a:rPr lang="en-US" altLang="zh-CN" sz="2000" b="0" i="1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000" b="0" i="1">
                <a:solidFill>
                  <a:srgbClr val="333333"/>
                </a:solidFill>
                <a:latin typeface="-apple-system"/>
                <a:ea typeface="-apple-system"/>
              </a:rPr>
              <a:t>如何设计一个优秀的控制器，让系统“稳、准、快”地消除误差？这正是</a:t>
            </a:r>
            <a:r>
              <a:rPr lang="en-US" altLang="zh-CN" sz="2000" b="0" i="1">
                <a:solidFill>
                  <a:srgbClr val="333333"/>
                </a:solidFill>
                <a:latin typeface="-apple-system"/>
                <a:ea typeface="-apple-system"/>
              </a:rPr>
              <a:t>PID</a:t>
            </a:r>
            <a:r>
              <a:rPr lang="zh-CN" altLang="en-US" sz="2000" b="0" i="1">
                <a:solidFill>
                  <a:srgbClr val="333333"/>
                </a:solidFill>
                <a:latin typeface="-apple-system"/>
                <a:ea typeface="-apple-system"/>
              </a:rPr>
              <a:t>等高级控制算法要解决的核心问题。</a:t>
            </a:r>
            <a:endParaRPr lang="zh-CN" altLang="en-US" sz="2000" b="0" i="1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74470" y="926782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800"/>
              </a:spcBef>
              <a:spcAft>
                <a:spcPct val="60000"/>
              </a:spcAft>
            </a:pPr>
            <a:r>
              <a:rPr lang="zh-CN" altLang="en-US" sz="2800" b="1" i="0">
                <a:solidFill>
                  <a:srgbClr val="005A9C"/>
                </a:solidFill>
                <a:latin typeface="-apple-system"/>
                <a:ea typeface="-apple-system"/>
              </a:rPr>
              <a:t>核心对比总结</a:t>
            </a:r>
            <a:endParaRPr lang="zh-CN" altLang="en-US" sz="2800" b="1" i="0">
              <a:solidFill>
                <a:srgbClr val="005A9C"/>
              </a:solidFill>
              <a:latin typeface="-apple-system"/>
              <a:ea typeface="-apple-system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569595" y="2042477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003366"/>
                          </a:solidFill>
                          <a:latin typeface="-apple-system"/>
                          <a:ea typeface="-apple-system"/>
                        </a:rPr>
                        <a:t>特性</a:t>
                      </a:r>
                      <a:endParaRPr lang="zh-CN" altLang="en-US" sz="1800" b="0" i="0">
                        <a:solidFill>
                          <a:srgbClr val="003366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003366"/>
                          </a:solidFill>
                          <a:latin typeface="-apple-system"/>
                          <a:ea typeface="-apple-system"/>
                        </a:rPr>
                        <a:t>开环控制 </a:t>
                      </a:r>
                      <a:r>
                        <a:rPr lang="en-US" altLang="zh-CN" sz="1800" b="0" i="0">
                          <a:solidFill>
                            <a:srgbClr val="003366"/>
                          </a:solidFill>
                          <a:latin typeface="-apple-system"/>
                          <a:ea typeface="-apple-system"/>
                        </a:rPr>
                        <a:t>(Open-Loop)</a:t>
                      </a:r>
                      <a:endParaRPr lang="en-US" altLang="zh-CN" sz="1800" b="0" i="0">
                        <a:solidFill>
                          <a:srgbClr val="003366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003366"/>
                          </a:solidFill>
                          <a:latin typeface="-apple-system"/>
                          <a:ea typeface="-apple-system"/>
                        </a:rPr>
                        <a:t>闭环控制 </a:t>
                      </a:r>
                      <a:r>
                        <a:rPr lang="en-US" altLang="zh-CN" sz="1800" b="0" i="0">
                          <a:solidFill>
                            <a:srgbClr val="003366"/>
                          </a:solidFill>
                          <a:latin typeface="-apple-system"/>
                          <a:ea typeface="-apple-system"/>
                        </a:rPr>
                        <a:t>(Closed-Loop)</a:t>
                      </a:r>
                      <a:endParaRPr lang="en-US" altLang="zh-CN" sz="1800" b="0" i="0">
                        <a:solidFill>
                          <a:srgbClr val="003366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核心思想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基于精确模型，盲目执行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基于反馈误差，动态调节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系统结构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链式结构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(Chain)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环形结构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(Loop)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关键要素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无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反馈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(Feedback) 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与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 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误差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(Error)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优点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简单，廉价，固有稳定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精度高，抗干扰，适应性强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缺点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精度差，无抗干扰能力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复杂，昂贵，可能不稳定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生活类比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烤面包机，老式洗衣机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空调恒温，人开车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14617" marR="114617" marT="114617" marB="114617" anchor="t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3014027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i="0">
                <a:solidFill>
                  <a:srgbClr val="333333"/>
                </a:solidFill>
                <a:latin typeface="-apple-system"/>
                <a:ea typeface="-apple-system"/>
              </a:rPr>
              <a:t>PID </a:t>
            </a:r>
            <a:r>
              <a:rPr lang="zh-CN" altLang="en-US" sz="1600" i="0">
                <a:solidFill>
                  <a:srgbClr val="333333"/>
                </a:solidFill>
                <a:latin typeface="-apple-system"/>
                <a:ea typeface="-apple-system"/>
              </a:rPr>
              <a:t>控制</a:t>
            </a:r>
            <a:endParaRPr lang="zh-CN" altLang="en-US" sz="160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如何巧妙地利用误差的“</a:t>
            </a:r>
            <a:r>
              <a:rPr lang="zh-CN" altLang="en-US" sz="1600" i="0">
                <a:solidFill>
                  <a:srgbClr val="333333"/>
                </a:solidFill>
                <a:latin typeface="-apple-system"/>
                <a:ea typeface="-apple-system"/>
              </a:rPr>
              <a:t>现在、过去和未来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”，来实现对机器人平稳、精准的控制。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/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2868</Words>
  <Application>WPS 演示</Application>
  <PresentationFormat>宽屏</PresentationFormat>
  <Paragraphs>201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Arial Unicode MS</vt:lpstr>
      <vt:lpstr>Calibri</vt:lpstr>
      <vt:lpstr>微软雅黑</vt:lpstr>
      <vt:lpstr>-apple-system</vt:lpstr>
      <vt:lpstr>Arial</vt:lpstr>
      <vt:lpstr>JetBrains Mono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 z</dc:creator>
  <cp:lastModifiedBy>欢乐马</cp:lastModifiedBy>
  <cp:revision>41</cp:revision>
  <dcterms:created xsi:type="dcterms:W3CDTF">2023-08-09T12:44:00Z</dcterms:created>
  <dcterms:modified xsi:type="dcterms:W3CDTF">2025-07-25T14:08:07Z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713949A00A2C4A87884A15DB1633EED4_12</vt:lpwstr>
  </property>
</Properties>
</file>