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38120" y="2694940"/>
            <a:ext cx="6715125" cy="11912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Bef>
                <a:spcPts val="900"/>
              </a:spcBef>
            </a:pPr>
            <a:r>
              <a:rPr lang="zh-CN" altLang="en-US" sz="3200" b="0" i="0">
                <a:solidFill>
                  <a:srgbClr val="555555"/>
                </a:solidFill>
                <a:latin typeface="Helvetica Neue"/>
                <a:ea typeface="Helvetica Neue"/>
              </a:rPr>
              <a:t>从“正向推理”到“逆向溯源”：</a:t>
            </a:r>
            <a:endParaRPr lang="zh-CN" altLang="en-US" sz="3200" b="0" i="0">
              <a:solidFill>
                <a:srgbClr val="555555"/>
              </a:solidFill>
              <a:latin typeface="Helvetica Neue"/>
              <a:ea typeface="Helvetica Neue"/>
            </a:endParaRPr>
          </a:p>
          <a:p>
            <a:pPr marL="0" indent="0" algn="ctr">
              <a:spcBef>
                <a:spcPts val="900"/>
              </a:spcBef>
            </a:pPr>
            <a:r>
              <a:rPr lang="zh-CN" altLang="en-US" sz="3200" b="0" i="0">
                <a:solidFill>
                  <a:srgbClr val="555555"/>
                </a:solidFill>
                <a:latin typeface="Helvetica Neue"/>
                <a:ea typeface="Helvetica Neue"/>
              </a:rPr>
              <a:t>运动学逆解</a:t>
            </a:r>
            <a:r>
              <a:rPr lang="en-US" altLang="zh-CN" sz="3200" b="0" i="0">
                <a:solidFill>
                  <a:srgbClr val="555555"/>
                </a:solidFill>
                <a:latin typeface="Helvetica Neue"/>
                <a:ea typeface="Helvetica Neue"/>
              </a:rPr>
              <a:t>(IK)</a:t>
            </a:r>
            <a:r>
              <a:rPr lang="zh-CN" altLang="en-US" sz="3200" b="0" i="0">
                <a:solidFill>
                  <a:srgbClr val="555555"/>
                </a:solidFill>
                <a:latin typeface="Helvetica Neue"/>
                <a:ea typeface="Helvetica Neue"/>
              </a:rPr>
              <a:t>入门</a:t>
            </a:r>
            <a:endParaRPr lang="zh-CN" altLang="en-US" sz="3200" b="0" i="0">
              <a:solidFill>
                <a:srgbClr val="555555"/>
              </a:solidFill>
              <a:latin typeface="Helvetica Neue"/>
              <a:ea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35860" y="619760"/>
            <a:ext cx="7716520" cy="9988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ts val="1200"/>
              </a:spcAft>
            </a:pPr>
            <a:r>
              <a:rPr lang="zh-CN" altLang="en-US" sz="2300" b="1" i="0">
                <a:solidFill>
                  <a:srgbClr val="333333"/>
                </a:solidFill>
                <a:latin typeface="Helvetica Neue"/>
                <a:ea typeface="Helvetica Neue"/>
              </a:rPr>
              <a:t>回顾：运动学正解 </a:t>
            </a:r>
            <a:r>
              <a:rPr lang="en-US" altLang="zh-CN" sz="2300" b="1" i="0">
                <a:solidFill>
                  <a:srgbClr val="333333"/>
                </a:solidFill>
                <a:latin typeface="Helvetica Neue"/>
                <a:ea typeface="Helvetica Neue"/>
              </a:rPr>
              <a:t>(Forward Kinematics, FK)</a:t>
            </a:r>
            <a:endParaRPr lang="en-US" altLang="zh-CN" sz="2300" b="1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首先，我们简单回顾上一节课的核心内容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——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运动学正解。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35860" y="2165985"/>
            <a:ext cx="742315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我们解决了运动学正解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(FK)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问题：给定一组关节角度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en-US" altLang="zh-CN" sz="1600" b="1" i="1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q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，我们能唯一确定末端执行器的位姿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en-US" altLang="zh-CN" sz="1600" b="1" i="1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X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。这是一个确定性的、唯一的正向映射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en-US" altLang="zh-CN" sz="1600" b="1" i="1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X = f(q)</a:t>
            </a:r>
            <a:endParaRPr lang="en-US" altLang="zh-CN" sz="1600" b="1" i="1">
              <a:solidFill>
                <a:srgbClr val="D63384"/>
              </a:solidFill>
              <a:latin typeface="Courier New" panose="02070309020205020404"/>
              <a:ea typeface="Courier New" panose="020703090202050204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30475" y="3365500"/>
            <a:ext cx="7444740" cy="18840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输入 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(Input):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已知的关节角度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en-US" altLang="zh-CN" sz="1600" b="1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q = [q₁, q₂, ..., qₙ]</a:t>
            </a:r>
            <a:endParaRPr lang="en-US" altLang="zh-CN" sz="1600" b="1" i="0">
              <a:solidFill>
                <a:srgbClr val="D6338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过程 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(Process):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通过连杆几何关系和三角函数进行正向推导。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输出 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(Output):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唯一确定的末端执行器位姿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en-US" altLang="zh-CN" sz="1600" b="1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X = [x, y, z, α, β, γ]</a:t>
            </a:r>
            <a:endParaRPr lang="en-US" altLang="zh-CN" sz="1600" b="1" i="0">
              <a:solidFill>
                <a:srgbClr val="D6338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核心问题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: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“如果我的关节转到这个角度，我的手会到哪里？”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794703"/>
            <a:ext cx="5080000" cy="99885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ts val="1200"/>
              </a:spcAft>
            </a:pPr>
            <a:r>
              <a:rPr lang="zh-CN" altLang="en-US" sz="2300" b="1" i="0">
                <a:solidFill>
                  <a:srgbClr val="333333"/>
                </a:solidFill>
                <a:latin typeface="Helvetica Neue"/>
                <a:ea typeface="Helvetica Neue"/>
              </a:rPr>
              <a:t>实际挑战：从任务到执行</a:t>
            </a:r>
            <a:endParaRPr lang="zh-CN" altLang="en-US" sz="2300" b="1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但在绝大多数实际应用中，我们面临的场景是反过来的。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17395" y="2260600"/>
            <a:ext cx="886841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任务通常是：‘请让机器人手爪移动到桌面上坐标为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(x,y,z)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的位置，</a:t>
            </a:r>
            <a:endParaRPr lang="zh-CN" altLang="en-US" sz="1600" b="0" i="1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/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并保持垂直向下的姿态去抓取一个杯子’</a:t>
            </a:r>
            <a:endParaRPr lang="zh-CN" altLang="en-US" sz="1600" b="0" i="1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这里的逻辑发生了根本性的反转：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05175" y="3920173"/>
            <a:ext cx="5080000" cy="85280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输入 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(Input):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期望的任务空间位姿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en-US" altLang="zh-CN" sz="1600" b="1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X_desired</a:t>
            </a:r>
            <a:endParaRPr lang="en-US" altLang="zh-CN" sz="1600" b="1" i="0">
              <a:solidFill>
                <a:srgbClr val="D6338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需求 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(Need):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需要求解的机器人关节角度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en-US" altLang="zh-CN" sz="1600" b="1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q</a:t>
            </a:r>
            <a:endParaRPr lang="en-US" altLang="zh-CN" sz="1600" b="1" i="0">
              <a:solidFill>
                <a:srgbClr val="D63384"/>
              </a:solidFill>
              <a:latin typeface="Courier New" panose="02070309020205020404"/>
              <a:ea typeface="Courier New" panose="020703090202050204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95195" y="509619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这个‘逆向溯源’的过程，就是机器人学的另一半核心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——</a:t>
            </a:r>
            <a:r>
              <a:rPr lang="zh-CN" altLang="en-US" sz="1600" i="1">
                <a:solidFill>
                  <a:srgbClr val="333333"/>
                </a:solidFill>
                <a:latin typeface="Helvetica Neue"/>
                <a:ea typeface="Helvetica Neue"/>
              </a:rPr>
              <a:t>运动学逆解</a:t>
            </a:r>
            <a:r>
              <a:rPr lang="en-US" altLang="zh-CN" sz="1600" i="1">
                <a:solidFill>
                  <a:srgbClr val="333333"/>
                </a:solidFill>
                <a:latin typeface="Helvetica Neue"/>
                <a:ea typeface="Helvetica Neue"/>
              </a:rPr>
              <a:t>(Inverse Kinematics, IK)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。</a:t>
            </a:r>
            <a:endParaRPr lang="zh-CN" altLang="en-US" sz="1600" b="0" i="1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72180" y="653415"/>
            <a:ext cx="5080000" cy="207645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ts val="1200"/>
              </a:spcAft>
            </a:pPr>
            <a:r>
              <a:rPr lang="zh-CN" altLang="en-US" sz="2500" b="1" i="0">
                <a:solidFill>
                  <a:srgbClr val="333333"/>
                </a:solidFill>
                <a:latin typeface="Helvetica Neue"/>
                <a:ea typeface="Helvetica Neue"/>
              </a:rPr>
              <a:t>什么是运动学逆解？</a:t>
            </a:r>
            <a:endParaRPr lang="zh-CN" altLang="en-US" sz="2500" b="1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</a:pPr>
            <a:r>
              <a:rPr lang="zh-CN" altLang="en-US" sz="1700" b="0" i="0">
                <a:solidFill>
                  <a:srgbClr val="333333"/>
                </a:solidFill>
                <a:latin typeface="Helvetica Neue"/>
                <a:ea typeface="Helvetica Neue"/>
              </a:rPr>
              <a:t>定义：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   </a:t>
            </a:r>
            <a:endParaRPr lang="en-US" altLang="zh-CN" sz="1600" b="0" i="1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</a:pPr>
            <a:r>
              <a:rPr lang="zh-CN" altLang="en-US" sz="1700" b="0" i="0">
                <a:solidFill>
                  <a:srgbClr val="333333"/>
                </a:solidFill>
                <a:latin typeface="Helvetica Neue"/>
                <a:ea typeface="Helvetica Neue"/>
              </a:rPr>
              <a:t>简单来说，就是求解正向运动学函数的逆：</a:t>
            </a:r>
            <a:endParaRPr lang="zh-CN" altLang="en-US" sz="17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2500" b="1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q = f⁻¹(X_desired)</a:t>
            </a:r>
            <a:endParaRPr lang="en-US" altLang="zh-CN" sz="2500" b="1" i="0">
              <a:solidFill>
                <a:srgbClr val="D63384"/>
              </a:solidFill>
              <a:latin typeface="Courier New" panose="02070309020205020404"/>
              <a:ea typeface="Courier New" panose="02070309020205020404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853440" y="3355340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algn="l"/>
                      <a:r>
                        <a:rPr lang="zh-CN" altLang="en-US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对比项</a:t>
                      </a:r>
                      <a:endParaRPr lang="zh-CN" altLang="en-US" sz="2000" b="1" i="0">
                        <a:solidFill>
                          <a:srgbClr val="333333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正向运动学 </a:t>
                      </a:r>
                      <a:r>
                        <a:rPr lang="en-US" altLang="zh-CN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(FK)</a:t>
                      </a:r>
                      <a:endParaRPr lang="en-US" altLang="zh-CN" sz="2000" b="1" i="0">
                        <a:solidFill>
                          <a:srgbClr val="333333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逆向运动学 </a:t>
                      </a:r>
                      <a:r>
                        <a:rPr lang="en-US" altLang="zh-CN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(IK)</a:t>
                      </a:r>
                      <a:endParaRPr lang="en-US" altLang="zh-CN" sz="2000" b="1" i="0">
                        <a:solidFill>
                          <a:srgbClr val="333333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方向</a:t>
                      </a:r>
                      <a:endParaRPr lang="zh-CN" altLang="en-US" sz="2000" b="1" i="0">
                        <a:solidFill>
                          <a:srgbClr val="333333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关节空间 </a:t>
                      </a:r>
                      <a:r>
                        <a:rPr lang="en-US" altLang="zh-CN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→ </a:t>
                      </a:r>
                      <a:r>
                        <a:rPr lang="zh-CN" altLang="en-US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任务空间</a:t>
                      </a:r>
                      <a:endParaRPr lang="zh-CN" altLang="en-US" sz="2000" b="1" i="0">
                        <a:solidFill>
                          <a:srgbClr val="333333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任务空间 </a:t>
                      </a:r>
                      <a:r>
                        <a:rPr lang="en-US" altLang="zh-CN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→ </a:t>
                      </a:r>
                      <a:r>
                        <a:rPr lang="zh-CN" altLang="en-US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关节空间</a:t>
                      </a:r>
                      <a:endParaRPr lang="zh-CN" altLang="en-US" sz="2000" b="1" i="0">
                        <a:solidFill>
                          <a:srgbClr val="333333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求解问题</a:t>
                      </a:r>
                      <a:endParaRPr lang="zh-CN" altLang="en-US" sz="2000" b="1" i="0">
                        <a:solidFill>
                          <a:srgbClr val="333333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“手在哪里？”</a:t>
                      </a:r>
                      <a:endParaRPr lang="zh-CN" altLang="en-US" sz="2000" b="1" i="0">
                        <a:solidFill>
                          <a:srgbClr val="333333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“关节如何动才能让手到那里？”</a:t>
                      </a:r>
                      <a:endParaRPr lang="zh-CN" altLang="en-US" sz="2000" b="1" i="0">
                        <a:solidFill>
                          <a:srgbClr val="333333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解的性质</a:t>
                      </a:r>
                      <a:endParaRPr lang="zh-CN" altLang="en-US" sz="2000" b="1" i="0">
                        <a:solidFill>
                          <a:srgbClr val="333333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唯一解，确定性</a:t>
                      </a:r>
                      <a:endParaRPr lang="zh-CN" altLang="en-US" sz="2000" b="1" i="0">
                        <a:solidFill>
                          <a:srgbClr val="333333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可能无解、单解或多解</a:t>
                      </a:r>
                      <a:endParaRPr lang="zh-CN" altLang="en-US" sz="2000" b="1" i="0">
                        <a:solidFill>
                          <a:srgbClr val="333333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190875" y="757555"/>
            <a:ext cx="5768975" cy="14605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ts val="1200"/>
              </a:spcAft>
            </a:pPr>
            <a:r>
              <a:rPr lang="en-US" altLang="zh-CN" sz="2500" b="1" i="0">
                <a:solidFill>
                  <a:srgbClr val="333333"/>
                </a:solidFill>
                <a:latin typeface="Helvetica Neue"/>
                <a:ea typeface="Helvetica Neue"/>
              </a:rPr>
              <a:t>IK</a:t>
            </a:r>
            <a:r>
              <a:rPr lang="zh-CN" altLang="en-US" sz="2500" b="1" i="0">
                <a:solidFill>
                  <a:srgbClr val="333333"/>
                </a:solidFill>
                <a:latin typeface="Helvetica Neue"/>
                <a:ea typeface="Helvetica Neue"/>
              </a:rPr>
              <a:t>的挑战性</a:t>
            </a:r>
            <a:endParaRPr lang="zh-CN" altLang="en-US" sz="2500" b="1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</a:pPr>
            <a:r>
              <a:rPr lang="zh-CN" altLang="en-US" sz="1700" b="0" i="0">
                <a:solidFill>
                  <a:srgbClr val="333333"/>
                </a:solidFill>
                <a:latin typeface="Helvetica Neue"/>
                <a:ea typeface="Helvetica Neue"/>
              </a:rPr>
              <a:t>听起来</a:t>
            </a:r>
            <a:r>
              <a:rPr lang="en-US" altLang="zh-CN" sz="1700" b="0" i="0">
                <a:solidFill>
                  <a:srgbClr val="333333"/>
                </a:solidFill>
                <a:latin typeface="Helvetica Neue"/>
                <a:ea typeface="Helvetica Neue"/>
              </a:rPr>
              <a:t>IK</a:t>
            </a:r>
            <a:r>
              <a:rPr lang="zh-CN" altLang="en-US" sz="1700" b="0" i="0">
                <a:solidFill>
                  <a:srgbClr val="333333"/>
                </a:solidFill>
                <a:latin typeface="Helvetica Neue"/>
                <a:ea typeface="Helvetica Neue"/>
              </a:rPr>
              <a:t>只是</a:t>
            </a:r>
            <a:r>
              <a:rPr lang="en-US" altLang="zh-CN" sz="1700" b="0" i="0">
                <a:solidFill>
                  <a:srgbClr val="333333"/>
                </a:solidFill>
                <a:latin typeface="Helvetica Neue"/>
                <a:ea typeface="Helvetica Neue"/>
              </a:rPr>
              <a:t>FK</a:t>
            </a:r>
            <a:r>
              <a:rPr lang="zh-CN" altLang="en-US" sz="1700" b="0" i="0">
                <a:solidFill>
                  <a:srgbClr val="333333"/>
                </a:solidFill>
                <a:latin typeface="Helvetica Neue"/>
                <a:ea typeface="Helvetica Neue"/>
              </a:rPr>
              <a:t>的逆运算，但实际情况要复杂得多。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   </a:t>
            </a:r>
            <a:endParaRPr lang="en-US" altLang="zh-CN" sz="1600" b="0" i="1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</a:pPr>
            <a:r>
              <a:rPr lang="zh-CN" altLang="en-US" sz="1700" b="0" i="0">
                <a:solidFill>
                  <a:srgbClr val="333333"/>
                </a:solidFill>
                <a:latin typeface="Helvetica Neue"/>
                <a:ea typeface="Helvetica Neue"/>
              </a:rPr>
              <a:t>这决定了</a:t>
            </a:r>
            <a:r>
              <a:rPr lang="en-US" altLang="zh-CN" sz="1700" b="0" i="0">
                <a:solidFill>
                  <a:srgbClr val="333333"/>
                </a:solidFill>
                <a:latin typeface="Helvetica Neue"/>
                <a:ea typeface="Helvetica Neue"/>
              </a:rPr>
              <a:t>IK</a:t>
            </a:r>
            <a:r>
              <a:rPr lang="zh-CN" altLang="en-US" sz="1700" b="0" i="0">
                <a:solidFill>
                  <a:srgbClr val="333333"/>
                </a:solidFill>
                <a:latin typeface="Helvetica Neue"/>
                <a:ea typeface="Helvetica Neue"/>
              </a:rPr>
              <a:t>问题的求解充满了挑战，主要体现在：</a:t>
            </a:r>
            <a:endParaRPr lang="zh-CN" altLang="en-US" sz="17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17190" y="2486025"/>
            <a:ext cx="6376670" cy="26225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非线性 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(Non-linearity):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方程复杂，没有通用的解析解法。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解的存在性 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(Existence):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目标位姿可能超出机器人可达范围（工作空间），导致无解。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解的多样性 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(Multiplicity):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同一目标位姿可能存在多组解（如“抬肘”与“垂肘”构型）。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奇异性 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(Singularity):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在某些特定构型下，机器人会丧失自由度，导致解算困难。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90875" y="5628005"/>
            <a:ext cx="600075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IK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的求解不仅是科学计算，更是一门充满技巧与权衡的艺术。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6899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1200"/>
              </a:spcAft>
            </a:pPr>
            <a:r>
              <a:rPr lang="zh-CN" altLang="en-US" sz="1600" b="1" i="0">
                <a:solidFill>
                  <a:srgbClr val="333333"/>
                </a:solidFill>
                <a:latin typeface="Helvetica Neue"/>
                <a:ea typeface="Helvetica Neue"/>
              </a:rPr>
              <a:t>挑战一：多解性 </a:t>
            </a:r>
            <a:r>
              <a:rPr lang="en-US" altLang="zh-CN" sz="1600" b="1" i="0">
                <a:solidFill>
                  <a:srgbClr val="333333"/>
                </a:solidFill>
                <a:latin typeface="Helvetica Neue"/>
                <a:ea typeface="Helvetica Neue"/>
              </a:rPr>
              <a:t>(Multiple Solutions)</a:t>
            </a:r>
            <a:endParaRPr lang="en-US" altLang="zh-CN" sz="1600" b="1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80665" y="1303655"/>
            <a:ext cx="6153150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i="0">
                <a:solidFill>
                  <a:srgbClr val="D63384"/>
                </a:solidFill>
                <a:latin typeface="Helvetica Neue"/>
                <a:ea typeface="Helvetica Neue"/>
              </a:rPr>
              <a:t>现场互动</a:t>
            </a:r>
            <a:r>
              <a:rPr lang="en-US" altLang="zh-CN" sz="160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endParaRPr lang="en-US" altLang="zh-CN" sz="1600" i="0">
              <a:solidFill>
                <a:srgbClr val="D63384"/>
              </a:solidFill>
              <a:latin typeface="Helvetica Neue"/>
              <a:ea typeface="Helvetica Neue"/>
            </a:endParaRPr>
          </a:p>
          <a:p>
            <a:pPr marL="0" indent="0"/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“请大家伸出自己的胳膊，尝试用指尖触摸头顶正上方的一个点。您可以怎么做？”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80665" y="2545715"/>
            <a:ext cx="8234045" cy="13684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“你可以</a:t>
            </a: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‘高手肘’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（手肘抬得很高）的方式够到。” 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(Elbow Up)</a:t>
            </a:r>
            <a:endParaRPr lang="en-US" altLang="zh-CN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“你也可以</a:t>
            </a: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‘低手肘’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（手肘放得很低）的方式够到。” 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(Elbow Down)</a:t>
            </a:r>
            <a:endParaRPr lang="en-US" altLang="zh-CN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“你甚至可以从身后绕过来够到（如果柔韧性好的话）。”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56000" y="4724718"/>
            <a:ext cx="5080000" cy="73723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同一个目标，多种实现路径。这就是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IK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的</a:t>
            </a: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多解性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</a:pP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721360"/>
            <a:ext cx="5080000" cy="106045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1200"/>
              </a:spcAft>
            </a:pPr>
            <a:r>
              <a:rPr lang="zh-CN" altLang="en-US" sz="2700" b="1" i="0">
                <a:solidFill>
                  <a:srgbClr val="333333"/>
                </a:solidFill>
                <a:latin typeface="Helvetica Neue"/>
                <a:ea typeface="Helvetica Neue"/>
              </a:rPr>
              <a:t>多解性：几何解释</a:t>
            </a:r>
            <a:endParaRPr lang="zh-CN" altLang="en-US" sz="2700" b="1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我们用一个简化的二连杆平面臂来理解这个现象。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2005965"/>
            <a:ext cx="5080000" cy="284607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模型</a:t>
            </a:r>
            <a:r>
              <a:rPr lang="en-US" altLang="zh-CN" sz="1600" b="0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臂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1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长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L1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，臂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2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长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L2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，基座在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O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点，目标点为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P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求解思路</a:t>
            </a:r>
            <a:r>
              <a:rPr lang="en-US" altLang="zh-CN" sz="1600" b="0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:</a:t>
            </a:r>
            <a:endParaRPr lang="en-US" altLang="zh-CN" sz="1600" b="0" i="0">
              <a:solidFill>
                <a:srgbClr val="D6338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>
              <a:spcAft>
                <a:spcPts val="900"/>
              </a:spcAft>
              <a:buAutoNum type="arabicPeriod"/>
            </a:pP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以基座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 </a:t>
            </a:r>
            <a:r>
              <a:rPr lang="en-US" altLang="zh-CN" sz="1600" b="0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O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为圆心，以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 </a:t>
            </a:r>
            <a:r>
              <a:rPr lang="en-US" altLang="zh-CN" sz="1600" b="0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L1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为半径画圆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C1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。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(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肘关节的可能轨迹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>
              <a:spcAft>
                <a:spcPts val="900"/>
              </a:spcAft>
              <a:buAutoNum type="arabicPeriod"/>
            </a:pP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以目标点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 </a:t>
            </a:r>
            <a:r>
              <a:rPr lang="en-US" altLang="zh-CN" sz="1600" b="0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P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为圆心，以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 </a:t>
            </a:r>
            <a:r>
              <a:rPr lang="en-US" altLang="zh-CN" sz="1600" b="0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L2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为半径画圆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C2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。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(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肘关节相对手爪的位置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结论</a:t>
            </a:r>
            <a:r>
              <a:rPr lang="en-US" altLang="zh-CN" sz="1600" b="0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“这两个圆的交点，就是我们的肘关节可能的位置。通常情况下，会有</a:t>
            </a:r>
            <a:r>
              <a:rPr lang="zh-CN" altLang="en-US" sz="1600" b="0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两个交点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（除非在边界上），分别对应‘高手肘’和‘低手肘’两种构型。”</a:t>
            </a:r>
            <a:endParaRPr lang="zh-CN" altLang="en-US" sz="1600" b="0" i="0">
              <a:solidFill>
                <a:srgbClr val="333333"/>
              </a:solidFill>
              <a:latin typeface="Courier New" panose="02070309020205020404"/>
              <a:ea typeface="Courier New" panose="020703090202050204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5199062"/>
            <a:ext cx="5080000" cy="138366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每个交点都对应一组有效的关节角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(q₁, q₂)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，因此产生多解。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  </a:t>
            </a:r>
            <a:endParaRPr lang="en-US" altLang="zh-CN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传智教育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dogleg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模拟器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</a:pP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741680"/>
            <a:ext cx="5080000" cy="250698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500"/>
              </a:spcBef>
              <a:spcAft>
                <a:spcPts val="600"/>
              </a:spcAft>
            </a:pPr>
            <a:r>
              <a:rPr lang="zh-CN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扩展到高维空间</a:t>
            </a:r>
            <a:endParaRPr lang="zh-CN" altLang="en-US" sz="1700" b="1" i="0">
              <a:solidFill>
                <a:srgbClr val="0056B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多出来的自由度（冗余自由度）可以形成一个连续的解空间。我们可以利用这个特性来：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主动避开路径上的障碍物。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优化机器人的能耗或运动平顺性。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避免奇异位形（稍后会讲）。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50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Helvetica Neue"/>
                <a:ea typeface="Helvetica Neue"/>
              </a:rPr>
              <a:t>工程意义</a:t>
            </a:r>
            <a:endParaRPr lang="zh-CN" altLang="en-US" sz="1600" b="1" i="0">
              <a:solidFill>
                <a:srgbClr val="0056B3"/>
              </a:solidFill>
              <a:latin typeface="Helvetica Neue"/>
              <a:ea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441166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“多解性既是</a:t>
            </a:r>
            <a:r>
              <a:rPr lang="zh-CN" altLang="en-US" sz="1600" i="1">
                <a:solidFill>
                  <a:srgbClr val="D63384"/>
                </a:solidFill>
                <a:latin typeface="Helvetica Neue"/>
                <a:ea typeface="Helvetica Neue"/>
              </a:rPr>
              <a:t>挑战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（我该选哪个解？），也是</a:t>
            </a:r>
            <a:r>
              <a:rPr lang="zh-CN" altLang="en-US" sz="1600" i="1">
                <a:solidFill>
                  <a:srgbClr val="D63384"/>
                </a:solidFill>
                <a:latin typeface="Helvetica Neue"/>
                <a:ea typeface="Helvetica Neue"/>
              </a:rPr>
              <a:t>机遇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（我可以根据某些优化准则选择最优解）。”</a:t>
            </a:r>
            <a:endParaRPr lang="zh-CN" altLang="en-US" sz="1600" b="0" i="1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87090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1200"/>
              </a:spcAft>
            </a:pPr>
            <a:r>
              <a:rPr lang="zh-CN" altLang="en-US" sz="1600" b="1" i="0">
                <a:solidFill>
                  <a:srgbClr val="333333"/>
                </a:solidFill>
                <a:latin typeface="Helvetica Neue"/>
                <a:ea typeface="Helvetica Neue"/>
              </a:rPr>
              <a:t>挑战二：无解性 </a:t>
            </a:r>
            <a:r>
              <a:rPr lang="en-US" altLang="zh-CN" sz="1600" b="1" i="0">
                <a:solidFill>
                  <a:srgbClr val="333333"/>
                </a:solidFill>
                <a:latin typeface="Helvetica Neue"/>
                <a:ea typeface="Helvetica Neue"/>
              </a:rPr>
              <a:t>(No Solution)</a:t>
            </a:r>
            <a:endParaRPr lang="en-US" altLang="zh-CN" sz="1600" b="1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175037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i="0">
                <a:solidFill>
                  <a:srgbClr val="D63384"/>
                </a:solidFill>
                <a:latin typeface="Helvetica Neue"/>
                <a:ea typeface="Helvetica Neue"/>
              </a:rPr>
              <a:t>思想实验</a:t>
            </a:r>
            <a:r>
              <a:rPr lang="en-US" altLang="zh-CN" sz="160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endParaRPr lang="en-US" altLang="zh-CN" sz="1600" i="0">
              <a:solidFill>
                <a:srgbClr val="D63384"/>
              </a:solidFill>
              <a:latin typeface="Helvetica Neue"/>
              <a:ea typeface="Helvetica Neue"/>
            </a:endParaRPr>
          </a:p>
          <a:p>
            <a:pPr marL="0" indent="0"/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“现在，请大家尝试用指尖触摸背后离你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2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米远的一个点。你做得到吗？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——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当然做不到。”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19500" y="2922588"/>
            <a:ext cx="5080000" cy="73723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这就是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IK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的</a:t>
            </a: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无解性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：有些目标，物理上就是无法达到。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我们首先需要定义一个概念：</a:t>
            </a: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工作空间 </a:t>
            </a:r>
            <a:r>
              <a:rPr lang="en-US" altLang="zh-CN" sz="1600" b="0" i="0">
                <a:solidFill>
                  <a:srgbClr val="D63384"/>
                </a:solidFill>
                <a:latin typeface="Helvetica Neue"/>
                <a:ea typeface="Helvetica Neue"/>
              </a:rPr>
              <a:t>(Workspace)</a:t>
            </a:r>
            <a:endParaRPr lang="en-US" altLang="zh-CN" sz="1600" b="0" i="0">
              <a:solidFill>
                <a:srgbClr val="D63384"/>
              </a:solidFill>
              <a:latin typeface="Helvetica Neue"/>
              <a:ea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19500" y="466629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一个机器人末端能到达的所有点的集合。如果目标点在工作空间之外，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IK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必然无解。</a:t>
            </a:r>
            <a:endParaRPr lang="zh-CN" altLang="en-US" sz="1600" b="0" i="1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14395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50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Helvetica Neue"/>
                <a:ea typeface="Helvetica Neue"/>
              </a:rPr>
              <a:t>情况一：工作空间边界之外</a:t>
            </a:r>
            <a:endParaRPr lang="zh-CN" altLang="en-US" sz="1600" b="1" i="0">
              <a:solidFill>
                <a:srgbClr val="0056B3"/>
              </a:solidFill>
              <a:latin typeface="Helvetica Neue"/>
              <a:ea typeface="Helvetica Neue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83890" y="4848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50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Helvetica Neue"/>
                <a:ea typeface="Helvetica Neue"/>
              </a:rPr>
              <a:t>几何学原理</a:t>
            </a:r>
            <a:r>
              <a:rPr lang="zh-CN" altLang="en-US" sz="1600" b="1" i="0">
                <a:solidFill>
                  <a:srgbClr val="0056B3"/>
                </a:solidFill>
                <a:latin typeface="Helvetica Neue"/>
                <a:ea typeface="Helvetica Neue"/>
              </a:rPr>
              <a:t>解释</a:t>
            </a:r>
            <a:endParaRPr lang="zh-CN" altLang="en-US" sz="1600" b="1" i="0">
              <a:solidFill>
                <a:srgbClr val="0056B3"/>
              </a:solidFill>
              <a:latin typeface="Helvetica Neue"/>
              <a:ea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83890" y="172878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“如果目标点离基座的距离，大于所有连杆长度之和（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L1+L2+...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），那么机器人‘胳膊不够长’，物理上无法到达。”</a:t>
            </a:r>
            <a:endParaRPr lang="zh-CN" altLang="en-US" sz="1600" b="0" i="1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11525" y="255873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几何对应</a:t>
            </a:r>
            <a:r>
              <a:rPr lang="en-US" altLang="zh-CN" sz="1600" b="0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我们之前画的两个圆（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C1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和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C2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）</a:t>
            </a:r>
            <a:r>
              <a:rPr lang="zh-CN" altLang="en-US" sz="1600" b="0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没有交点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，因为它们相距太远。</a:t>
            </a:r>
            <a:endParaRPr lang="zh-CN" altLang="en-US" sz="1600" b="0" i="0">
              <a:solidFill>
                <a:srgbClr val="333333"/>
              </a:solidFill>
              <a:latin typeface="Courier New" panose="02070309020205020404"/>
              <a:ea typeface="Courier New" panose="020703090202050204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56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50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Helvetica Neue"/>
                <a:ea typeface="Helvetica Neue"/>
              </a:rPr>
              <a:t>情况二：工作空间内部的“空洞”</a:t>
            </a:r>
            <a:endParaRPr lang="zh-CN" altLang="en-US" sz="1600" b="1" i="0">
              <a:solidFill>
                <a:srgbClr val="0056B3"/>
              </a:solidFill>
              <a:latin typeface="Helvetica Neue"/>
              <a:ea typeface="Helvetica Neue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472180" y="3848100"/>
            <a:ext cx="45345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600" i="1">
                <a:solidFill>
                  <a:srgbClr val="333333"/>
                </a:solidFill>
                <a:latin typeface="Helvetica Neue"/>
                <a:ea typeface="Helvetica Neue"/>
              </a:rPr>
              <a:t>“如果机器人臂长L1远大于L2，当它完全伸直再往回折叠时，基座附近会有一个它无法触及的‘空洞’区域。”</a:t>
            </a:r>
            <a:endParaRPr lang="zh-CN" altLang="en-US" sz="1600" i="1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72180" y="4878387"/>
            <a:ext cx="5080000" cy="98361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几何对应</a:t>
            </a:r>
            <a:r>
              <a:rPr lang="en-US" altLang="zh-CN" sz="1600" b="0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两个圆一个完全包含在另一个内部，同样</a:t>
            </a:r>
            <a:r>
              <a:rPr lang="zh-CN" altLang="en-US" sz="1600" b="0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没有交点</a:t>
            </a:r>
            <a:r>
              <a:rPr lang="zh-CN" altLang="en-US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>
              <a:spcBef>
                <a:spcPts val="1200"/>
              </a:spcBef>
            </a:pPr>
            <a:endParaRPr lang="zh-CN" altLang="en-US" sz="1600" b="0" i="0">
              <a:solidFill>
                <a:srgbClr val="333333"/>
              </a:solidFill>
              <a:latin typeface="Courier New" panose="02070309020205020404"/>
              <a:ea typeface="Courier New" panose="020703090202050204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96615" y="88106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1200"/>
              </a:spcAft>
            </a:pPr>
            <a:r>
              <a:rPr lang="zh-CN" altLang="en-US" sz="1600" b="1" i="0">
                <a:solidFill>
                  <a:srgbClr val="333333"/>
                </a:solidFill>
                <a:latin typeface="Helvetica Neue"/>
                <a:ea typeface="Helvetica Neue"/>
              </a:rPr>
              <a:t>挑战三：奇异性 </a:t>
            </a:r>
            <a:r>
              <a:rPr lang="en-US" altLang="zh-CN" sz="1600" b="1" i="0">
                <a:solidFill>
                  <a:srgbClr val="333333"/>
                </a:solidFill>
                <a:latin typeface="Helvetica Neue"/>
                <a:ea typeface="Helvetica Neue"/>
              </a:rPr>
              <a:t>(Singularity)</a:t>
            </a:r>
            <a:endParaRPr lang="en-US" altLang="zh-CN" sz="1600" b="1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70910" y="199421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“这是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IK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问题中最微妙也最危险的一个挑战。奇异位形是指机器人在某些特殊姿态下，会</a:t>
            </a:r>
            <a:r>
              <a:rPr lang="zh-CN" altLang="en-US" sz="1600" i="1">
                <a:solidFill>
                  <a:srgbClr val="D63384"/>
                </a:solidFill>
                <a:latin typeface="Helvetica Neue"/>
                <a:ea typeface="Helvetica Neue"/>
              </a:rPr>
              <a:t>‘丢失’一个或多个自由度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。”</a:t>
            </a:r>
            <a:endParaRPr lang="zh-CN" altLang="en-US" sz="1600" b="0" i="1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70910" y="3319462"/>
            <a:ext cx="5080000" cy="98361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在这种姿态下，机器人末端在某个方向上的运动能力瞬间消失了。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</a:pP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64738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1200"/>
              </a:spcAft>
            </a:pPr>
            <a:r>
              <a:rPr lang="zh-CN" altLang="en-US" sz="1600" b="1" i="0">
                <a:solidFill>
                  <a:srgbClr val="333333"/>
                </a:solidFill>
                <a:latin typeface="Helvetica Neue"/>
                <a:ea typeface="Helvetica Neue"/>
              </a:rPr>
              <a:t>奇异性：直观例子</a:t>
            </a:r>
            <a:endParaRPr lang="zh-CN" altLang="en-US" sz="1600" b="1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67430" y="112553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50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Helvetica Neue"/>
                <a:ea typeface="Helvetica Neue"/>
              </a:rPr>
              <a:t>手臂完全伸直</a:t>
            </a:r>
            <a:endParaRPr lang="zh-CN" altLang="en-US" sz="1600" b="1" i="0">
              <a:solidFill>
                <a:srgbClr val="0056B3"/>
              </a:solidFill>
              <a:latin typeface="Helvetica Neue"/>
              <a:ea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67430" y="1603693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“当你的大臂和小臂完全伸直成一条直线时，无论你怎么转动肩膀、手腕，你的手都无法再沿着臂展方向‘伸长’哪怕一毫米。在这一瞬间，你</a:t>
            </a:r>
            <a:r>
              <a:rPr lang="zh-CN" altLang="en-US" sz="1600" i="1">
                <a:solidFill>
                  <a:srgbClr val="D63384"/>
                </a:solidFill>
                <a:latin typeface="Helvetica Neue"/>
                <a:ea typeface="Helvetica Neue"/>
              </a:rPr>
              <a:t>沿着这个方向的运动能力消失了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。”</a:t>
            </a:r>
            <a:endParaRPr lang="zh-CN" altLang="en-US" sz="1600" b="0" i="1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56000" y="268001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这是“边界奇异”，发生在工作空间的边界上。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67430" y="3299460"/>
            <a:ext cx="478980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“</a:t>
            </a:r>
            <a:r>
              <a:rPr lang="zh-CN" altLang="en-US"/>
              <a:t>从数学上讲，奇异点是机器人雅可比矩阵</a:t>
            </a:r>
            <a:r>
              <a:rPr lang="en-US" altLang="zh-CN"/>
              <a:t>(Jacobian Matrix)</a:t>
            </a:r>
            <a:r>
              <a:rPr lang="zh-CN" altLang="en-US"/>
              <a:t>的秩下降的点。雅可比矩阵描述了关节速度到末端速度的映射关系。在该点，这个映射关系不可逆。</a:t>
            </a:r>
            <a:r>
              <a:rPr lang="en-US" altLang="zh-CN"/>
              <a:t>”</a:t>
            </a:r>
            <a:endParaRPr lang="en-US" altLang="zh-CN"/>
          </a:p>
          <a:p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3567430" y="48428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50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rgbClr val="0056B3"/>
                </a:solidFill>
                <a:latin typeface="Helvetica Neue"/>
                <a:ea typeface="Helvetica Neue"/>
              </a:rPr>
              <a:t>工程危害</a:t>
            </a:r>
            <a:endParaRPr lang="zh-CN" altLang="en-US" sz="1600" b="1" i="0">
              <a:solidFill>
                <a:srgbClr val="0056B3"/>
              </a:solidFill>
              <a:latin typeface="Helvetica Neue"/>
              <a:ea typeface="Helvetica Neue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67430" y="5366385"/>
            <a:ext cx="466280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“</a:t>
            </a:r>
            <a:r>
              <a:rPr lang="zh-CN" altLang="en-US"/>
              <a:t>在奇异点附近，为了实现末端微小的运动，可能需要关节产生极大的、甚至无穷大的速度，这会对电机和控制器造成巨大冲击，导致机器人剧烈抖动或失控。</a:t>
            </a:r>
            <a:r>
              <a:rPr lang="en-US" altLang="zh-CN"/>
              <a:t>”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791460" y="1009650"/>
            <a:ext cx="7298690" cy="40386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1200"/>
              </a:spcAft>
            </a:pPr>
            <a:r>
              <a:rPr lang="zh-CN" altLang="en-US" sz="2500" b="1" i="0">
                <a:solidFill>
                  <a:srgbClr val="333333"/>
                </a:solidFill>
                <a:latin typeface="Helvetica Neue"/>
                <a:ea typeface="Helvetica Neue"/>
              </a:rPr>
              <a:t>本节小结</a:t>
            </a:r>
            <a:endParaRPr lang="zh-CN" altLang="en-US" sz="2500" b="1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 algn="ctr">
              <a:spcBef>
                <a:spcPts val="1200"/>
              </a:spcBef>
            </a:pPr>
            <a:r>
              <a:rPr lang="zh-CN" altLang="en-US" sz="1900" b="0" i="0">
                <a:solidFill>
                  <a:srgbClr val="333333"/>
                </a:solidFill>
                <a:latin typeface="Helvetica Neue"/>
                <a:ea typeface="Helvetica Neue"/>
              </a:rPr>
              <a:t>我们探讨了</a:t>
            </a:r>
            <a:r>
              <a:rPr lang="en-US" altLang="zh-CN" sz="1900" b="0" i="0">
                <a:solidFill>
                  <a:srgbClr val="333333"/>
                </a:solidFill>
                <a:latin typeface="Helvetica Neue"/>
                <a:ea typeface="Helvetica Neue"/>
              </a:rPr>
              <a:t>IK</a:t>
            </a:r>
            <a:r>
              <a:rPr lang="zh-CN" altLang="en-US" sz="1900" b="0" i="0">
                <a:solidFill>
                  <a:srgbClr val="333333"/>
                </a:solidFill>
                <a:latin typeface="Helvetica Neue"/>
                <a:ea typeface="Helvetica Neue"/>
              </a:rPr>
              <a:t>的三大核心挑战：</a:t>
            </a:r>
            <a:endParaRPr lang="zh-CN" altLang="en-US" sz="19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 algn="l">
              <a:spcBef>
                <a:spcPts val="2400"/>
              </a:spcBef>
              <a:spcAft>
                <a:spcPts val="1500"/>
              </a:spcAft>
              <a:buFont typeface="Arial" panose="020B0604020202020204"/>
              <a:buChar char="•"/>
            </a:pPr>
            <a:r>
              <a:rPr lang="zh-CN" altLang="en-US" b="0" i="0">
                <a:solidFill>
                  <a:srgbClr val="D63384"/>
                </a:solidFill>
                <a:latin typeface="Helvetica Neue"/>
                <a:ea typeface="Helvetica Neue"/>
              </a:rPr>
              <a:t>多解性</a:t>
            </a:r>
            <a:r>
              <a:rPr lang="en-US" altLang="zh-CN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r>
              <a:rPr lang="en-US" altLang="zh-CN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b="0" i="0">
                <a:solidFill>
                  <a:srgbClr val="333333"/>
                </a:solidFill>
                <a:latin typeface="Helvetica Neue"/>
                <a:ea typeface="Helvetica Neue"/>
              </a:rPr>
              <a:t>同一目标，多种姿态，是挑战也是机遇。</a:t>
            </a:r>
            <a:endParaRPr lang="zh-CN" altLang="en-US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 algn="l">
              <a:spcBef>
                <a:spcPts val="2400"/>
              </a:spcBef>
              <a:spcAft>
                <a:spcPts val="1500"/>
              </a:spcAft>
              <a:buFont typeface="Arial" panose="020B0604020202020204"/>
              <a:buChar char="•"/>
            </a:pPr>
            <a:r>
              <a:rPr lang="zh-CN" altLang="en-US" b="0" i="0">
                <a:solidFill>
                  <a:srgbClr val="D63384"/>
                </a:solidFill>
                <a:latin typeface="Helvetica Neue"/>
                <a:ea typeface="Helvetica Neue"/>
              </a:rPr>
              <a:t>无解性</a:t>
            </a:r>
            <a:r>
              <a:rPr lang="en-US" altLang="zh-CN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r>
              <a:rPr lang="en-US" altLang="zh-CN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b="0" i="0">
                <a:solidFill>
                  <a:srgbClr val="333333"/>
                </a:solidFill>
                <a:latin typeface="Helvetica Neue"/>
                <a:ea typeface="Helvetica Neue"/>
              </a:rPr>
              <a:t>目标须在工作空间内，否则“鞭长莫及”。</a:t>
            </a:r>
            <a:endParaRPr lang="zh-CN" altLang="en-US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 algn="l">
              <a:spcBef>
                <a:spcPts val="2400"/>
              </a:spcBef>
              <a:spcAft>
                <a:spcPts val="1500"/>
              </a:spcAft>
              <a:buFont typeface="Arial" panose="020B0604020202020204"/>
              <a:buChar char="•"/>
            </a:pPr>
            <a:r>
              <a:rPr lang="zh-CN" altLang="en-US" b="0" i="0">
                <a:solidFill>
                  <a:srgbClr val="D63384"/>
                </a:solidFill>
                <a:latin typeface="Helvetica Neue"/>
                <a:ea typeface="Helvetica Neue"/>
              </a:rPr>
              <a:t>奇异性</a:t>
            </a:r>
            <a:r>
              <a:rPr lang="en-US" altLang="zh-CN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r>
              <a:rPr lang="en-US" altLang="zh-CN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b="0" i="0">
                <a:solidFill>
                  <a:srgbClr val="333333"/>
                </a:solidFill>
                <a:latin typeface="Helvetica Neue"/>
                <a:ea typeface="Helvetica Neue"/>
              </a:rPr>
              <a:t>特定位形丢失自由度，危险且需主动规避。</a:t>
            </a:r>
            <a:endParaRPr lang="zh-CN" altLang="en-US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 algn="ctr">
              <a:spcBef>
                <a:spcPts val="30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理解这些挑战，是设计和实现稳定、高效的机器人运动控制算法的基石。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827405"/>
            <a:ext cx="5080000" cy="80645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zh-CN" altLang="en-US" sz="2300" b="1" i="0">
                <a:solidFill>
                  <a:srgbClr val="0056B3"/>
                </a:solidFill>
                <a:latin typeface="Helvetica Neue"/>
                <a:ea typeface="Helvetica Neue"/>
              </a:rPr>
              <a:t>两大求解思想</a:t>
            </a:r>
            <a:endParaRPr lang="zh-CN" altLang="en-US" sz="2300" b="1" i="0">
              <a:solidFill>
                <a:srgbClr val="0056B3"/>
              </a:solidFill>
              <a:latin typeface="Helvetica Neue"/>
              <a:ea typeface="Helvetica Neue"/>
            </a:endParaRPr>
          </a:p>
          <a:p>
            <a:pPr marL="0" indent="0" algn="ctr">
              <a:spcBef>
                <a:spcPts val="900"/>
              </a:spcBef>
            </a:pPr>
            <a:r>
              <a:rPr lang="zh-CN" altLang="en-US" sz="1600" b="0" i="0">
                <a:solidFill>
                  <a:srgbClr val="555555"/>
                </a:solidFill>
                <a:latin typeface="Helvetica Neue"/>
                <a:ea typeface="Helvetica Neue"/>
              </a:rPr>
              <a:t>解析法 </a:t>
            </a:r>
            <a:r>
              <a:rPr lang="en-US" altLang="zh-CN" sz="1600" b="0" i="0">
                <a:solidFill>
                  <a:srgbClr val="555555"/>
                </a:solidFill>
                <a:latin typeface="Helvetica Neue"/>
                <a:ea typeface="Helvetica Neue"/>
              </a:rPr>
              <a:t>vs. </a:t>
            </a:r>
            <a:r>
              <a:rPr lang="zh-CN" altLang="en-US" sz="1600" b="0" i="0">
                <a:solidFill>
                  <a:srgbClr val="555555"/>
                </a:solidFill>
                <a:latin typeface="Helvetica Neue"/>
                <a:ea typeface="Helvetica Neue"/>
              </a:rPr>
              <a:t>数值法</a:t>
            </a:r>
            <a:endParaRPr lang="zh-CN" altLang="en-US" sz="1600" b="0" i="0">
              <a:solidFill>
                <a:srgbClr val="555555"/>
              </a:solidFill>
              <a:latin typeface="Helvetica Neue"/>
              <a:ea typeface="Helvetica Neue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30295" y="197516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1200"/>
              </a:spcAft>
            </a:pPr>
            <a:r>
              <a:rPr lang="zh-CN" altLang="en-US" sz="1600" b="1" i="0">
                <a:solidFill>
                  <a:srgbClr val="333333"/>
                </a:solidFill>
                <a:latin typeface="Helvetica Neue"/>
                <a:ea typeface="Helvetica Neue"/>
              </a:rPr>
              <a:t>解析法 </a:t>
            </a:r>
            <a:r>
              <a:rPr lang="en-US" altLang="zh-CN" sz="1600" b="1" i="0">
                <a:solidFill>
                  <a:srgbClr val="333333"/>
                </a:solidFill>
                <a:latin typeface="Helvetica Neue"/>
                <a:ea typeface="Helvetica Neue"/>
              </a:rPr>
              <a:t>(Analytical Solutions)</a:t>
            </a:r>
            <a:r>
              <a:rPr lang="zh-CN" altLang="en-US" sz="1600" b="1" i="0">
                <a:solidFill>
                  <a:srgbClr val="333333"/>
                </a:solidFill>
                <a:latin typeface="Helvetica Neue"/>
                <a:ea typeface="Helvetica Neue"/>
              </a:rPr>
              <a:t>：精确的数学推导</a:t>
            </a:r>
            <a:endParaRPr lang="zh-CN" altLang="en-US" sz="1600" b="1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76955" y="2599372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“像我们上一节课解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FK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一样，通过代数和几何的方法，硬生生地从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en-US" altLang="zh-CN" sz="1600" b="1" i="1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X = f(q)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的方程组中，反解出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en-US" altLang="zh-CN" sz="1600" b="1" i="1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q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关于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en-US" altLang="zh-CN" sz="1600" b="1" i="1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X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的</a:t>
            </a:r>
            <a:r>
              <a:rPr lang="zh-CN" altLang="en-US" sz="1600" i="1">
                <a:solidFill>
                  <a:srgbClr val="D63384"/>
                </a:solidFill>
                <a:latin typeface="Helvetica Neue"/>
                <a:ea typeface="Helvetica Neue"/>
              </a:rPr>
              <a:t>封闭解</a:t>
            </a:r>
            <a:r>
              <a:rPr lang="en-US" altLang="zh-CN" sz="1600" i="1">
                <a:solidFill>
                  <a:srgbClr val="D63384"/>
                </a:solidFill>
                <a:latin typeface="Helvetica Neue"/>
                <a:ea typeface="Helvetica Neue"/>
              </a:rPr>
              <a:t>(Closed-form Solution)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表达式。”</a:t>
            </a:r>
            <a:endParaRPr lang="zh-CN" altLang="en-US" sz="1600" b="0" i="1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30295" y="3715702"/>
            <a:ext cx="5080000" cy="11372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目标是得到一个精确的、一步到位的公式，例如：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</a:pPr>
            <a:r>
              <a:rPr lang="en-US" altLang="zh-CN" sz="1600" b="1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q₁ = g(X, Y, Z, ...)</a:t>
            </a:r>
            <a:endParaRPr lang="en-US" altLang="zh-CN" sz="1600" b="1" i="0">
              <a:solidFill>
                <a:srgbClr val="D6338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>
              <a:spcBef>
                <a:spcPts val="1200"/>
              </a:spcBef>
            </a:pPr>
            <a:endParaRPr lang="en-US" altLang="zh-CN" sz="1600" b="1" i="0">
              <a:solidFill>
                <a:srgbClr val="D63384"/>
              </a:solidFill>
              <a:latin typeface="Courier New" panose="02070309020205020404"/>
              <a:ea typeface="Courier New" panose="020703090202050204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478790"/>
            <a:ext cx="5579110" cy="36766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1200"/>
              </a:spcAft>
            </a:pPr>
            <a:r>
              <a:rPr lang="zh-CN" altLang="en-US" sz="2700" b="1" i="0">
                <a:solidFill>
                  <a:srgbClr val="333333"/>
                </a:solidFill>
                <a:latin typeface="Helvetica Neue"/>
                <a:ea typeface="Helvetica Neue"/>
              </a:rPr>
              <a:t>解析法：例子与优缺点</a:t>
            </a:r>
            <a:endParaRPr lang="zh-CN" altLang="en-US" sz="2700" b="1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500"/>
              </a:spcBef>
              <a:spcAft>
                <a:spcPts val="600"/>
              </a:spcAft>
            </a:pPr>
            <a:r>
              <a:rPr lang="zh-CN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直观例子 </a:t>
            </a:r>
            <a:r>
              <a:rPr lang="en-US" altLang="zh-CN" sz="1700" b="1" i="0">
                <a:solidFill>
                  <a:srgbClr val="0056B3"/>
                </a:solidFill>
                <a:latin typeface="Helvetica Neue"/>
                <a:ea typeface="Helvetica Neue"/>
              </a:rPr>
              <a:t>(</a:t>
            </a:r>
            <a:r>
              <a:rPr lang="zh-CN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二连杆平面臂</a:t>
            </a:r>
            <a:r>
              <a:rPr lang="en-US" altLang="zh-CN" sz="1700" b="1" i="0">
                <a:solidFill>
                  <a:srgbClr val="0056B3"/>
                </a:solidFill>
                <a:latin typeface="Helvetica Neue"/>
                <a:ea typeface="Helvetica Neue"/>
              </a:rPr>
              <a:t>)</a:t>
            </a:r>
            <a:endParaRPr lang="en-US" altLang="zh-CN" sz="1700" b="1" i="0">
              <a:solidFill>
                <a:srgbClr val="0056B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500"/>
              </a:spcBef>
              <a:spcAft>
                <a:spcPts val="600"/>
              </a:spcAft>
            </a:pPr>
            <a:r>
              <a:rPr lang="en-US" altLang="zh-CN" sz="1700" b="1" i="0">
                <a:solidFill>
                  <a:srgbClr val="0056B3"/>
                </a:solidFill>
                <a:latin typeface="Helvetica Neue"/>
                <a:ea typeface="Helvetica Neue"/>
              </a:rPr>
              <a:t>“</a:t>
            </a:r>
            <a:r>
              <a:rPr lang="zh-CN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我们可以用</a:t>
            </a:r>
            <a:r>
              <a:rPr lang="en-US" altLang="zh-CN" sz="1700" b="1" i="0">
                <a:solidFill>
                  <a:srgbClr val="0056B3"/>
                </a:solidFill>
                <a:latin typeface="Helvetica Neue"/>
                <a:ea typeface="Helvetica Neue"/>
              </a:rPr>
              <a:t>‘</a:t>
            </a:r>
            <a:r>
              <a:rPr lang="zh-CN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余弦定理</a:t>
            </a:r>
            <a:r>
              <a:rPr lang="en-US" altLang="zh-CN" sz="1700" b="1" i="0">
                <a:solidFill>
                  <a:srgbClr val="0056B3"/>
                </a:solidFill>
                <a:latin typeface="Helvetica Neue"/>
                <a:ea typeface="Helvetica Neue"/>
              </a:rPr>
              <a:t>’</a:t>
            </a:r>
            <a:r>
              <a:rPr lang="zh-CN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直接从目标点</a:t>
            </a:r>
            <a:r>
              <a:rPr lang="en-US" altLang="zh-CN" sz="1700" b="1" i="0">
                <a:solidFill>
                  <a:srgbClr val="0056B3"/>
                </a:solidFill>
                <a:latin typeface="Helvetica Neue"/>
                <a:ea typeface="Helvetica Neue"/>
              </a:rPr>
              <a:t>(x,y)</a:t>
            </a:r>
            <a:r>
              <a:rPr lang="zh-CN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和臂长</a:t>
            </a:r>
            <a:r>
              <a:rPr lang="en-US" altLang="zh-CN" sz="1700" b="1" i="0">
                <a:solidFill>
                  <a:srgbClr val="0056B3"/>
                </a:solidFill>
                <a:latin typeface="Helvetica Neue"/>
                <a:ea typeface="Helvetica Neue"/>
              </a:rPr>
              <a:t>L</a:t>
            </a:r>
            <a:r>
              <a:rPr lang="en-US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₁</a:t>
            </a:r>
            <a:r>
              <a:rPr lang="en-US" altLang="zh-CN" sz="1700" b="1" i="0">
                <a:solidFill>
                  <a:srgbClr val="0056B3"/>
                </a:solidFill>
                <a:latin typeface="Helvetica Neue"/>
                <a:ea typeface="Helvetica Neue"/>
              </a:rPr>
              <a:t>,L</a:t>
            </a:r>
            <a:r>
              <a:rPr lang="en-US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₂</a:t>
            </a:r>
            <a:r>
              <a:rPr lang="zh-CN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解出关节角</a:t>
            </a:r>
            <a:r>
              <a:rPr lang="en-US" altLang="zh-CN" sz="1700" b="1" i="0">
                <a:solidFill>
                  <a:srgbClr val="0056B3"/>
                </a:solidFill>
                <a:latin typeface="Helvetica Neue"/>
                <a:ea typeface="Helvetica Neue"/>
              </a:rPr>
              <a:t>θ</a:t>
            </a:r>
            <a:r>
              <a:rPr lang="en-US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₂</a:t>
            </a:r>
            <a:r>
              <a:rPr lang="zh-CN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，再用三角函数反解出</a:t>
            </a:r>
            <a:r>
              <a:rPr lang="en-US" altLang="zh-CN" sz="1700" b="1" i="0">
                <a:solidFill>
                  <a:srgbClr val="0056B3"/>
                </a:solidFill>
                <a:latin typeface="Helvetica Neue"/>
                <a:ea typeface="Helvetica Neue"/>
              </a:rPr>
              <a:t>θ</a:t>
            </a:r>
            <a:r>
              <a:rPr lang="en-US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₁</a:t>
            </a:r>
            <a:r>
              <a:rPr lang="zh-CN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。</a:t>
            </a:r>
            <a:r>
              <a:rPr lang="en-US" altLang="zh-CN" sz="1700" b="1" i="0">
                <a:solidFill>
                  <a:srgbClr val="0056B3"/>
                </a:solidFill>
                <a:latin typeface="Helvetica Neue"/>
                <a:ea typeface="Helvetica Neue"/>
              </a:rPr>
              <a:t>”</a:t>
            </a:r>
            <a:endParaRPr lang="en-US" altLang="zh-CN" sz="1700" b="1" i="0">
              <a:solidFill>
                <a:srgbClr val="0056B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500"/>
              </a:spcBef>
              <a:spcAft>
                <a:spcPts val="600"/>
              </a:spcAft>
            </a:pPr>
            <a:r>
              <a:rPr lang="zh-CN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优点</a:t>
            </a:r>
            <a:endParaRPr lang="zh-CN" altLang="en-US" sz="1700" b="1" i="0">
              <a:solidFill>
                <a:srgbClr val="0056B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速度极快</a:t>
            </a:r>
            <a:r>
              <a:rPr lang="en-US" altLang="zh-CN" sz="1600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一旦推导出公式，求解就是代入数值计算，几乎瞬时完成。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能找到所有解</a:t>
            </a:r>
            <a:r>
              <a:rPr lang="en-US" altLang="zh-CN" sz="1600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可以精确地给出所有可能的多解。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94430" y="4329430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500"/>
              </a:spcBef>
              <a:spcAft>
                <a:spcPts val="600"/>
              </a:spcAft>
            </a:pPr>
            <a:r>
              <a:rPr lang="zh-CN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缺点</a:t>
            </a:r>
            <a:endParaRPr lang="zh-CN" altLang="en-US" sz="1700" b="1" i="0">
              <a:solidFill>
                <a:srgbClr val="0056B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适用性极差</a:t>
            </a:r>
            <a:r>
              <a:rPr lang="en-US" altLang="zh-CN" sz="1600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只有对于结构非常简单且满足特定几何约束的机器人（传智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机器狗），才存在解析解。对于通用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6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轴臂或冗余臂，几乎不可能找到。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354310" y="851535"/>
            <a:ext cx="111506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“</a:t>
            </a:r>
            <a:r>
              <a:rPr lang="zh-CN" altLang="en-US"/>
              <a:t>解析法就像是为一把特定的锁，手工打造了一把完美的钥匙。</a:t>
            </a:r>
            <a:r>
              <a:rPr lang="en-US" altLang="zh-CN"/>
              <a:t>”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优点</a:t>
            </a:r>
            <a:r>
              <a:rPr lang="en-US" altLang="zh-CN"/>
              <a:t>: </a:t>
            </a:r>
            <a:endParaRPr lang="en-US" altLang="zh-CN"/>
          </a:p>
          <a:p>
            <a:r>
              <a:rPr lang="zh-CN" altLang="en-US"/>
              <a:t>开锁又快又准。</a:t>
            </a:r>
            <a:endParaRPr lang="zh-CN" altLang="en-US"/>
          </a:p>
          <a:p>
            <a:r>
              <a:rPr lang="zh-CN" altLang="en-US"/>
              <a:t>缺点</a:t>
            </a:r>
            <a:r>
              <a:rPr lang="en-US" altLang="zh-CN"/>
              <a:t>: </a:t>
            </a:r>
            <a:endParaRPr lang="en-US" altLang="zh-CN"/>
          </a:p>
          <a:p>
            <a:r>
              <a:rPr lang="zh-CN" altLang="en-US"/>
              <a:t>这把钥匙只能开这把锁，换一把锁就没用了。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65817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1200"/>
              </a:spcAft>
            </a:pPr>
            <a:r>
              <a:rPr lang="zh-CN" altLang="en-US" sz="1600" b="1" i="0">
                <a:solidFill>
                  <a:srgbClr val="333333"/>
                </a:solidFill>
                <a:latin typeface="Helvetica Neue"/>
                <a:ea typeface="Helvetica Neue"/>
              </a:rPr>
              <a:t>数值法 </a:t>
            </a:r>
            <a:r>
              <a:rPr lang="en-US" altLang="zh-CN" sz="1600" b="1" i="0">
                <a:solidFill>
                  <a:srgbClr val="333333"/>
                </a:solidFill>
                <a:latin typeface="Helvetica Neue"/>
                <a:ea typeface="Helvetica Neue"/>
              </a:rPr>
              <a:t>(Numerical Solutions)</a:t>
            </a:r>
            <a:r>
              <a:rPr lang="zh-CN" altLang="en-US" sz="1600" b="1" i="0">
                <a:solidFill>
                  <a:srgbClr val="333333"/>
                </a:solidFill>
                <a:latin typeface="Helvetica Neue"/>
                <a:ea typeface="Helvetica Neue"/>
              </a:rPr>
              <a:t>：迭代逼近的艺术</a:t>
            </a:r>
            <a:endParaRPr lang="zh-CN" altLang="en-US" sz="1600" b="1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84755" y="1755775"/>
            <a:ext cx="75831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“</a:t>
            </a:r>
            <a:r>
              <a:rPr lang="zh-CN" altLang="en-US"/>
              <a:t>既然无法直接求解，那我们就</a:t>
            </a:r>
            <a:r>
              <a:rPr lang="en-US" altLang="zh-CN"/>
              <a:t>‘</a:t>
            </a:r>
            <a:r>
              <a:rPr lang="zh-CN" altLang="en-US"/>
              <a:t>猜</a:t>
            </a:r>
            <a:r>
              <a:rPr lang="en-US" altLang="zh-CN"/>
              <a:t>’</a:t>
            </a:r>
            <a:r>
              <a:rPr lang="zh-CN" altLang="en-US"/>
              <a:t>一个初始关节角度</a:t>
            </a:r>
            <a:r>
              <a:rPr lang="en-US" altLang="zh-CN"/>
              <a:t>q</a:t>
            </a:r>
            <a:r>
              <a:rPr lang="en-US" altLang="en-US"/>
              <a:t>₀</a:t>
            </a:r>
            <a:r>
              <a:rPr lang="zh-CN" altLang="en-US"/>
              <a:t>，算出它的末端位置</a:t>
            </a:r>
            <a:r>
              <a:rPr lang="en-US" altLang="zh-CN"/>
              <a:t>X</a:t>
            </a:r>
            <a:r>
              <a:rPr lang="en-US" altLang="en-US"/>
              <a:t>₀</a:t>
            </a:r>
            <a:r>
              <a:rPr lang="zh-CN" altLang="en-US"/>
              <a:t>。然后比较</a:t>
            </a:r>
            <a:r>
              <a:rPr lang="en-US" altLang="zh-CN"/>
              <a:t>X</a:t>
            </a:r>
            <a:r>
              <a:rPr lang="en-US" altLang="en-US"/>
              <a:t>₀</a:t>
            </a:r>
            <a:r>
              <a:rPr lang="zh-CN" altLang="en-US"/>
              <a:t>和我们的目标</a:t>
            </a:r>
            <a:r>
              <a:rPr lang="en-US" altLang="zh-CN"/>
              <a:t>X_desired</a:t>
            </a:r>
            <a:r>
              <a:rPr lang="zh-CN" altLang="en-US"/>
              <a:t>之间的误差</a:t>
            </a:r>
            <a:r>
              <a:rPr lang="en-US" altLang="zh-CN"/>
              <a:t>ΔX</a:t>
            </a:r>
            <a:r>
              <a:rPr lang="zh-CN" altLang="en-US"/>
              <a:t>。接着，我们想办法微调一下关节角度</a:t>
            </a:r>
            <a:r>
              <a:rPr lang="en-US" altLang="zh-CN"/>
              <a:t>Δq</a:t>
            </a:r>
            <a:r>
              <a:rPr lang="zh-CN" altLang="en-US"/>
              <a:t>，使得新的末端位置能更接近目标一点。不断重复这个</a:t>
            </a:r>
            <a:r>
              <a:rPr lang="en-US" altLang="zh-CN"/>
              <a:t>‘</a:t>
            </a:r>
            <a:r>
              <a:rPr lang="zh-CN" altLang="en-US"/>
              <a:t>计算误差</a:t>
            </a:r>
            <a:r>
              <a:rPr lang="en-US" altLang="zh-CN"/>
              <a:t>-</a:t>
            </a:r>
            <a:r>
              <a:rPr lang="zh-CN" altLang="en-US"/>
              <a:t>调整角度</a:t>
            </a:r>
            <a:r>
              <a:rPr lang="en-US" altLang="zh-CN"/>
              <a:t>’</a:t>
            </a:r>
            <a:r>
              <a:rPr lang="zh-CN" altLang="en-US"/>
              <a:t>的过程，直到误差小到可以忽略不计。</a:t>
            </a:r>
            <a:r>
              <a:rPr lang="en-US" altLang="zh-CN"/>
              <a:t>”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696845" y="3815715"/>
            <a:ext cx="62979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工程学的方法，数学的</a:t>
            </a:r>
            <a:r>
              <a:rPr lang="zh-CN" altLang="en-US"/>
              <a:t>方法。</a:t>
            </a:r>
            <a:endParaRPr lang="zh-CN" altLang="en-US"/>
          </a:p>
          <a:p>
            <a:r>
              <a:rPr lang="zh-CN" altLang="en-US"/>
              <a:t>工程学，近似能用</a:t>
            </a:r>
            <a:r>
              <a:rPr lang="zh-CN" altLang="en-US"/>
              <a:t>就行，</a:t>
            </a:r>
            <a:endParaRPr lang="zh-CN" altLang="en-US"/>
          </a:p>
          <a:p>
            <a:r>
              <a:rPr lang="zh-CN" altLang="en-US"/>
              <a:t>数学，精准推理，严格</a:t>
            </a:r>
            <a:r>
              <a:rPr lang="zh-CN" altLang="en-US"/>
              <a:t>证明。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71545" y="47783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1200"/>
              </a:spcAft>
            </a:pPr>
            <a:r>
              <a:rPr lang="zh-CN" altLang="en-US" sz="1600" b="1" i="0">
                <a:solidFill>
                  <a:srgbClr val="333333"/>
                </a:solidFill>
                <a:latin typeface="Helvetica Neue"/>
                <a:ea typeface="Helvetica Neue"/>
              </a:rPr>
              <a:t>核心工具与算法</a:t>
            </a:r>
            <a:endParaRPr lang="zh-CN" altLang="en-US" sz="1600" b="1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65500" y="963930"/>
            <a:ext cx="6374765" cy="26225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1500"/>
              </a:spcBef>
              <a:spcAft>
                <a:spcPts val="600"/>
              </a:spcAft>
            </a:pPr>
            <a:r>
              <a:rPr lang="zh-CN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雅可比矩阵</a:t>
            </a:r>
            <a:r>
              <a:rPr lang="en-US" altLang="zh-CN" sz="1700" b="1" i="0">
                <a:solidFill>
                  <a:srgbClr val="0056B3"/>
                </a:solidFill>
                <a:latin typeface="Helvetica Neue"/>
                <a:ea typeface="Helvetica Neue"/>
              </a:rPr>
              <a:t>(J)</a:t>
            </a:r>
            <a:endParaRPr lang="en-US" altLang="zh-CN" sz="1700" b="1" i="0">
              <a:solidFill>
                <a:srgbClr val="0056B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“这个‘如何调整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Δq’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的关键，就依赖于雅可比矩阵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J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。”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它建立了关节变化和末端变化的线性关系：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 algn="ctr">
              <a:spcBef>
                <a:spcPts val="900"/>
              </a:spcBef>
              <a:spcAft>
                <a:spcPts val="900"/>
              </a:spcAft>
            </a:pPr>
            <a:r>
              <a:rPr lang="en-US" altLang="zh-CN" sz="2100" b="1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ΔX ≈ J * Δq</a:t>
            </a:r>
            <a:endParaRPr lang="en-US" altLang="zh-CN" sz="2100" b="1" i="0">
              <a:solidFill>
                <a:srgbClr val="D6338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通过求解这个线性方程，我们就能知道关节该如何调整：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 algn="ctr">
              <a:spcBef>
                <a:spcPts val="900"/>
              </a:spcBef>
              <a:spcAft>
                <a:spcPts val="900"/>
              </a:spcAft>
            </a:pPr>
            <a:r>
              <a:rPr lang="en-US" altLang="zh-CN" sz="2100" b="1" i="0">
                <a:solidFill>
                  <a:srgbClr val="D63384"/>
                </a:solidFill>
                <a:latin typeface="Courier New" panose="02070309020205020404"/>
                <a:ea typeface="Courier New" panose="02070309020205020404"/>
              </a:rPr>
              <a:t>Δq ≈ J⁻¹ * ΔX</a:t>
            </a:r>
            <a:endParaRPr lang="en-US" altLang="zh-CN" sz="2100" b="1" i="0">
              <a:solidFill>
                <a:srgbClr val="D63384"/>
              </a:solidFill>
              <a:latin typeface="Courier New" panose="02070309020205020404"/>
              <a:ea typeface="Courier New" panose="020703090202050204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3920808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500"/>
              </a:spcBef>
              <a:spcAft>
                <a:spcPts val="600"/>
              </a:spcAft>
            </a:pPr>
            <a:r>
              <a:rPr lang="zh-CN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主流算法</a:t>
            </a:r>
            <a:endParaRPr lang="zh-CN" altLang="en-US" sz="1700" b="1" i="0">
              <a:solidFill>
                <a:srgbClr val="0056B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牛顿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-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拉夫逊法、梯度下降法、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Levenberg-Marquardt(LM)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法等都是基于此思想的迭代优化算法。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28850" y="758190"/>
            <a:ext cx="7011670" cy="36690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1200"/>
              </a:spcAft>
            </a:pPr>
            <a:r>
              <a:rPr lang="zh-CN" altLang="en-US" sz="2700" b="1" i="0">
                <a:solidFill>
                  <a:srgbClr val="333333"/>
                </a:solidFill>
                <a:latin typeface="Helvetica Neue"/>
                <a:ea typeface="Helvetica Neue"/>
              </a:rPr>
              <a:t>数值法：优缺点</a:t>
            </a:r>
            <a:endParaRPr lang="zh-CN" altLang="en-US" sz="2700" b="1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500"/>
              </a:spcBef>
              <a:spcAft>
                <a:spcPts val="600"/>
              </a:spcAft>
            </a:pPr>
            <a:r>
              <a:rPr lang="zh-CN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优点</a:t>
            </a:r>
            <a:endParaRPr lang="zh-CN" altLang="en-US" sz="1700" b="1" i="0">
              <a:solidFill>
                <a:srgbClr val="0056B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通用性极强</a:t>
            </a:r>
            <a:r>
              <a:rPr lang="en-US" altLang="zh-CN" sz="1600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适用于任何结构的机器人，无论多复杂、是否冗余。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500"/>
              </a:spcBef>
              <a:spcAft>
                <a:spcPts val="600"/>
              </a:spcAft>
            </a:pPr>
            <a:r>
              <a:rPr lang="zh-CN" altLang="en-US" sz="1700" b="1" i="0">
                <a:solidFill>
                  <a:srgbClr val="0056B3"/>
                </a:solidFill>
                <a:latin typeface="Helvetica Neue"/>
                <a:ea typeface="Helvetica Neue"/>
              </a:rPr>
              <a:t>缺点</a:t>
            </a:r>
            <a:endParaRPr lang="zh-CN" altLang="en-US" sz="1700" b="1" i="0">
              <a:solidFill>
                <a:srgbClr val="0056B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速度较慢</a:t>
            </a:r>
            <a:r>
              <a:rPr lang="en-US" altLang="zh-CN" sz="1600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需要迭代计算，计算量远大于解析法。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局部最优</a:t>
            </a:r>
            <a:r>
              <a:rPr lang="en-US" altLang="zh-CN" sz="1600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可能只找到一个解（取决于初始猜测），或陷入局部最小值。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对奇异点敏感</a:t>
            </a:r>
            <a:r>
              <a:rPr lang="en-US" altLang="zh-CN" sz="1600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迭代过程中可能接近奇异点，导致数值不稳定。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048000" y="2298065"/>
            <a:ext cx="6393815" cy="2261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ts val="1200"/>
              </a:spcBef>
            </a:pPr>
            <a:r>
              <a:rPr lang="zh-CN" altLang="en-US" sz="1600">
                <a:solidFill>
                  <a:srgbClr val="333333"/>
                </a:solidFill>
                <a:latin typeface="Helvetica Neue"/>
                <a:ea typeface="Helvetica Neue"/>
                <a:sym typeface="+mn-ea"/>
              </a:rPr>
              <a:t>“</a:t>
            </a:r>
            <a:r>
              <a:rPr lang="zh-CN" altLang="en-US" sz="1600">
                <a:solidFill>
                  <a:srgbClr val="333333"/>
                </a:solidFill>
                <a:latin typeface="Helvetica Neue"/>
                <a:ea typeface="Helvetica Neue"/>
                <a:sym typeface="+mn-ea"/>
              </a:rPr>
              <a:t>梯度下降数值法就像是一个蒙着眼睛的人在山谷里找最低点（目标）。”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>
                <a:solidFill>
                  <a:srgbClr val="333333"/>
                </a:solidFill>
                <a:latin typeface="Helvetica Neue"/>
                <a:ea typeface="Helvetica Neue"/>
                <a:sym typeface="+mn-ea"/>
              </a:rPr>
              <a:t>他每次都往脚下</a:t>
            </a:r>
            <a:r>
              <a:rPr lang="zh-CN" altLang="en-US" sz="1600">
                <a:solidFill>
                  <a:srgbClr val="D63384"/>
                </a:solidFill>
                <a:latin typeface="Helvetica Neue"/>
                <a:ea typeface="Helvetica Neue"/>
                <a:sym typeface="+mn-ea"/>
              </a:rPr>
              <a:t>更低的方向</a:t>
            </a:r>
            <a:r>
              <a:rPr lang="zh-CN" altLang="en-US" sz="1600">
                <a:solidFill>
                  <a:srgbClr val="333333"/>
                </a:solidFill>
                <a:latin typeface="Helvetica Neue"/>
                <a:ea typeface="Helvetica Neue"/>
                <a:sym typeface="+mn-ea"/>
              </a:rPr>
              <a:t>（梯度方向）走一小步。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>
                <a:solidFill>
                  <a:srgbClr val="333333"/>
                </a:solidFill>
                <a:latin typeface="Helvetica Neue"/>
                <a:ea typeface="Helvetica Neue"/>
                <a:sym typeface="+mn-ea"/>
              </a:rPr>
              <a:t>他最终能找到一个低点（一个解），但不一定是整个山谷的最低点（全局最优解）。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Bef>
                <a:spcPts val="1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>
                <a:solidFill>
                  <a:srgbClr val="333333"/>
                </a:solidFill>
                <a:latin typeface="Helvetica Neue"/>
                <a:ea typeface="Helvetica Neue"/>
                <a:sym typeface="+mn-ea"/>
              </a:rPr>
              <a:t>而且他可能会在悬崖边（奇异点）遇到麻烦，导致无法前进或摔倒</a:t>
            </a:r>
            <a:endParaRPr lang="zh-CN" altLang="en-US" sz="1600">
              <a:solidFill>
                <a:srgbClr val="333333"/>
              </a:solidFill>
              <a:latin typeface="Helvetica Neue"/>
              <a:ea typeface="Helvetica Neue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1955" y="944880"/>
            <a:ext cx="609600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spcBef>
                <a:spcPct val="0"/>
              </a:spcBef>
              <a:spcAft>
                <a:spcPts val="1200"/>
              </a:spcAft>
            </a:pPr>
            <a:r>
              <a:rPr lang="zh-CN" altLang="en-US" sz="2700" b="1">
                <a:solidFill>
                  <a:srgbClr val="333333"/>
                </a:solidFill>
                <a:latin typeface="Helvetica Neue"/>
                <a:ea typeface="Helvetica Neue"/>
                <a:sym typeface="+mn-ea"/>
              </a:rPr>
              <a:t>数值法：</a:t>
            </a:r>
            <a:r>
              <a:rPr lang="zh-CN" altLang="en-US" sz="2700" b="1">
                <a:solidFill>
                  <a:srgbClr val="333333"/>
                </a:solidFill>
                <a:latin typeface="Helvetica Neue"/>
                <a:ea typeface="Helvetica Neue"/>
                <a:sym typeface="+mn-ea"/>
              </a:rPr>
              <a:t>梯度下降</a:t>
            </a:r>
            <a:endParaRPr lang="zh-CN" altLang="en-US" sz="2700" b="1">
              <a:solidFill>
                <a:srgbClr val="333333"/>
              </a:solidFill>
              <a:latin typeface="Helvetica Neue"/>
              <a:ea typeface="Helvetica Neue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50958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1200"/>
              </a:spcAft>
            </a:pPr>
            <a:r>
              <a:rPr lang="zh-CN" altLang="en-US" sz="2400" b="1" i="0">
                <a:solidFill>
                  <a:srgbClr val="333333"/>
                </a:solidFill>
                <a:latin typeface="Helvetica Neue"/>
                <a:ea typeface="Helvetica Neue"/>
              </a:rPr>
              <a:t>解析法 </a:t>
            </a:r>
            <a:r>
              <a:rPr lang="en-US" altLang="zh-CN" sz="2400" b="1" i="0">
                <a:solidFill>
                  <a:srgbClr val="333333"/>
                </a:solidFill>
                <a:latin typeface="Helvetica Neue"/>
                <a:ea typeface="Helvetica Neue"/>
              </a:rPr>
              <a:t>vs. </a:t>
            </a:r>
            <a:r>
              <a:rPr lang="zh-CN" altLang="en-US" sz="2400" b="1" i="0">
                <a:solidFill>
                  <a:srgbClr val="333333"/>
                </a:solidFill>
                <a:latin typeface="Helvetica Neue"/>
                <a:ea typeface="Helvetica Neue"/>
              </a:rPr>
              <a:t>数值法</a:t>
            </a:r>
            <a:endParaRPr lang="zh-CN" altLang="en-US" sz="2400" b="1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853440" y="1965960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algn="l"/>
                      <a:r>
                        <a:rPr lang="zh-CN" altLang="en-US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特性</a:t>
                      </a:r>
                      <a:endParaRPr lang="zh-CN" altLang="en-US" sz="2000" b="1" i="0">
                        <a:solidFill>
                          <a:srgbClr val="333333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解析法</a:t>
                      </a:r>
                      <a:endParaRPr lang="zh-CN" altLang="en-US" sz="2000" b="1" i="0">
                        <a:solidFill>
                          <a:srgbClr val="333333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1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数值法</a:t>
                      </a:r>
                      <a:endParaRPr lang="zh-CN" altLang="en-US" sz="2000" b="1" i="0">
                        <a:solidFill>
                          <a:srgbClr val="333333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D63384"/>
                          </a:solidFill>
                          <a:latin typeface="Helvetica Neue"/>
                          <a:ea typeface="Helvetica Neue"/>
                        </a:rPr>
                        <a:t>核心思想</a:t>
                      </a:r>
                      <a:endParaRPr lang="zh-CN" altLang="en-US" sz="2000" b="0" i="0">
                        <a:solidFill>
                          <a:srgbClr val="D63384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公式求解，一步到位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迭代逼近，逐步求精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D63384"/>
                          </a:solidFill>
                          <a:latin typeface="Helvetica Neue"/>
                          <a:ea typeface="Helvetica Neue"/>
                        </a:rPr>
                        <a:t>速度</a:t>
                      </a:r>
                      <a:endParaRPr lang="zh-CN" altLang="en-US" sz="2000" b="0" i="0">
                        <a:solidFill>
                          <a:srgbClr val="D63384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28A745"/>
                          </a:solidFill>
                          <a:latin typeface="Helvetica Neue"/>
                          <a:ea typeface="Helvetica Neue"/>
                        </a:rPr>
                        <a:t>极快</a:t>
                      </a:r>
                      <a:endParaRPr lang="zh-CN" altLang="en-US" sz="2000" b="0" i="0">
                        <a:solidFill>
                          <a:srgbClr val="28A745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DC3545"/>
                          </a:solidFill>
                          <a:latin typeface="Helvetica Neue"/>
                          <a:ea typeface="Helvetica Neue"/>
                        </a:rPr>
                        <a:t>较慢</a:t>
                      </a:r>
                      <a:endParaRPr lang="zh-CN" altLang="en-US" sz="2000" b="0" i="0">
                        <a:solidFill>
                          <a:srgbClr val="DC3545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D63384"/>
                          </a:solidFill>
                          <a:latin typeface="Helvetica Neue"/>
                          <a:ea typeface="Helvetica Neue"/>
                        </a:rPr>
                        <a:t>解的质量</a:t>
                      </a:r>
                      <a:endParaRPr lang="zh-CN" altLang="en-US" sz="2000" b="0" i="0">
                        <a:solidFill>
                          <a:srgbClr val="D63384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28A745"/>
                          </a:solidFill>
                          <a:latin typeface="Helvetica Neue"/>
                          <a:ea typeface="Helvetica Neue"/>
                        </a:rPr>
                        <a:t>精确，可得所有解</a:t>
                      </a:r>
                      <a:endParaRPr lang="zh-CN" altLang="en-US" sz="2000" b="0" i="0">
                        <a:solidFill>
                          <a:srgbClr val="28A745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DC3545"/>
                          </a:solidFill>
                          <a:latin typeface="Helvetica Neue"/>
                          <a:ea typeface="Helvetica Neue"/>
                        </a:rPr>
                        <a:t>近似，通常得一个解</a:t>
                      </a:r>
                      <a:endParaRPr lang="zh-CN" altLang="en-US" sz="2000" b="0" i="0">
                        <a:solidFill>
                          <a:srgbClr val="DC3545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D63384"/>
                          </a:solidFill>
                          <a:latin typeface="Helvetica Neue"/>
                          <a:ea typeface="Helvetica Neue"/>
                        </a:rPr>
                        <a:t>通用性</a:t>
                      </a:r>
                      <a:endParaRPr lang="zh-CN" altLang="en-US" sz="2000" b="0" i="0">
                        <a:solidFill>
                          <a:srgbClr val="D63384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DC3545"/>
                          </a:solidFill>
                          <a:latin typeface="Helvetica Neue"/>
                          <a:ea typeface="Helvetica Neue"/>
                        </a:rPr>
                        <a:t>极差，仅限特定结构</a:t>
                      </a:r>
                      <a:endParaRPr lang="zh-CN" altLang="en-US" sz="2000" b="0" i="0">
                        <a:solidFill>
                          <a:srgbClr val="DC3545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28A745"/>
                          </a:solidFill>
                          <a:latin typeface="Helvetica Neue"/>
                          <a:ea typeface="Helvetica Neue"/>
                        </a:rPr>
                        <a:t>极强，适用于任何机器人</a:t>
                      </a:r>
                      <a:endParaRPr lang="zh-CN" altLang="en-US" sz="2000" b="0" i="0">
                        <a:solidFill>
                          <a:srgbClr val="28A745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D63384"/>
                          </a:solidFill>
                          <a:latin typeface="Helvetica Neue"/>
                          <a:ea typeface="Helvetica Neue"/>
                        </a:rPr>
                        <a:t>类比</a:t>
                      </a:r>
                      <a:endParaRPr lang="zh-CN" altLang="en-US" sz="2000" b="0" i="0">
                        <a:solidFill>
                          <a:srgbClr val="D63384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为特定锁打造的钥匙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</a:rPr>
                        <a:t>蒙着眼睛下山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Helvetica Neue"/>
                        <a:ea typeface="Helvetica Neue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357120" y="969645"/>
            <a:ext cx="3759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代码实战：</a:t>
            </a:r>
            <a:r>
              <a:rPr lang="en-US" altLang="zh-CN"/>
              <a:t>  </a:t>
            </a:r>
            <a:r>
              <a:rPr lang="zh-CN" altLang="en-US"/>
              <a:t>几何解析法，</a:t>
            </a:r>
            <a:r>
              <a:rPr lang="zh-CN" altLang="en-US"/>
              <a:t>逼近法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3390" y="1694180"/>
            <a:ext cx="4919980" cy="49593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17570" y="601345"/>
            <a:ext cx="5080000" cy="115316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1200"/>
              </a:spcAft>
            </a:pPr>
            <a:r>
              <a:rPr lang="zh-CN" altLang="en-US" sz="2700" b="1" i="0">
                <a:solidFill>
                  <a:srgbClr val="333333"/>
                </a:solidFill>
                <a:latin typeface="Helvetica Neue"/>
                <a:ea typeface="Helvetica Neue"/>
              </a:rPr>
              <a:t>工程应用</a:t>
            </a:r>
            <a:r>
              <a:rPr lang="en-US" altLang="zh-CN" sz="2700" b="1" i="0">
                <a:solidFill>
                  <a:srgbClr val="333333"/>
                </a:solidFill>
                <a:latin typeface="Helvetica Neue"/>
                <a:ea typeface="Helvetica Neue"/>
              </a:rPr>
              <a:t>(1): </a:t>
            </a:r>
            <a:r>
              <a:rPr lang="zh-CN" altLang="en-US" sz="2700" b="1" i="0">
                <a:solidFill>
                  <a:srgbClr val="333333"/>
                </a:solidFill>
                <a:latin typeface="Helvetica Neue"/>
                <a:ea typeface="Helvetica Neue"/>
              </a:rPr>
              <a:t>工业机器人</a:t>
            </a:r>
            <a:endParaRPr lang="zh-CN" altLang="en-US" sz="2700" b="1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/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在汽车、电子等大规模制造领域，对机器人的要求是：</a:t>
            </a: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高速、高精度、高重复性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17570" y="2184082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“在工业机器人中，为了追求高速和确定性，厂家会特意将机器人设计成有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 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解析解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 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的结构（如传智教育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机器狗），并在控制器中固化解析解算法。”</a:t>
            </a:r>
            <a:endParaRPr lang="zh-CN" altLang="en-US" sz="1600" b="0" i="1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3713798"/>
            <a:ext cx="5080000" cy="227647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核心策略</a:t>
            </a:r>
            <a:r>
              <a:rPr lang="en-US" altLang="zh-CN" sz="1600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优先采用</a:t>
            </a: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解析法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原因</a:t>
            </a:r>
            <a:r>
              <a:rPr lang="en-US" altLang="zh-CN" sz="1600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endParaRPr lang="en-US" altLang="zh-CN" sz="1600" b="0" i="0">
              <a:solidFill>
                <a:srgbClr val="D63384"/>
              </a:solidFill>
              <a:latin typeface="Helvetica Neue"/>
              <a:ea typeface="Helvetica Neue"/>
            </a:endParaRPr>
          </a:p>
          <a:p>
            <a:pPr marL="0" lvl="1" indent="0">
              <a:spcAft>
                <a:spcPts val="900"/>
              </a:spcAft>
              <a:buFont typeface="Arial" panose="020B0604020202020204"/>
              <a:buChar char="◦"/>
            </a:pP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速度极快</a:t>
            </a:r>
            <a:r>
              <a:rPr lang="en-US" altLang="zh-CN" sz="1600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无需迭代，计算时间在微秒级，保障了生产节拍。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lvl="1" indent="0">
              <a:spcAft>
                <a:spcPts val="900"/>
              </a:spcAft>
              <a:buFont typeface="Arial" panose="020B0604020202020204"/>
              <a:buChar char="◦"/>
            </a:pP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确定性</a:t>
            </a:r>
            <a:r>
              <a:rPr lang="en-US" altLang="zh-CN" sz="1600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能够瞬间找到所有解，方便进行路径规划和构型选择（如始终保持“高手肘”）。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结论</a:t>
            </a:r>
            <a:r>
              <a:rPr lang="en-US" altLang="zh-CN" sz="1600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工业场景用</a:t>
            </a: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特殊设计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换取了</a:t>
            </a: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极致性能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60115" y="594995"/>
            <a:ext cx="5589270" cy="1153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1200"/>
              </a:spcAft>
            </a:pPr>
            <a:r>
              <a:rPr lang="zh-CN" altLang="en-US" sz="2700" b="1" i="0">
                <a:solidFill>
                  <a:srgbClr val="333333"/>
                </a:solidFill>
                <a:latin typeface="Helvetica Neue"/>
                <a:ea typeface="Helvetica Neue"/>
              </a:rPr>
              <a:t>工程应用</a:t>
            </a:r>
            <a:r>
              <a:rPr lang="en-US" altLang="zh-CN" sz="2700" b="1" i="0">
                <a:solidFill>
                  <a:srgbClr val="333333"/>
                </a:solidFill>
                <a:latin typeface="Helvetica Neue"/>
                <a:ea typeface="Helvetica Neue"/>
              </a:rPr>
              <a:t>(2): </a:t>
            </a:r>
            <a:r>
              <a:rPr lang="zh-CN" altLang="en-US" sz="2700" b="1" i="0">
                <a:solidFill>
                  <a:srgbClr val="333333"/>
                </a:solidFill>
                <a:latin typeface="Helvetica Neue"/>
                <a:ea typeface="Helvetica Neue"/>
              </a:rPr>
              <a:t>研究与服务机器人</a:t>
            </a:r>
            <a:endParaRPr lang="zh-CN" altLang="en-US" sz="2700" b="1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/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在科研、家庭服务、医疗等领域，机器人结构千变万化，任务环境复杂多变。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196627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在研究、仿真和服务机器人领域，由于结构多样和任务复杂，普遍使用基于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 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数值法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 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的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IK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求解器。我们后续课程中调用的</a:t>
            </a:r>
            <a:r>
              <a:rPr lang="en-US" altLang="zh-CN" sz="1600" b="0" i="1">
                <a:solidFill>
                  <a:srgbClr val="333333"/>
                </a:solidFill>
                <a:latin typeface="Helvetica Neue"/>
                <a:ea typeface="Helvetica Neue"/>
              </a:rPr>
              <a:t>IK</a:t>
            </a:r>
            <a:r>
              <a:rPr lang="zh-CN" altLang="en-US" sz="1600" b="0" i="1">
                <a:solidFill>
                  <a:srgbClr val="333333"/>
                </a:solidFill>
                <a:latin typeface="Helvetica Neue"/>
                <a:ea typeface="Helvetica Neue"/>
              </a:rPr>
              <a:t>库，其底层就是高效的数值法实现。”</a:t>
            </a:r>
            <a:endParaRPr lang="zh-CN" altLang="en-US" sz="1600" b="0" i="1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3342958"/>
            <a:ext cx="5080000" cy="227647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核心策略</a:t>
            </a:r>
            <a:r>
              <a:rPr lang="en-US" altLang="zh-CN" sz="1600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优先采用</a:t>
            </a: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数值法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原因</a:t>
            </a:r>
            <a:r>
              <a:rPr lang="en-US" altLang="zh-CN" sz="1600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endParaRPr lang="en-US" altLang="zh-CN" sz="1600" b="0" i="0">
              <a:solidFill>
                <a:srgbClr val="D63384"/>
              </a:solidFill>
              <a:latin typeface="Helvetica Neue"/>
              <a:ea typeface="Helvetica Neue"/>
            </a:endParaRPr>
          </a:p>
          <a:p>
            <a:pPr marL="0" lvl="1" indent="0">
              <a:spcAft>
                <a:spcPts val="900"/>
              </a:spcAft>
              <a:buFont typeface="Arial" panose="020B0604020202020204"/>
              <a:buChar char="◦"/>
            </a:pP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通用性强</a:t>
            </a:r>
            <a:r>
              <a:rPr lang="en-US" altLang="zh-CN" sz="1600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对任何机器人结构都适用，无需特殊设计。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lvl="1" indent="0">
              <a:spcAft>
                <a:spcPts val="900"/>
              </a:spcAft>
              <a:buFont typeface="Arial" panose="020B0604020202020204"/>
              <a:buChar char="◦"/>
            </a:pP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灵活性高</a:t>
            </a:r>
            <a:r>
              <a:rPr lang="en-US" altLang="zh-CN" sz="1600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能够轻松处理冗余自由度，用于避障、优化等高级任务。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  <a:p>
            <a:pPr marL="0" indent="0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结论</a:t>
            </a:r>
            <a:r>
              <a:rPr lang="en-US" altLang="zh-CN" sz="1600" b="0" i="0">
                <a:solidFill>
                  <a:srgbClr val="D63384"/>
                </a:solidFill>
                <a:latin typeface="Helvetica Neue"/>
                <a:ea typeface="Helvetica Neue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Helvetica Neue"/>
                <a:ea typeface="Helvetica Neue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科研与服务场景用</a:t>
            </a: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迭代计算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换取了</a:t>
            </a:r>
            <a:r>
              <a:rPr lang="zh-CN" altLang="en-US" sz="1600" b="0" i="0">
                <a:solidFill>
                  <a:srgbClr val="D63384"/>
                </a:solidFill>
                <a:latin typeface="Helvetica Neue"/>
                <a:ea typeface="Helvetica Neue"/>
              </a:rPr>
              <a:t>无限的通用性</a:t>
            </a:r>
            <a:r>
              <a:rPr lang="zh-CN" altLang="en-US" sz="1600" b="0" i="0">
                <a:solidFill>
                  <a:srgbClr val="333333"/>
                </a:solidFill>
                <a:latin typeface="Helvetica Neue"/>
                <a:ea typeface="Helvetica Neue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4015</Words>
  <Application>WPS 演示</Application>
  <PresentationFormat>宽屏</PresentationFormat>
  <Paragraphs>281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Arial</vt:lpstr>
      <vt:lpstr>宋体</vt:lpstr>
      <vt:lpstr>Wingdings</vt:lpstr>
      <vt:lpstr>Arial Unicode MS</vt:lpstr>
      <vt:lpstr>Calibri</vt:lpstr>
      <vt:lpstr>微软雅黑</vt:lpstr>
      <vt:lpstr>Helvetica Neue</vt:lpstr>
      <vt:lpstr>Courier New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 z</dc:creator>
  <cp:lastModifiedBy>欢乐马</cp:lastModifiedBy>
  <cp:revision>76</cp:revision>
  <dcterms:created xsi:type="dcterms:W3CDTF">2023-08-09T12:44:00Z</dcterms:created>
  <dcterms:modified xsi:type="dcterms:W3CDTF">2025-07-23T12:59:34Z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43A2676D174446429886FB00E2635267_12</vt:lpwstr>
  </property>
</Properties>
</file>